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briefing on the theme rather than a trade pitch. Structure: current levels, fiscal fundamentals, Italian precedent and ratings, the political calendar, how markets have transmitted French shocks, and what to monitor. Example positioning frameworks are included for reference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is developed on the following slides. Betas are Italy's (or Spain's) widening against Bunds divided by France's, on French political event days: 2024, France +39.3bp, Italy +37.6, Spain +21.6; 2025–26, France +14.9, Italy +5.6, Spain +3.9. The valuation line is a ratings-based decomposition, not a consensus estimate: the price per notch is taken from the Spain–Italy pair (43bp for 2.33 notches) and applied to France's 3.67-notch advantage over Italy.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Friday's widening followed the government's concession of a 5.4% deficit for 2026, the third target for the same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Commission's 2027 French figure uses its no-policy-change convention: 2026 revenue measures expire and interest rises toward 2.8% of GDP. The 2026 deficit revision to 5.4% came after the Commission forecast, which assumed 5.1%. Both countries are rated high risk over the medium term in the Debt Sustainability Monitor; they differ on the long-term measure, where ageing costs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pension reform passed by 49.3 in March 2023 and was suspended in October 2025 to secure Socialist abstention on censure, financed by under-indexing pensions from 2027. Cour des comptes, June 2026: the 2025 deficit was €152.5bn, 5.1% of GDP, down from 5.8% in 2024, mainly through tax increases. Stabilising debt needs a further 3 points of GDP, €89.6bn. Debt interest reached €65.7bn in 2025 as the average OAT issuance yield rose to 3.35% from 1.70% in 2022 and 0% in 2021; the apparent rate on the debt now exceeds nominal growth for the first time since the pandemic. The Cour compares France with Germany, Portugal and Italy, all of which ran durable cyclically adjusted primary surpluses over 2010–25; France ran a deficit in every year. Its adverse scenario, with Brent at $150, cuts 2026 growth to 0.2% and lifts inflation to 4.5%, which it says would make the planned deficit reduction close to impossible. Relevant to the energy scenarios discussed earlier. Interest in euros: €65.7bn in 2025, up 9%. Mechanism: the stock carries an apparent rate near 1.9% while new 10y debt is issued above 4%; with an average maturity of about 8.5 years, roughly an eighth of the debt reprices upward each year. Government sensitivity: a one-point rise in rates costs €3bn in the first year and €33bn by the ninth. The Commission has interest at 2.8% of GDP in 2027. For comparison, Italy paid 3.6% of GDP in 2021 and 4.4% in 2022: France has not converged on the level, but its slope is steeper.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Levels are base to peak on the Italy–Germany 10y spread. 2011–12: LTRO allotments on 21 December 2011 and 29 February 2012; Draghi's "whatever it takes" in London in July 2012 and OMT terms on 6 September 2012. 2022: TPI was announced on 21 July alongside the first hike of the cycle; the spread went on to peak two months later, the morning after the 25 September election. On the backstop: TPI's first eligibility test is compliance with the fiscal framework. Both France's and Italy's excessive deficit procedures were opened on 26 July 2024 and held in abeyance on 3 June 2026, with France flagged as at risk of missing its 2026 expenditure ceiling by a small margin. Eligibility therefore doesn't separate them; the instrument is discretionary and no ECB official has said on the record it would be used for France. On the EDP: Eurostat confirmed Italy's 2025 deficit at 3.1% (3.07% unrounded), just above the threshold, ruling out an exit this year. The Council deadline is 2026; with the Commission forecasting 2.9% for 2026, confirmation in the April 2027 notification would normally see the procedure closed by mid-2027. Activating the defence escape clause would not by itself allow an exit, since the deficit must be below 3%. France's Council deadline is 2029. The Cour des comptes also notes that Italy, Germany and Portugal ran lasting cyclically adjusted primary surpluses over 2010–25, while France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notch count in the third row is not a forecast of any single agency action; it is the relative movement the market appears to be pricing. An alternative approach, scaling Italy's episodes onto France, gives answers a factor of two apart depending on convention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December window matters only if the budget fails to clear: a sequence of Article 47, censure and a failed special law would reopen the budget risk. Two consecutive years began without a finance law. The social security budget (PLFSS) matters as much as the main budget: it is the text on which the Barnier government fell in December 2024; its vote dates are not yet fixed. The 2027 financing programme sets gross OAT issuance, a spread driver in its own right, and is confirmed in December. For reference: in 2022 the presidential premium was worth about 10bp around the first round; in 2024 the dissolution premium built within a week. Italian precedent suggests that spreads turn on political signals ahead of formal outcomes, which would place any budget-cycle peak in late October rather than December.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sizes: Ifop-Fiducial 1,598 (24–25 Aug); Elabe 1,501 (26–28 Aug); Harris Interactive 2,052 (8–10 Sep); OpinionWay 1,001 (9–10 Sep). Ranges reflect the candidate configurations each pollster tested, mainly whether Attal runs alongside Philippe and which Socialist stands; single figures mean the candidate was tested in one configuration or scored the same in all. Run-offs: Le Pen–Philippe 52–48 (Ifop) to 55–45 (OpinionWay); Le Pen–Attal 54–46 (Ifop) to 57–43 (Elabe); Le Pen–Glucksmann 55–45 (Ifop) to 57–43 (Elabe); Le Pen–Hollande 54–46 (Ifop); Le Pen–Mélenchon 67–33 (Ifop, OpinionWay) to 69.5–30.5 (Elabe). Trend: Elabe's July wave had Philippe down four points since March, while Mélenchon gained 3.5 in one configuration. On the left, a United Left primary is scheduled for 11 October 2026, though LFI and the PS are likely to run separate candidates; the PS has five declared contenders. Caveat: polls seven months out have a poor record; since 1995 the favourite at this stage has won only half the time. Le Pen is eligible after the July appeal cut her ban to 15 months served; the Cour de cassation ruling is due by early April and cannot lengthen the 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LFI proposal does not concern privately held debt. Neither the RN's €125bn savings plan nor a Philippe programme has been published, and no independent institute costing was available, so these columns will need revisiting.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positive FR–IT number means France widened relative to Italy; the share shows how much of France's move against Bunds was not matched by Italy. Event days: eight in 2024 (dissolution week, both election rounds, Barnier's 49.3 and censure) and seven in 2025–26 (Bayrou vote, Fitch and S&amp;P downgrades, Lecornu's resignation and declaration, and last week's deficit revision). The decoupling is what allows French risk to be isolated; its reversal is the main regime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deep pullbacks followed the July 2024 election, the Barnier censure, January to February 2025, and Lecornu's deal with the Socialists into February 2026; each started a drift of one to four months. The sample is small (21 pullbacks) and the 12bp boundary is close to one observation at 12.2bp, so these are patterns rather than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pullback rule: a retracement of 8–11bp has historically taken two to three weeks, so the entry is not chased. The target is deliberately the prior high rather than an extension: completed widening legs since 2024 have a median of 10bp and a maximum of 16, against a current leg of 27. Spain has no liquid futures contract, so the position is cash. The 12bp line is close to one observation at 12.2bp, so it is the best cut the data draw rather than a law. Spain is preferred to Italy because it captures the French move in both regimes and keeps working if the crisis turns European; Italy costs less to hold (−1.0bp per quarter) but captures about half the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Capitulation signal: for example a Rassemblement National commitment not to censure, or the government accepting a materially harder deficit number. Screen levels of about 130 and 150 assume Italy keeps following roughly a third of each French move; if Italy follows less, the equivalent FR–DE levels are higher. If the crisis turns European, France–Italy falls and the entry never triggers, which is the intended behaviour. The second half waits for +45 rather than averaging in, because the reflex regime is what took France to 190 over Germany in November 2011. The two playbooks should not be run at full size together, since both lose in a euro-area repricing.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has spent a year pricing France as a French problem. The central uncertainty for the committee is whether that persists through the budget and the election. The swap-spread caveat matters because Bund supply has cheapened Bunds relative to swaps, flattering the headline BTP–Bund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Multiplying assumes stress compounds on the starting level; adding assumes it arrives in fixed basis-point increments. Neither convention is supported over the other by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bp of spread, long France against Germany. The financing assumption drives most of the carry; worth checking against internal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D9786F"/>
                </a:solidFill>
                <a:latin typeface="Inter" pitchFamily="34" charset="0"/>
                <a:ea typeface="Inter" pitchFamily="34" charset="-122"/>
                <a:cs typeface="Inter" pitchFamily="34" charset="-120"/>
              </a:rPr>
              <a:t>INVESTMENT COMMITTEE BRIEFING</a:t>
            </a:r>
            <a:endParaRPr lang="en-US" sz="1400" dirty="0"/>
          </a:p>
        </p:txBody>
      </p:sp>
      <p:sp>
        <p:nvSpPr>
          <p:cNvPr id="3" name="Text 1"/>
          <p:cNvSpPr/>
          <p:nvPr/>
        </p:nvSpPr>
        <p:spPr>
          <a:xfrm>
            <a:off x="812800" y="1879699"/>
            <a:ext cx="9810750" cy="2265561"/>
          </a:xfrm>
          <a:prstGeom prst="rect">
            <a:avLst/>
          </a:prstGeom>
          <a:noFill/>
          <a:ln/>
        </p:spPr>
        <p:txBody>
          <a:bodyPr wrap="square" lIns="0" tIns="0" rIns="0" bIns="0" rtlCol="0" anchor="t">
            <a:normAutofit/>
          </a:bodyPr>
          <a:lstStyle/>
          <a:p>
            <a:pPr algn="l" indent="0" marL="0">
              <a:lnSpc>
                <a:spcPts val="5880"/>
              </a:lnSpc>
              <a:buNone/>
            </a:pPr>
            <a:r>
              <a:rPr lang="en-US" sz="5600" dirty="0">
                <a:solidFill>
                  <a:srgbClr val="F5F2EC"/>
                </a:solidFill>
                <a:latin typeface="Source Serif 4" pitchFamily="34" charset="0"/>
                <a:ea typeface="Source Serif 4" pitchFamily="34" charset="-122"/>
                <a:cs typeface="Source Serif 4" pitchFamily="34" charset="-120"/>
              </a:rPr>
              <a:t>French and Italian spreads: fundamentals, politics and key catalysts</a:t>
            </a:r>
            <a:endParaRPr lang="en-US" sz="5600" dirty="0"/>
          </a:p>
        </p:txBody>
      </p:sp>
      <p:sp>
        <p:nvSpPr>
          <p:cNvPr id="4" name="Text 2"/>
          <p:cNvSpPr/>
          <p:nvPr/>
        </p:nvSpPr>
        <p:spPr>
          <a:xfrm>
            <a:off x="812800" y="4373860"/>
            <a:ext cx="91567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4BB"/>
                </a:solidFill>
                <a:latin typeface="Inter" pitchFamily="34" charset="0"/>
                <a:ea typeface="Inter" pitchFamily="34" charset="-122"/>
                <a:cs typeface="Inter" pitchFamily="34" charset="-120"/>
              </a:rPr>
              <a:t>10y sovereign spreads to Germany, through the 2027 budget and the presidential election</a:t>
            </a:r>
            <a:endParaRPr lang="en-US" sz="18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8"/>
                </a:solidFill>
                <a:latin typeface="Inter" pitchFamily="34" charset="0"/>
                <a:ea typeface="Inter" pitchFamily="34" charset="-122"/>
                <a:cs typeface="Inter" pitchFamily="34" charset="-120"/>
              </a:rPr>
              <a:t>Data as of 18 Sep 2026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448618"/>
          </a:xfrm>
          <a:prstGeom prst="rect">
            <a:avLst/>
          </a:prstGeom>
          <a:noFill/>
          <a:ln/>
        </p:spPr>
        <p:txBody>
          <a:bodyPr wrap="square" lIns="0" tIns="0" rIns="0" bIns="0" rtlCol="0" anchor="t">
            <a:normAutofit/>
          </a:bodyPr>
          <a:lstStyle/>
          <a:p>
            <a:pPr algn="l" indent="0" marL="0">
              <a:lnSpc>
                <a:spcPts val="3366"/>
              </a:lnSpc>
              <a:buNone/>
            </a:pPr>
            <a:r>
              <a:rPr lang="en-US" sz="3060" dirty="0">
                <a:solidFill>
                  <a:srgbClr val="17202B"/>
                </a:solidFill>
                <a:latin typeface="Source Serif 4" pitchFamily="34" charset="0"/>
                <a:ea typeface="Source Serif 4" pitchFamily="34" charset="-122"/>
                <a:cs typeface="Source Serif 4" pitchFamily="34" charset="-120"/>
              </a:rPr>
              <a:t>Summary</a:t>
            </a:r>
            <a:endParaRPr lang="en-US" sz="3060" dirty="0"/>
          </a:p>
        </p:txBody>
      </p:sp>
      <p:sp>
        <p:nvSpPr>
          <p:cNvPr id="3" name="Shape 1"/>
          <p:cNvSpPr/>
          <p:nvPr/>
        </p:nvSpPr>
        <p:spPr>
          <a:xfrm>
            <a:off x="812800" y="1470968"/>
            <a:ext cx="10566400" cy="0"/>
          </a:xfrm>
          <a:prstGeom prst="line">
            <a:avLst/>
          </a:prstGeom>
          <a:noFill/>
          <a:ln w="12700">
            <a:solidFill>
              <a:srgbClr val="17202B"/>
            </a:solidFill>
            <a:prstDash val="solid"/>
          </a:ln>
        </p:spPr>
      </p:sp>
      <p:sp>
        <p:nvSpPr>
          <p:cNvPr id="4" name="Text 2"/>
          <p:cNvSpPr/>
          <p:nvPr/>
        </p:nvSpPr>
        <p:spPr>
          <a:xfrm>
            <a:off x="812800" y="1591618"/>
            <a:ext cx="2092960" cy="255389"/>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7202B"/>
                </a:solidFill>
                <a:latin typeface="Inter" pitchFamily="34" charset="0"/>
                <a:ea typeface="Inter" pitchFamily="34" charset="-122"/>
                <a:cs typeface="Inter" pitchFamily="34" charset="-120"/>
              </a:rPr>
              <a:t>Levels</a:t>
            </a:r>
            <a:endParaRPr lang="en-US" sz="1299" dirty="0"/>
          </a:p>
        </p:txBody>
      </p:sp>
      <p:sp>
        <p:nvSpPr>
          <p:cNvPr id="5" name="Text 3"/>
          <p:cNvSpPr/>
          <p:nvPr/>
        </p:nvSpPr>
        <p:spPr>
          <a:xfrm>
            <a:off x="812800" y="1859707"/>
            <a:ext cx="2092960" cy="391468"/>
          </a:xfrm>
          <a:prstGeom prst="rect">
            <a:avLst/>
          </a:prstGeom>
          <a:noFill/>
          <a:ln/>
        </p:spPr>
        <p:txBody>
          <a:bodyPr wrap="square" lIns="0" tIns="0" rIns="0" bIns="0" rtlCol="0" anchor="t">
            <a:normAutofit/>
          </a:bodyPr>
          <a:lstStyle/>
          <a:p>
            <a:pPr algn="l" indent="0" marL="0">
              <a:lnSpc>
                <a:spcPts val="1458"/>
              </a:lnSpc>
              <a:buNone/>
            </a:pPr>
            <a:r>
              <a:rPr lang="en-US" sz="1121" dirty="0">
                <a:solidFill>
                  <a:srgbClr val="6B7078"/>
                </a:solidFill>
                <a:latin typeface="Inter" pitchFamily="34" charset="0"/>
                <a:ea typeface="Inter" pitchFamily="34" charset="-122"/>
                <a:cs typeface="Inter" pitchFamily="34" charset="-120"/>
              </a:rPr>
              <a:t>TradingView 10y generic, 18 Sep close</a:t>
            </a:r>
            <a:endParaRPr lang="en-US" sz="1121" dirty="0"/>
          </a:p>
        </p:txBody>
      </p:sp>
      <p:sp>
        <p:nvSpPr>
          <p:cNvPr id="6" name="Text 4"/>
          <p:cNvSpPr/>
          <p:nvPr/>
        </p:nvSpPr>
        <p:spPr>
          <a:xfrm>
            <a:off x="3048000" y="1591618"/>
            <a:ext cx="8581136" cy="65955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02B"/>
                </a:solidFill>
                <a:latin typeface="Inter" pitchFamily="34" charset="0"/>
                <a:ea typeface="Inter" pitchFamily="34" charset="-122"/>
                <a:cs typeface="Inter" pitchFamily="34" charset="-120"/>
              </a:rPr>
              <a:t>10y OAT–Bund at 104bp, up from about 55 at the start of 2026 and the first close above 100 since 2011–12. France trades 14bp over Italy, the widest on record, with Italy at 90bp and Spain at 47bp over Bunds.</a:t>
            </a:r>
            <a:endParaRPr lang="en-US" sz="1300" dirty="0"/>
          </a:p>
        </p:txBody>
      </p:sp>
      <p:sp>
        <p:nvSpPr>
          <p:cNvPr id="7" name="Shape 5"/>
          <p:cNvSpPr/>
          <p:nvPr/>
        </p:nvSpPr>
        <p:spPr>
          <a:xfrm>
            <a:off x="812800" y="2343249"/>
            <a:ext cx="10566400" cy="0"/>
          </a:xfrm>
          <a:prstGeom prst="line">
            <a:avLst/>
          </a:prstGeom>
          <a:noFill/>
          <a:ln w="6350">
            <a:solidFill>
              <a:srgbClr val="DDD6CA"/>
            </a:solidFill>
            <a:prstDash val="solid"/>
          </a:ln>
        </p:spPr>
      </p:sp>
      <p:sp>
        <p:nvSpPr>
          <p:cNvPr id="8" name="Text 6"/>
          <p:cNvSpPr/>
          <p:nvPr/>
        </p:nvSpPr>
        <p:spPr>
          <a:xfrm>
            <a:off x="812800" y="2460724"/>
            <a:ext cx="2092960" cy="255389"/>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7202B"/>
                </a:solidFill>
                <a:latin typeface="Inter" pitchFamily="34" charset="0"/>
                <a:ea typeface="Inter" pitchFamily="34" charset="-122"/>
                <a:cs typeface="Inter" pitchFamily="34" charset="-120"/>
              </a:rPr>
              <a:t>Fundamentals</a:t>
            </a:r>
            <a:endParaRPr lang="en-US" sz="1299" dirty="0"/>
          </a:p>
        </p:txBody>
      </p:sp>
      <p:sp>
        <p:nvSpPr>
          <p:cNvPr id="9" name="Text 7"/>
          <p:cNvSpPr/>
          <p:nvPr/>
        </p:nvSpPr>
        <p:spPr>
          <a:xfrm>
            <a:off x="812800" y="2728813"/>
            <a:ext cx="2092960" cy="391468"/>
          </a:xfrm>
          <a:prstGeom prst="rect">
            <a:avLst/>
          </a:prstGeom>
          <a:noFill/>
          <a:ln/>
        </p:spPr>
        <p:txBody>
          <a:bodyPr wrap="square" lIns="0" tIns="0" rIns="0" bIns="0" rtlCol="0" anchor="t">
            <a:normAutofit/>
          </a:bodyPr>
          <a:lstStyle/>
          <a:p>
            <a:pPr algn="l" indent="0" marL="0">
              <a:lnSpc>
                <a:spcPts val="1458"/>
              </a:lnSpc>
              <a:buNone/>
            </a:pPr>
            <a:r>
              <a:rPr lang="en-US" sz="1121" dirty="0">
                <a:solidFill>
                  <a:srgbClr val="6B7078"/>
                </a:solidFill>
                <a:latin typeface="Inter" pitchFamily="34" charset="0"/>
                <a:ea typeface="Inter" pitchFamily="34" charset="-122"/>
                <a:cs typeface="Inter" pitchFamily="34" charset="-120"/>
              </a:rPr>
              <a:t>European Commission; French government</a:t>
            </a:r>
            <a:endParaRPr lang="en-US" sz="1121" dirty="0"/>
          </a:p>
        </p:txBody>
      </p:sp>
      <p:sp>
        <p:nvSpPr>
          <p:cNvPr id="10" name="Text 8"/>
          <p:cNvSpPr/>
          <p:nvPr/>
        </p:nvSpPr>
        <p:spPr>
          <a:xfrm>
            <a:off x="3048000" y="2460724"/>
            <a:ext cx="8581136" cy="65955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02B"/>
                </a:solidFill>
                <a:latin typeface="Inter" pitchFamily="34" charset="0"/>
                <a:ea typeface="Inter" pitchFamily="34" charset="-122"/>
                <a:cs typeface="Inter" pitchFamily="34" charset="-120"/>
              </a:rPr>
              <a:t>France's deficit is 5.4% of GDP in 2026 and 5.7% in 2027 on unchanged policy, against 2.9% for Italy. Its debt ratio rises from 116% to 120% by 2027, against 137% to 139% for Italy: twice the pace.</a:t>
            </a:r>
            <a:endParaRPr lang="en-US" sz="1300" dirty="0"/>
          </a:p>
        </p:txBody>
      </p:sp>
      <p:sp>
        <p:nvSpPr>
          <p:cNvPr id="11" name="Shape 9"/>
          <p:cNvSpPr/>
          <p:nvPr/>
        </p:nvSpPr>
        <p:spPr>
          <a:xfrm>
            <a:off x="812800" y="3212356"/>
            <a:ext cx="10566400" cy="0"/>
          </a:xfrm>
          <a:prstGeom prst="line">
            <a:avLst/>
          </a:prstGeom>
          <a:noFill/>
          <a:ln w="6350">
            <a:solidFill>
              <a:srgbClr val="DDD6CA"/>
            </a:solidFill>
            <a:prstDash val="solid"/>
          </a:ln>
        </p:spPr>
      </p:sp>
      <p:sp>
        <p:nvSpPr>
          <p:cNvPr id="12" name="Text 10"/>
          <p:cNvSpPr/>
          <p:nvPr/>
        </p:nvSpPr>
        <p:spPr>
          <a:xfrm>
            <a:off x="812800" y="3329831"/>
            <a:ext cx="2092960" cy="255389"/>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17202B"/>
                </a:solidFill>
                <a:latin typeface="Inter" pitchFamily="34" charset="0"/>
                <a:ea typeface="Inter" pitchFamily="34" charset="-122"/>
                <a:cs typeface="Inter" pitchFamily="34" charset="-120"/>
              </a:rPr>
              <a:t>Politics</a:t>
            </a:r>
            <a:endParaRPr lang="en-US" sz="1299" dirty="0"/>
          </a:p>
        </p:txBody>
      </p:sp>
      <p:sp>
        <p:nvSpPr>
          <p:cNvPr id="13" name="Text 11"/>
          <p:cNvSpPr/>
          <p:nvPr/>
        </p:nvSpPr>
        <p:spPr>
          <a:xfrm>
            <a:off x="812800" y="3597920"/>
            <a:ext cx="2092960" cy="391468"/>
          </a:xfrm>
          <a:prstGeom prst="rect">
            <a:avLst/>
          </a:prstGeom>
          <a:noFill/>
          <a:ln/>
        </p:spPr>
        <p:txBody>
          <a:bodyPr wrap="square" lIns="0" tIns="0" rIns="0" bIns="0" rtlCol="0" anchor="t">
            <a:normAutofit/>
          </a:bodyPr>
          <a:lstStyle/>
          <a:p>
            <a:pPr algn="l" indent="0" marL="0">
              <a:lnSpc>
                <a:spcPts val="1458"/>
              </a:lnSpc>
              <a:buNone/>
            </a:pPr>
            <a:r>
              <a:rPr lang="en-US" sz="1121" dirty="0">
                <a:solidFill>
                  <a:srgbClr val="6B7078"/>
                </a:solidFill>
                <a:latin typeface="Inter" pitchFamily="34" charset="0"/>
                <a:ea typeface="Inter" pitchFamily="34" charset="-122"/>
                <a:cs typeface="Inter" pitchFamily="34" charset="-120"/>
              </a:rPr>
              <a:t>Assemblée nationale; OpinionWay, 9–10 Sep</a:t>
            </a:r>
            <a:endParaRPr lang="en-US" sz="1121" dirty="0"/>
          </a:p>
        </p:txBody>
      </p:sp>
      <p:sp>
        <p:nvSpPr>
          <p:cNvPr id="14" name="Text 12"/>
          <p:cNvSpPr/>
          <p:nvPr/>
        </p:nvSpPr>
        <p:spPr>
          <a:xfrm>
            <a:off x="3048000" y="3329831"/>
            <a:ext cx="8581136" cy="65955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02B"/>
                </a:solidFill>
                <a:latin typeface="Inter" pitchFamily="34" charset="0"/>
                <a:ea typeface="Inter" pitchFamily="34" charset="-122"/>
                <a:cs typeface="Inter" pitchFamily="34" charset="-120"/>
              </a:rPr>
              <a:t>Four prime ministers and eight uses of Article 49.3 since June 2024. Budget first-reading vote on 17 Nov; presidential election on 18 Apr and 2 May, with Le Pen leading every first-round scenario at 32–34%.</a:t>
            </a:r>
            <a:endParaRPr lang="en-US" sz="1300" dirty="0"/>
          </a:p>
        </p:txBody>
      </p:sp>
      <p:sp>
        <p:nvSpPr>
          <p:cNvPr id="15" name="Shape 13"/>
          <p:cNvSpPr/>
          <p:nvPr/>
        </p:nvSpPr>
        <p:spPr>
          <a:xfrm>
            <a:off x="812800" y="4081463"/>
            <a:ext cx="10566400" cy="0"/>
          </a:xfrm>
          <a:prstGeom prst="line">
            <a:avLst/>
          </a:prstGeom>
          <a:noFill/>
          <a:ln w="6350">
            <a:solidFill>
              <a:srgbClr val="DDD6CA"/>
            </a:solidFill>
            <a:prstDash val="solid"/>
          </a:ln>
        </p:spPr>
      </p:sp>
      <p:sp>
        <p:nvSpPr>
          <p:cNvPr id="16" name="Text 14"/>
          <p:cNvSpPr/>
          <p:nvPr/>
        </p:nvSpPr>
        <p:spPr>
          <a:xfrm>
            <a:off x="812800" y="4198938"/>
            <a:ext cx="2092960" cy="259060"/>
          </a:xfrm>
          <a:prstGeom prst="rect">
            <a:avLst/>
          </a:prstGeom>
          <a:noFill/>
          <a:ln/>
        </p:spPr>
        <p:txBody>
          <a:bodyPr wrap="square" lIns="0" tIns="0" rIns="0" bIns="0" rtlCol="0" anchor="t">
            <a:normAutofit/>
          </a:bodyPr>
          <a:lstStyle/>
          <a:p>
            <a:pPr algn="l" indent="0" marL="0">
              <a:lnSpc>
                <a:spcPts val="1874"/>
              </a:lnSpc>
              <a:buNone/>
            </a:pPr>
            <a:r>
              <a:rPr lang="en-US" sz="1339" b="1" dirty="0">
                <a:solidFill>
                  <a:srgbClr val="17202B"/>
                </a:solidFill>
                <a:latin typeface="Inter" pitchFamily="34" charset="0"/>
                <a:ea typeface="Inter" pitchFamily="34" charset="-122"/>
                <a:cs typeface="Inter" pitchFamily="34" charset="-120"/>
              </a:rPr>
              <a:t>Valuation</a:t>
            </a:r>
            <a:endParaRPr lang="en-US" sz="1339" dirty="0"/>
          </a:p>
        </p:txBody>
      </p:sp>
      <p:sp>
        <p:nvSpPr>
          <p:cNvPr id="17" name="Text 15"/>
          <p:cNvSpPr/>
          <p:nvPr/>
        </p:nvSpPr>
        <p:spPr>
          <a:xfrm>
            <a:off x="812800" y="4470698"/>
            <a:ext cx="2092960" cy="397371"/>
          </a:xfrm>
          <a:prstGeom prst="rect">
            <a:avLst/>
          </a:prstGeom>
          <a:noFill/>
          <a:ln/>
        </p:spPr>
        <p:txBody>
          <a:bodyPr wrap="square" lIns="0" tIns="0" rIns="0" bIns="0" rtlCol="0" anchor="t">
            <a:normAutofit/>
          </a:bodyPr>
          <a:lstStyle/>
          <a:p>
            <a:pPr algn="l" indent="0" marL="0">
              <a:lnSpc>
                <a:spcPts val="1487"/>
              </a:lnSpc>
              <a:buNone/>
            </a:pPr>
            <a:r>
              <a:rPr lang="en-US" sz="1144" dirty="0">
                <a:solidFill>
                  <a:srgbClr val="6B7078"/>
                </a:solidFill>
                <a:latin typeface="Inter" pitchFamily="34" charset="0"/>
                <a:ea typeface="Inter" pitchFamily="34" charset="-122"/>
                <a:cs typeface="Inter" pitchFamily="34" charset="-120"/>
              </a:rPr>
              <a:t>S&amp;P, Moody's, Fitch; calculations on 10y spreads</a:t>
            </a:r>
            <a:endParaRPr lang="en-US" sz="1144" dirty="0"/>
          </a:p>
        </p:txBody>
      </p:sp>
      <p:sp>
        <p:nvSpPr>
          <p:cNvPr id="18" name="Text 16"/>
          <p:cNvSpPr/>
          <p:nvPr/>
        </p:nvSpPr>
        <p:spPr>
          <a:xfrm>
            <a:off x="3048000" y="4198938"/>
            <a:ext cx="8581136" cy="66913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02B"/>
                </a:solidFill>
                <a:latin typeface="Inter" pitchFamily="34" charset="0"/>
                <a:ea typeface="Inter" pitchFamily="34" charset="-122"/>
                <a:cs typeface="Inter" pitchFamily="34" charset="-120"/>
              </a:rPr>
              <a:t>At current ratings France screens about 80bp cheap to Italy, at roughly 19bp per notch. About 35–55bp reflects 2–3 further relative notches (French downgrades, Italian upgrades, or both); the residual 25–45bp is a premium on fiscal trajectory.</a:t>
            </a:r>
            <a:endParaRPr lang="en-US" sz="1300" dirty="0"/>
          </a:p>
        </p:txBody>
      </p:sp>
      <p:sp>
        <p:nvSpPr>
          <p:cNvPr id="19" name="Shape 17"/>
          <p:cNvSpPr/>
          <p:nvPr/>
        </p:nvSpPr>
        <p:spPr>
          <a:xfrm>
            <a:off x="812800" y="4960144"/>
            <a:ext cx="10566400" cy="0"/>
          </a:xfrm>
          <a:prstGeom prst="line">
            <a:avLst/>
          </a:prstGeom>
          <a:noFill/>
          <a:ln w="6350">
            <a:solidFill>
              <a:srgbClr val="DDD6CA"/>
            </a:solidFill>
            <a:prstDash val="solid"/>
          </a:ln>
        </p:spPr>
      </p:sp>
      <p:sp>
        <p:nvSpPr>
          <p:cNvPr id="20" name="Shape 18"/>
          <p:cNvSpPr/>
          <p:nvPr/>
        </p:nvSpPr>
        <p:spPr>
          <a:xfrm>
            <a:off x="812800" y="5838825"/>
            <a:ext cx="10566400" cy="0"/>
          </a:xfrm>
          <a:prstGeom prst="line">
            <a:avLst/>
          </a:prstGeom>
          <a:noFill/>
          <a:ln w="6350">
            <a:solidFill>
              <a:srgbClr val="DDD6CA"/>
            </a:solidFill>
            <a:prstDash val="solid"/>
          </a:ln>
        </p:spPr>
      </p:sp>
      <p:sp>
        <p:nvSpPr>
          <p:cNvPr id="21" name="Text 19"/>
          <p:cNvSpPr/>
          <p:nvPr/>
        </p:nvSpPr>
        <p:spPr>
          <a:xfrm>
            <a:off x="812800" y="5077619"/>
            <a:ext cx="2092960" cy="259060"/>
          </a:xfrm>
          <a:prstGeom prst="rect">
            <a:avLst/>
          </a:prstGeom>
          <a:noFill/>
          <a:ln/>
        </p:spPr>
        <p:txBody>
          <a:bodyPr wrap="square" lIns="0" tIns="0" rIns="0" bIns="0" rtlCol="0" anchor="t">
            <a:normAutofit/>
          </a:bodyPr>
          <a:lstStyle/>
          <a:p>
            <a:pPr algn="l" indent="0" marL="0">
              <a:lnSpc>
                <a:spcPts val="1874"/>
              </a:lnSpc>
              <a:buNone/>
            </a:pPr>
            <a:r>
              <a:rPr lang="en-US" sz="1339" b="1" dirty="0">
                <a:solidFill>
                  <a:srgbClr val="17202B"/>
                </a:solidFill>
                <a:latin typeface="Inter" pitchFamily="34" charset="0"/>
                <a:ea typeface="Inter" pitchFamily="34" charset="-122"/>
                <a:cs typeface="Inter" pitchFamily="34" charset="-120"/>
              </a:rPr>
              <a:t>Transmission</a:t>
            </a:r>
            <a:endParaRPr lang="en-US" sz="1339" dirty="0"/>
          </a:p>
        </p:txBody>
      </p:sp>
      <p:sp>
        <p:nvSpPr>
          <p:cNvPr id="22" name="Text 20"/>
          <p:cNvSpPr/>
          <p:nvPr/>
        </p:nvSpPr>
        <p:spPr>
          <a:xfrm>
            <a:off x="812800" y="5349379"/>
            <a:ext cx="2092960" cy="397371"/>
          </a:xfrm>
          <a:prstGeom prst="rect">
            <a:avLst/>
          </a:prstGeom>
          <a:noFill/>
          <a:ln/>
        </p:spPr>
        <p:txBody>
          <a:bodyPr wrap="square" lIns="0" tIns="0" rIns="0" bIns="0" rtlCol="0" anchor="t">
            <a:normAutofit/>
          </a:bodyPr>
          <a:lstStyle/>
          <a:p>
            <a:pPr algn="l" indent="0" marL="0">
              <a:lnSpc>
                <a:spcPts val="1487"/>
              </a:lnSpc>
              <a:buNone/>
            </a:pPr>
            <a:r>
              <a:rPr lang="en-US" sz="1144" dirty="0">
                <a:solidFill>
                  <a:srgbClr val="6B7078"/>
                </a:solidFill>
                <a:latin typeface="Inter" pitchFamily="34" charset="0"/>
                <a:ea typeface="Inter" pitchFamily="34" charset="-122"/>
                <a:cs typeface="Inter" pitchFamily="34" charset="-120"/>
              </a:rPr>
              <a:t>Calculations on 10y spreads, French-event days</a:t>
            </a:r>
            <a:endParaRPr lang="en-US" sz="1144" dirty="0"/>
          </a:p>
        </p:txBody>
      </p:sp>
      <p:sp>
        <p:nvSpPr>
          <p:cNvPr id="23" name="Text 21"/>
          <p:cNvSpPr/>
          <p:nvPr/>
        </p:nvSpPr>
        <p:spPr>
          <a:xfrm>
            <a:off x="3048000" y="5077619"/>
            <a:ext cx="8581136" cy="66913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02B"/>
                </a:solidFill>
                <a:latin typeface="Inter" pitchFamily="34" charset="0"/>
                <a:ea typeface="Inter" pitchFamily="34" charset="-122"/>
                <a:cs typeface="Inter" pitchFamily="34" charset="-120"/>
              </a:rPr>
              <a:t>Italy's beta to French shocks fell from ~1.0 in 2024 to ~0.4 in 2025–26; Spain's from ~0.55 to ~0.25. French shocks are now priced as French. A return to euro-area pricing, as after the June 2024 dissolution, is the main regime risk.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7202B"/>
                </a:solidFill>
                <a:latin typeface="Source Serif 4" pitchFamily="34" charset="0"/>
                <a:ea typeface="Source Serif 4" pitchFamily="34" charset="-122"/>
                <a:cs typeface="Source Serif 4" pitchFamily="34" charset="-120"/>
              </a:rPr>
              <a:t>Current levels: France trades wider than Italy despite lower debt</a:t>
            </a:r>
            <a:endParaRPr lang="en-US" sz="3200" dirty="0"/>
          </a:p>
        </p:txBody>
      </p:sp>
      <p:sp>
        <p:nvSpPr>
          <p:cNvPr id="3" name="Shape 1"/>
          <p:cNvSpPr/>
          <p:nvPr/>
        </p:nvSpPr>
        <p:spPr>
          <a:xfrm>
            <a:off x="815975" y="2065635"/>
            <a:ext cx="2520950" cy="2114401"/>
          </a:xfrm>
          <a:prstGeom prst="roundRect">
            <a:avLst>
              <a:gd name="adj" fmla="val 3454"/>
            </a:avLst>
          </a:prstGeom>
          <a:solidFill>
            <a:srgbClr val="FBF9F5"/>
          </a:solidFill>
          <a:ln w="6350">
            <a:solidFill>
              <a:srgbClr val="DDD6CA"/>
            </a:solidFill>
            <a:prstDash val="solid"/>
          </a:ln>
        </p:spPr>
      </p:sp>
      <p:sp>
        <p:nvSpPr>
          <p:cNvPr id="4" name="Text 2"/>
          <p:cNvSpPr/>
          <p:nvPr/>
        </p:nvSpPr>
        <p:spPr>
          <a:xfrm>
            <a:off x="1047750" y="2297410"/>
            <a:ext cx="2119122"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A8322B"/>
                </a:solidFill>
                <a:latin typeface="Source Serif 4" pitchFamily="34" charset="0"/>
                <a:ea typeface="Source Serif 4" pitchFamily="34" charset="-122"/>
                <a:cs typeface="Source Serif 4" pitchFamily="34" charset="-120"/>
              </a:rPr>
              <a:t>104</a:t>
            </a:r>
            <a:endParaRPr lang="en-US" sz="4800" dirty="0"/>
          </a:p>
        </p:txBody>
      </p:sp>
      <p:sp>
        <p:nvSpPr>
          <p:cNvPr id="5" name="Text 3"/>
          <p:cNvSpPr/>
          <p:nvPr/>
        </p:nvSpPr>
        <p:spPr>
          <a:xfrm>
            <a:off x="1047750" y="2983210"/>
            <a:ext cx="211912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OAT–Bund, bp</a:t>
            </a:r>
            <a:endParaRPr lang="en-US" sz="1400" dirty="0"/>
          </a:p>
        </p:txBody>
      </p:sp>
      <p:sp>
        <p:nvSpPr>
          <p:cNvPr id="6" name="Text 4"/>
          <p:cNvSpPr/>
          <p:nvPr/>
        </p:nvSpPr>
        <p:spPr>
          <a:xfrm>
            <a:off x="1047750" y="3308300"/>
            <a:ext cx="211912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About 55 at the start of 2026; first close above 100 since 2011–12</a:t>
            </a:r>
            <a:endParaRPr lang="en-US" sz="1200" dirty="0"/>
          </a:p>
        </p:txBody>
      </p:sp>
      <p:sp>
        <p:nvSpPr>
          <p:cNvPr id="7" name="Shape 5"/>
          <p:cNvSpPr/>
          <p:nvPr/>
        </p:nvSpPr>
        <p:spPr>
          <a:xfrm>
            <a:off x="3495675" y="2065635"/>
            <a:ext cx="2520950" cy="2114401"/>
          </a:xfrm>
          <a:prstGeom prst="roundRect">
            <a:avLst>
              <a:gd name="adj" fmla="val 3454"/>
            </a:avLst>
          </a:prstGeom>
          <a:solidFill>
            <a:srgbClr val="FBF9F5"/>
          </a:solidFill>
          <a:ln w="6350">
            <a:solidFill>
              <a:srgbClr val="DDD6CA"/>
            </a:solidFill>
            <a:prstDash val="solid"/>
          </a:ln>
        </p:spPr>
      </p:sp>
      <p:sp>
        <p:nvSpPr>
          <p:cNvPr id="8" name="Text 6"/>
          <p:cNvSpPr/>
          <p:nvPr/>
        </p:nvSpPr>
        <p:spPr>
          <a:xfrm>
            <a:off x="3727450" y="2297410"/>
            <a:ext cx="2119122"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A8322B"/>
                </a:solidFill>
                <a:latin typeface="Source Serif 4" pitchFamily="34" charset="0"/>
                <a:ea typeface="Source Serif 4" pitchFamily="34" charset="-122"/>
                <a:cs typeface="Source Serif 4" pitchFamily="34" charset="-120"/>
              </a:rPr>
              <a:t>+14</a:t>
            </a:r>
            <a:endParaRPr lang="en-US" sz="4800" dirty="0"/>
          </a:p>
        </p:txBody>
      </p:sp>
      <p:sp>
        <p:nvSpPr>
          <p:cNvPr id="9" name="Text 7"/>
          <p:cNvSpPr/>
          <p:nvPr/>
        </p:nvSpPr>
        <p:spPr>
          <a:xfrm>
            <a:off x="3727450" y="2983210"/>
            <a:ext cx="211912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France over Italy, bp</a:t>
            </a:r>
            <a:endParaRPr lang="en-US" sz="1400" dirty="0"/>
          </a:p>
        </p:txBody>
      </p:sp>
      <p:sp>
        <p:nvSpPr>
          <p:cNvPr id="10" name="Text 8"/>
          <p:cNvSpPr/>
          <p:nvPr/>
        </p:nvSpPr>
        <p:spPr>
          <a:xfrm>
            <a:off x="3727450" y="3308300"/>
            <a:ext cx="211912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Widest on record; Italy at 90 over Bunds, Spain at 47</a:t>
            </a:r>
            <a:endParaRPr lang="en-US" sz="1200" dirty="0"/>
          </a:p>
        </p:txBody>
      </p:sp>
      <p:sp>
        <p:nvSpPr>
          <p:cNvPr id="11" name="Shape 9"/>
          <p:cNvSpPr/>
          <p:nvPr/>
        </p:nvSpPr>
        <p:spPr>
          <a:xfrm>
            <a:off x="6175375" y="2065635"/>
            <a:ext cx="2520950" cy="2114401"/>
          </a:xfrm>
          <a:prstGeom prst="roundRect">
            <a:avLst>
              <a:gd name="adj" fmla="val 3454"/>
            </a:avLst>
          </a:prstGeom>
          <a:solidFill>
            <a:srgbClr val="FBF9F5"/>
          </a:solidFill>
          <a:ln w="6350">
            <a:solidFill>
              <a:srgbClr val="DDD6CA"/>
            </a:solidFill>
            <a:prstDash val="solid"/>
          </a:ln>
        </p:spPr>
      </p:sp>
      <p:sp>
        <p:nvSpPr>
          <p:cNvPr id="12" name="Text 10"/>
          <p:cNvSpPr/>
          <p:nvPr/>
        </p:nvSpPr>
        <p:spPr>
          <a:xfrm>
            <a:off x="6407150" y="2297410"/>
            <a:ext cx="2119122"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A8322B"/>
                </a:solidFill>
                <a:latin typeface="Source Serif 4" pitchFamily="34" charset="0"/>
                <a:ea typeface="Source Serif 4" pitchFamily="34" charset="-122"/>
                <a:cs typeface="Source Serif 4" pitchFamily="34" charset="-120"/>
              </a:rPr>
              <a:t>5.4%</a:t>
            </a:r>
            <a:endParaRPr lang="en-US" sz="4800" dirty="0"/>
          </a:p>
        </p:txBody>
      </p:sp>
      <p:sp>
        <p:nvSpPr>
          <p:cNvPr id="13" name="Text 11"/>
          <p:cNvSpPr/>
          <p:nvPr/>
        </p:nvSpPr>
        <p:spPr>
          <a:xfrm>
            <a:off x="6407150" y="2983210"/>
            <a:ext cx="211912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France 2026 deficit</a:t>
            </a:r>
            <a:endParaRPr lang="en-US" sz="1400" dirty="0"/>
          </a:p>
        </p:txBody>
      </p:sp>
      <p:sp>
        <p:nvSpPr>
          <p:cNvPr id="14" name="Text 12"/>
          <p:cNvSpPr/>
          <p:nvPr/>
        </p:nvSpPr>
        <p:spPr>
          <a:xfrm>
            <a:off x="6407150" y="3308300"/>
            <a:ext cx="211912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Revised 17 Sep; planned 4.7%, legislated 5.0%</a:t>
            </a:r>
            <a:endParaRPr lang="en-US" sz="1200" dirty="0"/>
          </a:p>
        </p:txBody>
      </p:sp>
      <p:sp>
        <p:nvSpPr>
          <p:cNvPr id="15" name="Shape 13"/>
          <p:cNvSpPr/>
          <p:nvPr/>
        </p:nvSpPr>
        <p:spPr>
          <a:xfrm>
            <a:off x="8855075" y="2065635"/>
            <a:ext cx="2520950" cy="2114401"/>
          </a:xfrm>
          <a:prstGeom prst="roundRect">
            <a:avLst>
              <a:gd name="adj" fmla="val 3454"/>
            </a:avLst>
          </a:prstGeom>
          <a:solidFill>
            <a:srgbClr val="FBF9F5"/>
          </a:solidFill>
          <a:ln w="6350">
            <a:solidFill>
              <a:srgbClr val="DDD6CA"/>
            </a:solidFill>
            <a:prstDash val="solid"/>
          </a:ln>
        </p:spPr>
      </p:sp>
      <p:sp>
        <p:nvSpPr>
          <p:cNvPr id="16" name="Text 14"/>
          <p:cNvSpPr/>
          <p:nvPr/>
        </p:nvSpPr>
        <p:spPr>
          <a:xfrm>
            <a:off x="9086850" y="2297410"/>
            <a:ext cx="2119122"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2B5C8A"/>
                </a:solidFill>
                <a:latin typeface="Source Serif 4" pitchFamily="34" charset="0"/>
                <a:ea typeface="Source Serif 4" pitchFamily="34" charset="-122"/>
                <a:cs typeface="Source Serif 4" pitchFamily="34" charset="-120"/>
              </a:rPr>
              <a:t>2.9%</a:t>
            </a:r>
            <a:endParaRPr lang="en-US" sz="4800" dirty="0"/>
          </a:p>
        </p:txBody>
      </p:sp>
      <p:sp>
        <p:nvSpPr>
          <p:cNvPr id="17" name="Text 15"/>
          <p:cNvSpPr/>
          <p:nvPr/>
        </p:nvSpPr>
        <p:spPr>
          <a:xfrm>
            <a:off x="9086850" y="2983210"/>
            <a:ext cx="211912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Italy deficit, 2026–27</a:t>
            </a:r>
            <a:endParaRPr lang="en-US" sz="1400" dirty="0"/>
          </a:p>
        </p:txBody>
      </p:sp>
      <p:sp>
        <p:nvSpPr>
          <p:cNvPr id="18" name="Text 16"/>
          <p:cNvSpPr/>
          <p:nvPr/>
        </p:nvSpPr>
        <p:spPr>
          <a:xfrm>
            <a:off x="9086850" y="3308300"/>
            <a:ext cx="211912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European Commission, spring 2026 forecast</a:t>
            </a:r>
            <a:endParaRPr lang="en-US" sz="1200" dirty="0"/>
          </a:p>
        </p:txBody>
      </p:sp>
      <p:sp>
        <p:nvSpPr>
          <p:cNvPr id="19" name="Text 17"/>
          <p:cNvSpPr/>
          <p:nvPr/>
        </p:nvSpPr>
        <p:spPr>
          <a:xfrm>
            <a:off x="812800" y="4538811"/>
            <a:ext cx="10137775" cy="60831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7202B"/>
                </a:solidFill>
                <a:latin typeface="Inter" pitchFamily="34" charset="0"/>
                <a:ea typeface="Inter" pitchFamily="34" charset="-122"/>
                <a:cs typeface="Inter" pitchFamily="34" charset="-120"/>
              </a:rPr>
              <a:t>France carries about 21 points of GDP less debt than Italy. The spread gap reflects the direction of the two fiscal paths and French political risk rather than the stock of debt.</a:t>
            </a:r>
            <a:endParaRPr lang="en-US" sz="17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TradingView 10y generic closes, 18 Sep 2026; European Commission spring 2026 forecast; French government (17 Sep).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7202B"/>
                </a:solidFill>
                <a:latin typeface="Source Serif 4" pitchFamily="34" charset="0"/>
                <a:ea typeface="Source Serif 4" pitchFamily="34" charset="-122"/>
                <a:cs typeface="Source Serif 4" pitchFamily="34" charset="-120"/>
              </a:rPr>
              <a:t>Fiscal trajectories: France's debt ratio is rising at twice Italy's pace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2011660"/>
          <a:ext cx="10566400" cy="2941141"/>
        </p:xfrm>
        <a:graphic>
          <a:graphicData uri="http://schemas.openxmlformats.org/drawingml/2006/table">
            <a:tbl>
              <a:tblPr/>
              <a:tblGrid>
                <a:gridCol w="3522133"/>
                <a:gridCol w="3522133"/>
                <a:gridCol w="3522133"/>
              </a:tblGrid>
              <a:tr h="490190">
                <a:tc>
                  <a:txBody>
                    <a:bodyPr/>
                    <a:lstStyle/>
                    <a:p>
                      <a:pPr indent="0" marL="0">
                        <a:lnSpc>
                          <a:spcPts val="1960"/>
                        </a:lnSpc>
                        <a:buNone/>
                      </a:pPr>
                      <a:r>
                        <a:rPr lang="en-US" sz="1400" b="1" dirty="0">
                          <a:solidFill>
                            <a:srgbClr val="17202B"/>
                          </a:solidFill>
                          <a:latin typeface="Inter" pitchFamily="34" charset="0"/>
                          <a:ea typeface="Inter" pitchFamily="34" charset="-122"/>
                          <a:cs typeface="Inter" pitchFamily="34" charset="-120"/>
                        </a:rPr>
                        <a:t>Official numbers</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960"/>
                        </a:lnSpc>
                        <a:buNone/>
                      </a:pPr>
                      <a:r>
                        <a:rPr lang="en-US" sz="1400" b="1" dirty="0">
                          <a:solidFill>
                            <a:srgbClr val="A8322B"/>
                          </a:solidFill>
                          <a:latin typeface="Inter" pitchFamily="34" charset="0"/>
                          <a:ea typeface="Inter" pitchFamily="34" charset="-122"/>
                          <a:cs typeface="Inter" pitchFamily="34" charset="-120"/>
                        </a:rPr>
                        <a:t>France</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960"/>
                        </a:lnSpc>
                        <a:buNone/>
                      </a:pPr>
                      <a:r>
                        <a:rPr lang="en-US" sz="1400" b="1" dirty="0">
                          <a:solidFill>
                            <a:srgbClr val="2B5C8A"/>
                          </a:solidFill>
                          <a:latin typeface="Inter" pitchFamily="34" charset="0"/>
                          <a:ea typeface="Inter" pitchFamily="34" charset="-122"/>
                          <a:cs typeface="Inter" pitchFamily="34" charset="-120"/>
                        </a:rPr>
                        <a:t>Italy</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r>
              <a:tr h="490190">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Debt, % GDP, 2025 → 2027</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116 → 120</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137 → 139</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90190">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Deficit 2026</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5.4%</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2.9%</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90190">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Deficit 2027, unchanged policy</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5.7%</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2.9%</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90190">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Public spending, % GDP</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57%</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51%</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90190">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Long-term sustainability gap</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~3pp GDP (medium risk)</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Below zero (low risk)</a:t>
                      </a:r>
                      <a:endParaRPr lang="en-US" sz="1400" dirty="0">
                        <a:latin typeface="Inter" charset="0"/>
                        <a:ea typeface="Inter" charset="0"/>
                        <a:cs typeface="Inter" charset="0"/>
                      </a:endParaRPr>
                    </a:p>
                  </a:txBody>
                  <a:tcPr marL="127000" marR="127000" marT="114300" marB="1143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bl>
          </a:graphicData>
        </a:graphic>
      </p:graphicFrame>
      <p:sp>
        <p:nvSpPr>
          <p:cNvPr id="4" name="Text 1"/>
          <p:cNvSpPr/>
          <p:nvPr/>
        </p:nvSpPr>
        <p:spPr>
          <a:xfrm>
            <a:off x="812800" y="5270302"/>
            <a:ext cx="1013777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7202B"/>
                </a:solidFill>
                <a:latin typeface="Inter" pitchFamily="34" charset="0"/>
                <a:ea typeface="Inter" pitchFamily="34" charset="-122"/>
                <a:cs typeface="Inter" pitchFamily="34" charset="-120"/>
              </a:rPr>
              <a:t>The government's own 2027 path is 4.8–5.0%, but assumes €54bn of measures, about €25bn more than the Commission's baseline, still to pass parliament.</a:t>
            </a:r>
            <a:endParaRPr lang="en-US" sz="15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European Commission spring 2026 forecast and Debt Sustainability Monitor; French government (17 Sep).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859482"/>
          </a:xfrm>
          <a:prstGeom prst="rect">
            <a:avLst/>
          </a:prstGeom>
          <a:noFill/>
          <a:ln/>
        </p:spPr>
        <p:txBody>
          <a:bodyPr wrap="square" lIns="0" tIns="0" rIns="0" bIns="0" rtlCol="0" anchor="t">
            <a:normAutofit/>
          </a:bodyPr>
          <a:lstStyle/>
          <a:p>
            <a:pPr algn="l" indent="0" marL="0">
              <a:lnSpc>
                <a:spcPts val="3278"/>
              </a:lnSpc>
              <a:buNone/>
            </a:pPr>
            <a:r>
              <a:rPr lang="en-US" sz="2980" dirty="0">
                <a:solidFill>
                  <a:srgbClr val="17202B"/>
                </a:solidFill>
                <a:latin typeface="Source Serif 4" pitchFamily="34" charset="0"/>
                <a:ea typeface="Source Serif 4" pitchFamily="34" charset="-122"/>
                <a:cs typeface="Source Serif 4" pitchFamily="34" charset="-120"/>
              </a:rPr>
              <a:t>France's fiscal constraints: political fragmentation and limited levers</a:t>
            </a:r>
            <a:endParaRPr lang="en-US" sz="2980" dirty="0"/>
          </a:p>
        </p:txBody>
      </p:sp>
      <p:sp>
        <p:nvSpPr>
          <p:cNvPr id="3" name="Shape 1"/>
          <p:cNvSpPr/>
          <p:nvPr/>
        </p:nvSpPr>
        <p:spPr>
          <a:xfrm>
            <a:off x="812800" y="1888182"/>
            <a:ext cx="2527300" cy="0"/>
          </a:xfrm>
          <a:prstGeom prst="line">
            <a:avLst/>
          </a:prstGeom>
          <a:noFill/>
          <a:ln w="25400">
            <a:solidFill>
              <a:srgbClr val="A8322B"/>
            </a:solidFill>
            <a:prstDash val="solid"/>
          </a:ln>
        </p:spPr>
      </p:sp>
      <p:sp>
        <p:nvSpPr>
          <p:cNvPr id="4" name="Text 2"/>
          <p:cNvSpPr/>
          <p:nvPr/>
        </p:nvSpPr>
        <p:spPr>
          <a:xfrm>
            <a:off x="812800" y="2027882"/>
            <a:ext cx="2603119" cy="445145"/>
          </a:xfrm>
          <a:prstGeom prst="rect">
            <a:avLst/>
          </a:prstGeom>
          <a:noFill/>
          <a:ln/>
        </p:spPr>
        <p:txBody>
          <a:bodyPr wrap="square" lIns="0" tIns="0" rIns="0" bIns="0" rtlCol="0" anchor="t">
            <a:normAutofit/>
          </a:bodyPr>
          <a:lstStyle/>
          <a:p>
            <a:pPr algn="l" indent="0" marL="0">
              <a:lnSpc>
                <a:spcPts val="3319"/>
              </a:lnSpc>
              <a:buNone/>
            </a:pPr>
            <a:r>
              <a:rPr lang="en-US" sz="3319" dirty="0">
                <a:solidFill>
                  <a:srgbClr val="17202B"/>
                </a:solidFill>
                <a:latin typeface="Source Serif 4" pitchFamily="34" charset="0"/>
                <a:ea typeface="Source Serif 4" pitchFamily="34" charset="-122"/>
                <a:cs typeface="Source Serif 4" pitchFamily="34" charset="-120"/>
              </a:rPr>
              <a:t>4</a:t>
            </a:r>
            <a:endParaRPr lang="en-US" sz="3319" dirty="0"/>
          </a:p>
        </p:txBody>
      </p:sp>
      <p:sp>
        <p:nvSpPr>
          <p:cNvPr id="5" name="Text 3"/>
          <p:cNvSpPr/>
          <p:nvPr/>
        </p:nvSpPr>
        <p:spPr>
          <a:xfrm>
            <a:off x="812800" y="2498427"/>
            <a:ext cx="2603119" cy="449808"/>
          </a:xfrm>
          <a:prstGeom prst="rect">
            <a:avLst/>
          </a:prstGeom>
          <a:noFill/>
          <a:ln/>
        </p:spPr>
        <p:txBody>
          <a:bodyPr wrap="square" lIns="0" tIns="0" rIns="0" bIns="0" rtlCol="0" anchor="t">
            <a:normAutofit/>
          </a:bodyPr>
          <a:lstStyle/>
          <a:p>
            <a:pPr algn="l" indent="0" marL="0">
              <a:lnSpc>
                <a:spcPts val="1684"/>
              </a:lnSpc>
              <a:buNone/>
            </a:pPr>
            <a:r>
              <a:rPr lang="en-US" sz="1203" dirty="0">
                <a:solidFill>
                  <a:srgbClr val="5F6670"/>
                </a:solidFill>
                <a:latin typeface="Inter" pitchFamily="34" charset="0"/>
                <a:ea typeface="Inter" pitchFamily="34" charset="-122"/>
                <a:cs typeface="Inter" pitchFamily="34" charset="-120"/>
              </a:rPr>
              <a:t>prime ministers since the June 2024 dissolution</a:t>
            </a:r>
            <a:endParaRPr lang="en-US" sz="1203" dirty="0"/>
          </a:p>
        </p:txBody>
      </p:sp>
      <p:sp>
        <p:nvSpPr>
          <p:cNvPr id="6" name="Shape 4"/>
          <p:cNvSpPr/>
          <p:nvPr/>
        </p:nvSpPr>
        <p:spPr>
          <a:xfrm>
            <a:off x="3492500" y="1888182"/>
            <a:ext cx="2527300" cy="0"/>
          </a:xfrm>
          <a:prstGeom prst="line">
            <a:avLst/>
          </a:prstGeom>
          <a:noFill/>
          <a:ln w="25400">
            <a:solidFill>
              <a:srgbClr val="A8322B"/>
            </a:solidFill>
            <a:prstDash val="solid"/>
          </a:ln>
        </p:spPr>
      </p:sp>
      <p:sp>
        <p:nvSpPr>
          <p:cNvPr id="7" name="Text 5"/>
          <p:cNvSpPr/>
          <p:nvPr/>
        </p:nvSpPr>
        <p:spPr>
          <a:xfrm>
            <a:off x="3492500" y="2027882"/>
            <a:ext cx="2603119" cy="445145"/>
          </a:xfrm>
          <a:prstGeom prst="rect">
            <a:avLst/>
          </a:prstGeom>
          <a:noFill/>
          <a:ln/>
        </p:spPr>
        <p:txBody>
          <a:bodyPr wrap="square" lIns="0" tIns="0" rIns="0" bIns="0" rtlCol="0" anchor="t">
            <a:normAutofit/>
          </a:bodyPr>
          <a:lstStyle/>
          <a:p>
            <a:pPr algn="l" indent="0" marL="0">
              <a:lnSpc>
                <a:spcPts val="3319"/>
              </a:lnSpc>
              <a:buNone/>
            </a:pPr>
            <a:r>
              <a:rPr lang="en-US" sz="3319" dirty="0">
                <a:solidFill>
                  <a:srgbClr val="17202B"/>
                </a:solidFill>
                <a:latin typeface="Source Serif 4" pitchFamily="34" charset="0"/>
                <a:ea typeface="Source Serif 4" pitchFamily="34" charset="-122"/>
                <a:cs typeface="Source Serif 4" pitchFamily="34" charset="-120"/>
              </a:rPr>
              <a:t>8</a:t>
            </a:r>
            <a:endParaRPr lang="en-US" sz="3319" dirty="0"/>
          </a:p>
        </p:txBody>
      </p:sp>
      <p:sp>
        <p:nvSpPr>
          <p:cNvPr id="8" name="Text 6"/>
          <p:cNvSpPr/>
          <p:nvPr/>
        </p:nvSpPr>
        <p:spPr>
          <a:xfrm>
            <a:off x="3492500" y="2498427"/>
            <a:ext cx="2603119" cy="449808"/>
          </a:xfrm>
          <a:prstGeom prst="rect">
            <a:avLst/>
          </a:prstGeom>
          <a:noFill/>
          <a:ln/>
        </p:spPr>
        <p:txBody>
          <a:bodyPr wrap="square" lIns="0" tIns="0" rIns="0" bIns="0" rtlCol="0" anchor="t">
            <a:normAutofit/>
          </a:bodyPr>
          <a:lstStyle/>
          <a:p>
            <a:pPr algn="l" indent="0" marL="0">
              <a:lnSpc>
                <a:spcPts val="1684"/>
              </a:lnSpc>
              <a:buNone/>
            </a:pPr>
            <a:r>
              <a:rPr lang="en-US" sz="1203" dirty="0">
                <a:solidFill>
                  <a:srgbClr val="5F6670"/>
                </a:solidFill>
                <a:latin typeface="Inter" pitchFamily="34" charset="0"/>
                <a:ea typeface="Inter" pitchFamily="34" charset="-122"/>
                <a:cs typeface="Inter" pitchFamily="34" charset="-120"/>
              </a:rPr>
              <a:t>uses of Article 49.3, all on budget texts</a:t>
            </a:r>
            <a:endParaRPr lang="en-US" sz="1203" dirty="0"/>
          </a:p>
        </p:txBody>
      </p:sp>
      <p:sp>
        <p:nvSpPr>
          <p:cNvPr id="9" name="Shape 7"/>
          <p:cNvSpPr/>
          <p:nvPr/>
        </p:nvSpPr>
        <p:spPr>
          <a:xfrm>
            <a:off x="6172200" y="1888182"/>
            <a:ext cx="2527300" cy="0"/>
          </a:xfrm>
          <a:prstGeom prst="line">
            <a:avLst/>
          </a:prstGeom>
          <a:noFill/>
          <a:ln w="25400">
            <a:solidFill>
              <a:srgbClr val="A8322B"/>
            </a:solidFill>
            <a:prstDash val="solid"/>
          </a:ln>
        </p:spPr>
      </p:sp>
      <p:sp>
        <p:nvSpPr>
          <p:cNvPr id="10" name="Text 8"/>
          <p:cNvSpPr/>
          <p:nvPr/>
        </p:nvSpPr>
        <p:spPr>
          <a:xfrm>
            <a:off x="6172200" y="2027882"/>
            <a:ext cx="2603119" cy="445145"/>
          </a:xfrm>
          <a:prstGeom prst="rect">
            <a:avLst/>
          </a:prstGeom>
          <a:noFill/>
          <a:ln/>
        </p:spPr>
        <p:txBody>
          <a:bodyPr wrap="square" lIns="0" tIns="0" rIns="0" bIns="0" rtlCol="0" anchor="t">
            <a:normAutofit/>
          </a:bodyPr>
          <a:lstStyle/>
          <a:p>
            <a:pPr algn="l" indent="0" marL="0">
              <a:lnSpc>
                <a:spcPts val="3319"/>
              </a:lnSpc>
              <a:buNone/>
            </a:pPr>
            <a:r>
              <a:rPr lang="en-US" sz="3319" dirty="0">
                <a:solidFill>
                  <a:srgbClr val="17202B"/>
                </a:solidFill>
                <a:latin typeface="Source Serif 4" pitchFamily="34" charset="0"/>
                <a:ea typeface="Source Serif 4" pitchFamily="34" charset="-122"/>
                <a:cs typeface="Source Serif 4" pitchFamily="34" charset="-120"/>
              </a:rPr>
              <a:t>20+</a:t>
            </a:r>
            <a:endParaRPr lang="en-US" sz="3319" dirty="0"/>
          </a:p>
        </p:txBody>
      </p:sp>
      <p:sp>
        <p:nvSpPr>
          <p:cNvPr id="11" name="Text 9"/>
          <p:cNvSpPr/>
          <p:nvPr/>
        </p:nvSpPr>
        <p:spPr>
          <a:xfrm>
            <a:off x="6172200" y="2498427"/>
            <a:ext cx="2603119" cy="449808"/>
          </a:xfrm>
          <a:prstGeom prst="rect">
            <a:avLst/>
          </a:prstGeom>
          <a:noFill/>
          <a:ln/>
        </p:spPr>
        <p:txBody>
          <a:bodyPr wrap="square" lIns="0" tIns="0" rIns="0" bIns="0" rtlCol="0" anchor="t">
            <a:normAutofit/>
          </a:bodyPr>
          <a:lstStyle/>
          <a:p>
            <a:pPr algn="l" indent="0" marL="0">
              <a:lnSpc>
                <a:spcPts val="1684"/>
              </a:lnSpc>
              <a:buNone/>
            </a:pPr>
            <a:r>
              <a:rPr lang="en-US" sz="1203" dirty="0">
                <a:solidFill>
                  <a:srgbClr val="5F6670"/>
                </a:solidFill>
                <a:latin typeface="Inter" pitchFamily="34" charset="0"/>
                <a:ea typeface="Inter" pitchFamily="34" charset="-122"/>
                <a:cs typeface="Inter" pitchFamily="34" charset="-120"/>
              </a:rPr>
              <a:t>censure motions tabled; one carried (Dec 2024)</a:t>
            </a:r>
            <a:endParaRPr lang="en-US" sz="1203" dirty="0"/>
          </a:p>
        </p:txBody>
      </p:sp>
      <p:sp>
        <p:nvSpPr>
          <p:cNvPr id="12" name="Shape 10"/>
          <p:cNvSpPr/>
          <p:nvPr/>
        </p:nvSpPr>
        <p:spPr>
          <a:xfrm>
            <a:off x="8851900" y="1888182"/>
            <a:ext cx="2527300" cy="0"/>
          </a:xfrm>
          <a:prstGeom prst="line">
            <a:avLst/>
          </a:prstGeom>
          <a:noFill/>
          <a:ln w="25400">
            <a:solidFill>
              <a:srgbClr val="A8322B"/>
            </a:solidFill>
            <a:prstDash val="solid"/>
          </a:ln>
        </p:spPr>
      </p:sp>
      <p:sp>
        <p:nvSpPr>
          <p:cNvPr id="13" name="Text 11"/>
          <p:cNvSpPr/>
          <p:nvPr/>
        </p:nvSpPr>
        <p:spPr>
          <a:xfrm>
            <a:off x="8851900" y="2027882"/>
            <a:ext cx="2603119" cy="445145"/>
          </a:xfrm>
          <a:prstGeom prst="rect">
            <a:avLst/>
          </a:prstGeom>
          <a:noFill/>
          <a:ln/>
        </p:spPr>
        <p:txBody>
          <a:bodyPr wrap="square" lIns="0" tIns="0" rIns="0" bIns="0" rtlCol="0" anchor="t">
            <a:normAutofit/>
          </a:bodyPr>
          <a:lstStyle/>
          <a:p>
            <a:pPr algn="l" indent="0" marL="0">
              <a:lnSpc>
                <a:spcPts val="3319"/>
              </a:lnSpc>
              <a:buNone/>
            </a:pPr>
            <a:r>
              <a:rPr lang="en-US" sz="3319" dirty="0">
                <a:solidFill>
                  <a:srgbClr val="17202B"/>
                </a:solidFill>
                <a:latin typeface="Source Serif 4" pitchFamily="34" charset="0"/>
                <a:ea typeface="Source Serif 4" pitchFamily="34" charset="-122"/>
                <a:cs typeface="Source Serif 4" pitchFamily="34" charset="-120"/>
              </a:rPr>
              <a:t>3</a:t>
            </a:r>
            <a:endParaRPr lang="en-US" sz="3319" dirty="0"/>
          </a:p>
        </p:txBody>
      </p:sp>
      <p:sp>
        <p:nvSpPr>
          <p:cNvPr id="14" name="Text 12"/>
          <p:cNvSpPr/>
          <p:nvPr/>
        </p:nvSpPr>
        <p:spPr>
          <a:xfrm>
            <a:off x="8851900" y="2498427"/>
            <a:ext cx="2603119" cy="449808"/>
          </a:xfrm>
          <a:prstGeom prst="rect">
            <a:avLst/>
          </a:prstGeom>
          <a:noFill/>
          <a:ln/>
        </p:spPr>
        <p:txBody>
          <a:bodyPr wrap="square" lIns="0" tIns="0" rIns="0" bIns="0" rtlCol="0" anchor="t">
            <a:normAutofit/>
          </a:bodyPr>
          <a:lstStyle/>
          <a:p>
            <a:pPr algn="l" indent="0" marL="0">
              <a:lnSpc>
                <a:spcPts val="1684"/>
              </a:lnSpc>
              <a:buNone/>
            </a:pPr>
            <a:r>
              <a:rPr lang="en-US" sz="1203" dirty="0">
                <a:solidFill>
                  <a:srgbClr val="5F6670"/>
                </a:solidFill>
                <a:latin typeface="Inter" pitchFamily="34" charset="0"/>
                <a:ea typeface="Inter" pitchFamily="34" charset="-122"/>
                <a:cs typeface="Inter" pitchFamily="34" charset="-120"/>
              </a:rPr>
              <a:t>deficit targets for 2026 during 2026</a:t>
            </a:r>
            <a:endParaRPr lang="en-US" sz="1203" dirty="0"/>
          </a:p>
        </p:txBody>
      </p:sp>
      <p:sp>
        <p:nvSpPr>
          <p:cNvPr id="15" name="Shape 13"/>
          <p:cNvSpPr/>
          <p:nvPr/>
        </p:nvSpPr>
        <p:spPr>
          <a:xfrm>
            <a:off x="815975" y="3154611"/>
            <a:ext cx="3414167" cy="1453158"/>
          </a:xfrm>
          <a:prstGeom prst="roundRect">
            <a:avLst>
              <a:gd name="adj" fmla="val 5025"/>
            </a:avLst>
          </a:prstGeom>
          <a:solidFill>
            <a:srgbClr val="FBF9F5"/>
          </a:solidFill>
          <a:ln w="6350">
            <a:solidFill>
              <a:srgbClr val="DDD6CA"/>
            </a:solidFill>
            <a:prstDash val="solid"/>
          </a:ln>
        </p:spPr>
      </p:sp>
      <p:sp>
        <p:nvSpPr>
          <p:cNvPr id="16" name="Text 14"/>
          <p:cNvSpPr/>
          <p:nvPr/>
        </p:nvSpPr>
        <p:spPr>
          <a:xfrm>
            <a:off x="1022350" y="3360986"/>
            <a:ext cx="3091459" cy="231825"/>
          </a:xfrm>
          <a:prstGeom prst="rect">
            <a:avLst/>
          </a:prstGeom>
          <a:noFill/>
          <a:ln/>
        </p:spPr>
        <p:txBody>
          <a:bodyPr wrap="square" lIns="0" tIns="0" rIns="0" bIns="0" rtlCol="0" anchor="t">
            <a:normAutofit/>
          </a:bodyPr>
          <a:lstStyle/>
          <a:p>
            <a:pPr algn="l" indent="0" marL="0">
              <a:lnSpc>
                <a:spcPts val="1671"/>
              </a:lnSpc>
              <a:buNone/>
            </a:pPr>
            <a:r>
              <a:rPr lang="en-US" sz="1392" b="1" dirty="0">
                <a:solidFill>
                  <a:srgbClr val="17202B"/>
                </a:solidFill>
                <a:latin typeface="Inter" pitchFamily="34" charset="0"/>
                <a:ea typeface="Inter" pitchFamily="34" charset="-122"/>
                <a:cs typeface="Inter" pitchFamily="34" charset="-120"/>
              </a:rPr>
              <a:t>Taxes</a:t>
            </a:r>
            <a:endParaRPr lang="en-US" sz="1392" dirty="0"/>
          </a:p>
        </p:txBody>
      </p:sp>
      <p:sp>
        <p:nvSpPr>
          <p:cNvPr id="17" name="Text 15"/>
          <p:cNvSpPr/>
          <p:nvPr/>
        </p:nvSpPr>
        <p:spPr>
          <a:xfrm>
            <a:off x="1022350" y="3630910"/>
            <a:ext cx="3091459" cy="795883"/>
          </a:xfrm>
          <a:prstGeom prst="rect">
            <a:avLst/>
          </a:prstGeom>
          <a:noFill/>
          <a:ln/>
        </p:spPr>
        <p:txBody>
          <a:bodyPr wrap="square" lIns="0" tIns="0" rIns="0" bIns="0" rtlCol="0" anchor="t">
            <a:normAutofit/>
          </a:bodyPr>
          <a:lstStyle/>
          <a:p>
            <a:pPr algn="l" indent="0" marL="0">
              <a:lnSpc>
                <a:spcPts val="1596"/>
              </a:lnSpc>
              <a:buNone/>
            </a:pPr>
            <a:r>
              <a:rPr lang="en-US" sz="1140" dirty="0">
                <a:solidFill>
                  <a:srgbClr val="5F6670"/>
                </a:solidFill>
                <a:latin typeface="Inter" pitchFamily="34" charset="0"/>
                <a:ea typeface="Inter" pitchFamily="34" charset="-122"/>
                <a:cs typeface="Inter" pitchFamily="34" charset="-120"/>
              </a:rPr>
              <a:t>Highest in the euro area. €37bn of rises in 2025–26 drove most of the cut in the deficit to 5.1%; spending still grew faster than GDP</a:t>
            </a:r>
            <a:endParaRPr lang="en-US" sz="1140" dirty="0"/>
          </a:p>
        </p:txBody>
      </p:sp>
      <p:sp>
        <p:nvSpPr>
          <p:cNvPr id="18" name="Shape 16"/>
          <p:cNvSpPr/>
          <p:nvPr/>
        </p:nvSpPr>
        <p:spPr>
          <a:xfrm>
            <a:off x="4388892" y="3154611"/>
            <a:ext cx="3414167" cy="1453158"/>
          </a:xfrm>
          <a:prstGeom prst="roundRect">
            <a:avLst>
              <a:gd name="adj" fmla="val 5025"/>
            </a:avLst>
          </a:prstGeom>
          <a:solidFill>
            <a:srgbClr val="FBF9F5"/>
          </a:solidFill>
          <a:ln w="6350">
            <a:solidFill>
              <a:srgbClr val="DDD6CA"/>
            </a:solidFill>
            <a:prstDash val="solid"/>
          </a:ln>
        </p:spPr>
      </p:sp>
      <p:sp>
        <p:nvSpPr>
          <p:cNvPr id="19" name="Text 17"/>
          <p:cNvSpPr/>
          <p:nvPr/>
        </p:nvSpPr>
        <p:spPr>
          <a:xfrm>
            <a:off x="4595267" y="3360986"/>
            <a:ext cx="3091459" cy="231825"/>
          </a:xfrm>
          <a:prstGeom prst="rect">
            <a:avLst/>
          </a:prstGeom>
          <a:noFill/>
          <a:ln/>
        </p:spPr>
        <p:txBody>
          <a:bodyPr wrap="square" lIns="0" tIns="0" rIns="0" bIns="0" rtlCol="0" anchor="t">
            <a:normAutofit/>
          </a:bodyPr>
          <a:lstStyle/>
          <a:p>
            <a:pPr algn="l" indent="0" marL="0">
              <a:lnSpc>
                <a:spcPts val="1671"/>
              </a:lnSpc>
              <a:buNone/>
            </a:pPr>
            <a:r>
              <a:rPr lang="en-US" sz="1392" b="1" dirty="0">
                <a:solidFill>
                  <a:srgbClr val="17202B"/>
                </a:solidFill>
                <a:latin typeface="Inter" pitchFamily="34" charset="0"/>
                <a:ea typeface="Inter" pitchFamily="34" charset="-122"/>
                <a:cs typeface="Inter" pitchFamily="34" charset="-120"/>
              </a:rPr>
              <a:t>Interest</a:t>
            </a:r>
            <a:endParaRPr lang="en-US" sz="1392" dirty="0"/>
          </a:p>
        </p:txBody>
      </p:sp>
      <p:sp>
        <p:nvSpPr>
          <p:cNvPr id="20" name="Text 18"/>
          <p:cNvSpPr/>
          <p:nvPr/>
        </p:nvSpPr>
        <p:spPr>
          <a:xfrm>
            <a:off x="4595267" y="3630910"/>
            <a:ext cx="3091459" cy="795883"/>
          </a:xfrm>
          <a:prstGeom prst="rect">
            <a:avLst/>
          </a:prstGeom>
          <a:noFill/>
          <a:ln/>
        </p:spPr>
        <p:txBody>
          <a:bodyPr wrap="square" lIns="0" tIns="0" rIns="0" bIns="0" rtlCol="0" anchor="t">
            <a:normAutofit/>
          </a:bodyPr>
          <a:lstStyle/>
          <a:p>
            <a:pPr algn="l" indent="0" marL="0">
              <a:lnSpc>
                <a:spcPts val="1565"/>
              </a:lnSpc>
              <a:buNone/>
            </a:pPr>
            <a:r>
              <a:rPr lang="en-US" sz="1118" dirty="0">
                <a:solidFill>
                  <a:srgbClr val="5F6670"/>
                </a:solidFill>
                <a:latin typeface="Inter" pitchFamily="34" charset="0"/>
                <a:ea typeface="Inter" pitchFamily="34" charset="-122"/>
                <a:cs typeface="Inter" pitchFamily="34" charset="-120"/>
              </a:rPr>
              <a:t>1.4% of GDP in 2021, 2.2% in 2025, ~3% (€100bn+) by 2029. Average OAT issue yield 3.35% vs 1.70% in 2022; r now exceeds g</a:t>
            </a:r>
            <a:endParaRPr lang="en-US" sz="1118" dirty="0"/>
          </a:p>
        </p:txBody>
      </p:sp>
      <p:sp>
        <p:nvSpPr>
          <p:cNvPr id="21" name="Shape 19"/>
          <p:cNvSpPr/>
          <p:nvPr/>
        </p:nvSpPr>
        <p:spPr>
          <a:xfrm>
            <a:off x="7961809" y="3154611"/>
            <a:ext cx="3414216" cy="1453158"/>
          </a:xfrm>
          <a:prstGeom prst="roundRect">
            <a:avLst>
              <a:gd name="adj" fmla="val 5025"/>
            </a:avLst>
          </a:prstGeom>
          <a:solidFill>
            <a:srgbClr val="FBF9F5"/>
          </a:solidFill>
          <a:ln w="6350">
            <a:solidFill>
              <a:srgbClr val="DDD6CA"/>
            </a:solidFill>
            <a:prstDash val="solid"/>
          </a:ln>
        </p:spPr>
      </p:sp>
      <p:sp>
        <p:nvSpPr>
          <p:cNvPr id="22" name="Text 20"/>
          <p:cNvSpPr/>
          <p:nvPr/>
        </p:nvSpPr>
        <p:spPr>
          <a:xfrm>
            <a:off x="8168184" y="3360986"/>
            <a:ext cx="3091510" cy="231825"/>
          </a:xfrm>
          <a:prstGeom prst="rect">
            <a:avLst/>
          </a:prstGeom>
          <a:noFill/>
          <a:ln/>
        </p:spPr>
        <p:txBody>
          <a:bodyPr wrap="square" lIns="0" tIns="0" rIns="0" bIns="0" rtlCol="0" anchor="t">
            <a:normAutofit/>
          </a:bodyPr>
          <a:lstStyle/>
          <a:p>
            <a:pPr algn="l" indent="0" marL="0">
              <a:lnSpc>
                <a:spcPts val="1671"/>
              </a:lnSpc>
              <a:buNone/>
            </a:pPr>
            <a:r>
              <a:rPr lang="en-US" sz="1392" b="1" dirty="0">
                <a:solidFill>
                  <a:srgbClr val="17202B"/>
                </a:solidFill>
                <a:latin typeface="Inter" pitchFamily="34" charset="0"/>
                <a:ea typeface="Inter" pitchFamily="34" charset="-122"/>
                <a:cs typeface="Inter" pitchFamily="34" charset="-120"/>
              </a:rPr>
              <a:t>Social spending</a:t>
            </a:r>
            <a:endParaRPr lang="en-US" sz="1392" dirty="0"/>
          </a:p>
        </p:txBody>
      </p:sp>
      <p:sp>
        <p:nvSpPr>
          <p:cNvPr id="23" name="Text 21"/>
          <p:cNvSpPr/>
          <p:nvPr/>
        </p:nvSpPr>
        <p:spPr>
          <a:xfrm>
            <a:off x="8168184" y="3630910"/>
            <a:ext cx="3091510" cy="795883"/>
          </a:xfrm>
          <a:prstGeom prst="rect">
            <a:avLst/>
          </a:prstGeom>
          <a:noFill/>
          <a:ln/>
        </p:spPr>
        <p:txBody>
          <a:bodyPr wrap="square" lIns="0" tIns="0" rIns="0" bIns="0" rtlCol="0" anchor="t">
            <a:normAutofit/>
          </a:bodyPr>
          <a:lstStyle/>
          <a:p>
            <a:pPr algn="l" indent="0" marL="0">
              <a:lnSpc>
                <a:spcPts val="1517"/>
              </a:lnSpc>
              <a:buNone/>
            </a:pPr>
            <a:r>
              <a:rPr lang="en-US" sz="1084" dirty="0">
                <a:solidFill>
                  <a:srgbClr val="5F6670"/>
                </a:solidFill>
                <a:latin typeface="Inter" pitchFamily="34" charset="0"/>
                <a:ea typeface="Inter" pitchFamily="34" charset="-122"/>
                <a:cs typeface="Inter" pitchFamily="34" charset="-120"/>
              </a:rPr>
              <a:t>45% of spending and indexed. The Cour says the next adjustment must come from primary spending; pension reform suspended to Jan 2028</a:t>
            </a:r>
            <a:endParaRPr lang="en-US" sz="1084" dirty="0"/>
          </a:p>
        </p:txBody>
      </p:sp>
      <p:sp>
        <p:nvSpPr>
          <p:cNvPr id="24" name="Shape 22"/>
          <p:cNvSpPr/>
          <p:nvPr/>
        </p:nvSpPr>
        <p:spPr>
          <a:xfrm>
            <a:off x="812800" y="4839543"/>
            <a:ext cx="10566400" cy="1002457"/>
          </a:xfrm>
          <a:prstGeom prst="roundRect">
            <a:avLst>
              <a:gd name="adj" fmla="val 7601"/>
            </a:avLst>
          </a:prstGeom>
          <a:solidFill>
            <a:srgbClr val="17202B"/>
          </a:solidFill>
          <a:ln/>
        </p:spPr>
      </p:sp>
      <p:sp>
        <p:nvSpPr>
          <p:cNvPr id="25" name="Text 23"/>
          <p:cNvSpPr/>
          <p:nvPr/>
        </p:nvSpPr>
        <p:spPr>
          <a:xfrm>
            <a:off x="1041400" y="5017343"/>
            <a:ext cx="5075428" cy="67225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C"/>
                </a:solidFill>
                <a:latin typeface="Inter" pitchFamily="34" charset="0"/>
                <a:ea typeface="Inter" pitchFamily="34" charset="-122"/>
                <a:cs typeface="Inter" pitchFamily="34" charset="-120"/>
              </a:rPr>
              <a:t>3pp of GDP (~€90bn)</a:t>
            </a:r>
            <a:r>
              <a:rPr lang="en-US" sz="1300" dirty="0">
                <a:solidFill>
                  <a:srgbClr val="F5F2EC"/>
                </a:solidFill>
                <a:latin typeface="Inter" pitchFamily="34" charset="0"/>
                <a:ea typeface="Inter" pitchFamily="34" charset="-122"/>
                <a:cs typeface="Inter" pitchFamily="34" charset="-120"/>
              </a:rPr>
              <a:t> of further deficit reduction needed to stop debt rising, from a record €3,460bn (115.7% of GDP) at end-2025</a:t>
            </a:r>
            <a:endParaRPr lang="en-US" sz="1300" dirty="0"/>
          </a:p>
        </p:txBody>
      </p:sp>
      <p:sp>
        <p:nvSpPr>
          <p:cNvPr id="26" name="Text 24"/>
          <p:cNvSpPr/>
          <p:nvPr/>
        </p:nvSpPr>
        <p:spPr>
          <a:xfrm>
            <a:off x="6223000" y="5017343"/>
            <a:ext cx="5075428" cy="67225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C"/>
                </a:solidFill>
                <a:latin typeface="Inter" pitchFamily="34" charset="0"/>
                <a:ea typeface="Inter" pitchFamily="34" charset="-122"/>
                <a:cs typeface="Inter" pitchFamily="34" charset="-120"/>
              </a:rPr>
              <a:t>Structural primary deficit every year since 2010</a:t>
            </a:r>
            <a:r>
              <a:rPr lang="en-US" sz="1300" dirty="0">
                <a:solidFill>
                  <a:srgbClr val="F5F2EC"/>
                </a:solidFill>
                <a:latin typeface="Inter" pitchFamily="34" charset="0"/>
                <a:ea typeface="Inter" pitchFamily="34" charset="-122"/>
                <a:cs typeface="Inter" pitchFamily="34" charset="-120"/>
              </a:rPr>
              <a:t>, unlike Germany, Portugal and Italy, which all ran lasting surpluses</a:t>
            </a:r>
            <a:endParaRPr lang="en-US" sz="1300" dirty="0"/>
          </a:p>
        </p:txBody>
      </p:sp>
      <p:sp>
        <p:nvSpPr>
          <p:cNvPr id="27"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Cour des comptes, </a:t>
            </a:r>
            <a:r>
              <a:rPr lang="en-US" sz="1200" i="1" dirty="0">
                <a:solidFill>
                  <a:srgbClr val="6B7078"/>
                </a:solidFill>
                <a:latin typeface="Inter" pitchFamily="34" charset="0"/>
                <a:ea typeface="Inter" pitchFamily="34" charset="-122"/>
                <a:cs typeface="Inter" pitchFamily="34" charset="-120"/>
              </a:rPr>
              <a:t>La situation et les perspectives des finances publiques</a:t>
            </a:r>
            <a:r>
              <a:rPr lang="en-US" sz="1200" dirty="0">
                <a:solidFill>
                  <a:srgbClr val="6B7078"/>
                </a:solidFill>
                <a:latin typeface="Inter" pitchFamily="34" charset="0"/>
                <a:ea typeface="Inter" pitchFamily="34" charset="-122"/>
                <a:cs typeface="Inter" pitchFamily="34" charset="-120"/>
              </a:rPr>
              <a:t> (Jun 2026) and February 2026 report; COR; Assemblée nationale.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7202B"/>
                </a:solidFill>
                <a:latin typeface="Source Serif 4" pitchFamily="34" charset="0"/>
                <a:ea typeface="Source Serif 4" pitchFamily="34" charset="-122"/>
                <a:cs typeface="Source Serif 4" pitchFamily="34" charset="-120"/>
              </a:rPr>
              <a:t>How Italy's three widening episodes ended</a:t>
            </a:r>
            <a:endParaRPr lang="en-US" sz="3200" dirty="0"/>
          </a:p>
        </p:txBody>
      </p:sp>
      <p:sp>
        <p:nvSpPr>
          <p:cNvPr id="3" name="Shape 1"/>
          <p:cNvSpPr/>
          <p:nvPr/>
        </p:nvSpPr>
        <p:spPr>
          <a:xfrm>
            <a:off x="815975" y="1491605"/>
            <a:ext cx="3414167" cy="2247652"/>
          </a:xfrm>
          <a:prstGeom prst="roundRect">
            <a:avLst>
              <a:gd name="adj" fmla="val 3249"/>
            </a:avLst>
          </a:prstGeom>
          <a:solidFill>
            <a:srgbClr val="FBF9F5"/>
          </a:solidFill>
          <a:ln w="6350">
            <a:solidFill>
              <a:srgbClr val="DDD6CA"/>
            </a:solidFill>
            <a:prstDash val="solid"/>
          </a:ln>
        </p:spPr>
      </p:sp>
      <p:sp>
        <p:nvSpPr>
          <p:cNvPr id="4" name="Text 2"/>
          <p:cNvSpPr/>
          <p:nvPr/>
        </p:nvSpPr>
        <p:spPr>
          <a:xfrm>
            <a:off x="1022350" y="169798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A"/>
                </a:solidFill>
                <a:latin typeface="Inter" pitchFamily="34" charset="0"/>
                <a:ea typeface="Inter" pitchFamily="34" charset="-122"/>
                <a:cs typeface="Inter" pitchFamily="34" charset="-120"/>
              </a:rPr>
              <a:t>2011–12 · 127 → 558BP</a:t>
            </a:r>
            <a:endParaRPr lang="en-US" sz="1200" dirty="0"/>
          </a:p>
        </p:txBody>
      </p:sp>
      <p:sp>
        <p:nvSpPr>
          <p:cNvPr id="5" name="Text 3"/>
          <p:cNvSpPr/>
          <p:nvPr/>
        </p:nvSpPr>
        <p:spPr>
          <a:xfrm>
            <a:off x="1022350"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B"/>
                </a:solidFill>
                <a:latin typeface="Inter" pitchFamily="34" charset="0"/>
                <a:ea typeface="Inter" pitchFamily="34" charset="-122"/>
                <a:cs typeface="Inter" pitchFamily="34" charset="-120"/>
              </a:rPr>
              <a:t>ECB balance sheet</a:t>
            </a:r>
            <a:endParaRPr lang="en-US" sz="1600" dirty="0"/>
          </a:p>
        </p:txBody>
      </p:sp>
      <p:sp>
        <p:nvSpPr>
          <p:cNvPr id="6" name="Text 4"/>
          <p:cNvSpPr/>
          <p:nvPr/>
        </p:nvSpPr>
        <p:spPr>
          <a:xfrm>
            <a:off x="1022350" y="2307530"/>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B"/>
                </a:solidFill>
                <a:latin typeface="Inter" pitchFamily="34" charset="0"/>
                <a:ea typeface="Inter" pitchFamily="34" charset="-122"/>
                <a:cs typeface="Inter" pitchFamily="34" charset="-120"/>
              </a:rPr>
              <a:t>Still wider six weeks into Monti. Two 3y LTROs took it from 500+ to below 300 by March; OMT finished it</a:t>
            </a:r>
            <a:endParaRPr lang="en-US" sz="1200" dirty="0"/>
          </a:p>
        </p:txBody>
      </p:sp>
      <p:sp>
        <p:nvSpPr>
          <p:cNvPr id="7" name="Shape 5"/>
          <p:cNvSpPr/>
          <p:nvPr/>
        </p:nvSpPr>
        <p:spPr>
          <a:xfrm>
            <a:off x="1022350" y="3026866"/>
            <a:ext cx="3001417" cy="0"/>
          </a:xfrm>
          <a:prstGeom prst="line">
            <a:avLst/>
          </a:prstGeom>
          <a:noFill/>
          <a:ln w="6350">
            <a:solidFill>
              <a:srgbClr val="DDD6CA"/>
            </a:solidFill>
            <a:prstDash val="solid"/>
          </a:ln>
        </p:spPr>
      </p:sp>
      <p:sp>
        <p:nvSpPr>
          <p:cNvPr id="8" name="Text 6"/>
          <p:cNvSpPr/>
          <p:nvPr/>
        </p:nvSpPr>
        <p:spPr>
          <a:xfrm>
            <a:off x="1022350" y="3106241"/>
            <a:ext cx="309145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670"/>
                </a:solidFill>
                <a:latin typeface="Inter" pitchFamily="34" charset="0"/>
                <a:ea typeface="Inter" pitchFamily="34" charset="-122"/>
                <a:cs typeface="Inter" pitchFamily="34" charset="-120"/>
              </a:rPr>
              <a:t>Didn't work:</a:t>
            </a:r>
            <a:r>
              <a:rPr lang="en-US" sz="1200" dirty="0">
                <a:solidFill>
                  <a:srgbClr val="5F6670"/>
                </a:solidFill>
                <a:latin typeface="Inter" pitchFamily="34" charset="0"/>
                <a:ea typeface="Inter" pitchFamily="34" charset="-122"/>
                <a:cs typeface="Inter" pitchFamily="34" charset="-120"/>
              </a:rPr>
              <a:t> Aug 2011 package; Monti's Dec 'Salva Italia' decree</a:t>
            </a:r>
            <a:endParaRPr lang="en-US" sz="1200" dirty="0"/>
          </a:p>
        </p:txBody>
      </p:sp>
      <p:sp>
        <p:nvSpPr>
          <p:cNvPr id="9" name="Shape 7"/>
          <p:cNvSpPr/>
          <p:nvPr/>
        </p:nvSpPr>
        <p:spPr>
          <a:xfrm>
            <a:off x="4388892" y="1491605"/>
            <a:ext cx="3414167" cy="2247652"/>
          </a:xfrm>
          <a:prstGeom prst="roundRect">
            <a:avLst>
              <a:gd name="adj" fmla="val 3249"/>
            </a:avLst>
          </a:prstGeom>
          <a:solidFill>
            <a:srgbClr val="FBF9F5"/>
          </a:solidFill>
          <a:ln w="6350">
            <a:solidFill>
              <a:srgbClr val="DDD6CA"/>
            </a:solidFill>
            <a:prstDash val="solid"/>
          </a:ln>
        </p:spPr>
      </p:sp>
      <p:sp>
        <p:nvSpPr>
          <p:cNvPr id="10" name="Text 8"/>
          <p:cNvSpPr/>
          <p:nvPr/>
        </p:nvSpPr>
        <p:spPr>
          <a:xfrm>
            <a:off x="4595267" y="169798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A"/>
                </a:solidFill>
                <a:latin typeface="Inter" pitchFamily="34" charset="0"/>
                <a:ea typeface="Inter" pitchFamily="34" charset="-122"/>
                <a:cs typeface="Inter" pitchFamily="34" charset="-120"/>
              </a:rPr>
              <a:t>2018 · 116 → 323BP</a:t>
            </a:r>
            <a:endParaRPr lang="en-US" sz="1200" dirty="0"/>
          </a:p>
        </p:txBody>
      </p:sp>
      <p:sp>
        <p:nvSpPr>
          <p:cNvPr id="11" name="Text 9"/>
          <p:cNvSpPr/>
          <p:nvPr/>
        </p:nvSpPr>
        <p:spPr>
          <a:xfrm>
            <a:off x="4595267"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B"/>
                </a:solidFill>
                <a:latin typeface="Inter" pitchFamily="34" charset="0"/>
                <a:ea typeface="Inter" pitchFamily="34" charset="-122"/>
                <a:cs typeface="Inter" pitchFamily="34" charset="-120"/>
              </a:rPr>
              <a:t>Political signal</a:t>
            </a:r>
            <a:endParaRPr lang="en-US" sz="1600" dirty="0"/>
          </a:p>
        </p:txBody>
      </p:sp>
      <p:sp>
        <p:nvSpPr>
          <p:cNvPr id="12" name="Text 10"/>
          <p:cNvSpPr/>
          <p:nvPr/>
        </p:nvSpPr>
        <p:spPr>
          <a:xfrm>
            <a:off x="4595267" y="2307530"/>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B"/>
                </a:solidFill>
                <a:latin typeface="Inter" pitchFamily="34" charset="0"/>
                <a:ea typeface="Inter" pitchFamily="34" charset="-122"/>
                <a:cs typeface="Inter" pitchFamily="34" charset="-120"/>
              </a:rPr>
              <a:t>Turned on 26 Nov when Salvini and Di Maio signalled a lower deficit, three weeks before the 19 Dec deal</a:t>
            </a:r>
            <a:endParaRPr lang="en-US" sz="1200" dirty="0"/>
          </a:p>
        </p:txBody>
      </p:sp>
      <p:sp>
        <p:nvSpPr>
          <p:cNvPr id="13" name="Shape 11"/>
          <p:cNvSpPr/>
          <p:nvPr/>
        </p:nvSpPr>
        <p:spPr>
          <a:xfrm>
            <a:off x="4595267" y="3026866"/>
            <a:ext cx="3001417" cy="0"/>
          </a:xfrm>
          <a:prstGeom prst="line">
            <a:avLst/>
          </a:prstGeom>
          <a:noFill/>
          <a:ln w="6350">
            <a:solidFill>
              <a:srgbClr val="DDD6CA"/>
            </a:solidFill>
            <a:prstDash val="solid"/>
          </a:ln>
        </p:spPr>
      </p:sp>
      <p:sp>
        <p:nvSpPr>
          <p:cNvPr id="14" name="Text 12"/>
          <p:cNvSpPr/>
          <p:nvPr/>
        </p:nvSpPr>
        <p:spPr>
          <a:xfrm>
            <a:off x="4595267" y="3106241"/>
            <a:ext cx="309145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670"/>
                </a:solidFill>
                <a:latin typeface="Inter" pitchFamily="34" charset="0"/>
                <a:ea typeface="Inter" pitchFamily="34" charset="-122"/>
                <a:cs typeface="Inter" pitchFamily="34" charset="-120"/>
              </a:rPr>
              <a:t>Didn't work:</a:t>
            </a:r>
            <a:r>
              <a:rPr lang="en-US" sz="1200" dirty="0">
                <a:solidFill>
                  <a:srgbClr val="5F6670"/>
                </a:solidFill>
                <a:latin typeface="Inter" pitchFamily="34" charset="0"/>
                <a:ea typeface="Inter" pitchFamily="34" charset="-122"/>
                <a:cs typeface="Inter" pitchFamily="34" charset="-120"/>
              </a:rPr>
              <a:t> the deficit deal came after the political turn</a:t>
            </a:r>
            <a:endParaRPr lang="en-US" sz="1200" dirty="0"/>
          </a:p>
        </p:txBody>
      </p:sp>
      <p:sp>
        <p:nvSpPr>
          <p:cNvPr id="15" name="Shape 13"/>
          <p:cNvSpPr/>
          <p:nvPr/>
        </p:nvSpPr>
        <p:spPr>
          <a:xfrm>
            <a:off x="7961809" y="1491605"/>
            <a:ext cx="3414216" cy="2247652"/>
          </a:xfrm>
          <a:prstGeom prst="roundRect">
            <a:avLst>
              <a:gd name="adj" fmla="val 3249"/>
            </a:avLst>
          </a:prstGeom>
          <a:solidFill>
            <a:srgbClr val="FBF9F5"/>
          </a:solidFill>
          <a:ln w="6350">
            <a:solidFill>
              <a:srgbClr val="DDD6CA"/>
            </a:solidFill>
            <a:prstDash val="solid"/>
          </a:ln>
        </p:spPr>
      </p:sp>
      <p:sp>
        <p:nvSpPr>
          <p:cNvPr id="16" name="Text 14"/>
          <p:cNvSpPr/>
          <p:nvPr/>
        </p:nvSpPr>
        <p:spPr>
          <a:xfrm>
            <a:off x="8168184" y="169798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A"/>
                </a:solidFill>
                <a:latin typeface="Inter" pitchFamily="34" charset="0"/>
                <a:ea typeface="Inter" pitchFamily="34" charset="-122"/>
                <a:cs typeface="Inter" pitchFamily="34" charset="-120"/>
              </a:rPr>
              <a:t>2022 · 138 → 262BP</a:t>
            </a:r>
            <a:endParaRPr lang="en-US" sz="1200" dirty="0"/>
          </a:p>
        </p:txBody>
      </p:sp>
      <p:sp>
        <p:nvSpPr>
          <p:cNvPr id="17" name="Text 15"/>
          <p:cNvSpPr/>
          <p:nvPr/>
        </p:nvSpPr>
        <p:spPr>
          <a:xfrm>
            <a:off x="8168184" y="1987500"/>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B"/>
                </a:solidFill>
                <a:latin typeface="Inter" pitchFamily="34" charset="0"/>
                <a:ea typeface="Inter" pitchFamily="34" charset="-122"/>
                <a:cs typeface="Inter" pitchFamily="34" charset="-120"/>
              </a:rPr>
              <a:t>Election result</a:t>
            </a:r>
            <a:endParaRPr lang="en-US" sz="1600" dirty="0"/>
          </a:p>
        </p:txBody>
      </p:sp>
      <p:sp>
        <p:nvSpPr>
          <p:cNvPr id="18" name="Text 16"/>
          <p:cNvSpPr/>
          <p:nvPr/>
        </p:nvSpPr>
        <p:spPr>
          <a:xfrm>
            <a:off x="8168184" y="2307530"/>
            <a:ext cx="30915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B"/>
                </a:solidFill>
                <a:latin typeface="Inter" pitchFamily="34" charset="0"/>
                <a:ea typeface="Inter" pitchFamily="34" charset="-122"/>
                <a:cs typeface="Inter" pitchFamily="34" charset="-120"/>
              </a:rPr>
              <a:t>Peaked the morning after the September election, then fell 70bp into December as fiscal intentions became clear</a:t>
            </a:r>
            <a:endParaRPr lang="en-US" sz="1200" dirty="0"/>
          </a:p>
        </p:txBody>
      </p:sp>
      <p:sp>
        <p:nvSpPr>
          <p:cNvPr id="19" name="Shape 17"/>
          <p:cNvSpPr/>
          <p:nvPr/>
        </p:nvSpPr>
        <p:spPr>
          <a:xfrm>
            <a:off x="8168184" y="3026866"/>
            <a:ext cx="3001466" cy="0"/>
          </a:xfrm>
          <a:prstGeom prst="line">
            <a:avLst/>
          </a:prstGeom>
          <a:noFill/>
          <a:ln w="6350">
            <a:solidFill>
              <a:srgbClr val="DDD6CA"/>
            </a:solidFill>
            <a:prstDash val="solid"/>
          </a:ln>
        </p:spPr>
      </p:sp>
      <p:sp>
        <p:nvSpPr>
          <p:cNvPr id="20" name="Text 18"/>
          <p:cNvSpPr/>
          <p:nvPr/>
        </p:nvSpPr>
        <p:spPr>
          <a:xfrm>
            <a:off x="8168184" y="3106241"/>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670"/>
                </a:solidFill>
                <a:latin typeface="Inter" pitchFamily="34" charset="0"/>
                <a:ea typeface="Inter" pitchFamily="34" charset="-122"/>
                <a:cs typeface="Inter" pitchFamily="34" charset="-120"/>
              </a:rPr>
              <a:t>Didn't work:</a:t>
            </a:r>
            <a:r>
              <a:rPr lang="en-US" sz="1200" dirty="0">
                <a:solidFill>
                  <a:srgbClr val="5F6670"/>
                </a:solidFill>
                <a:latin typeface="Inter" pitchFamily="34" charset="0"/>
                <a:ea typeface="Inter" pitchFamily="34" charset="-122"/>
                <a:cs typeface="Inter" pitchFamily="34" charset="-120"/>
              </a:rPr>
              <a:t> TPI announcement, 21 Jul</a:t>
            </a:r>
            <a:endParaRPr lang="en-US" sz="1200" dirty="0"/>
          </a:p>
        </p:txBody>
      </p:sp>
      <p:sp>
        <p:nvSpPr>
          <p:cNvPr id="21" name="Shape 19"/>
          <p:cNvSpPr/>
          <p:nvPr/>
        </p:nvSpPr>
        <p:spPr>
          <a:xfrm>
            <a:off x="812800" y="3971032"/>
            <a:ext cx="5886152" cy="1549202"/>
          </a:xfrm>
          <a:prstGeom prst="roundRect">
            <a:avLst>
              <a:gd name="adj" fmla="val 4919"/>
            </a:avLst>
          </a:prstGeom>
          <a:solidFill>
            <a:srgbClr val="17202B"/>
          </a:solidFill>
          <a:ln/>
        </p:spPr>
      </p:sp>
      <p:sp>
        <p:nvSpPr>
          <p:cNvPr id="22" name="Text 20"/>
          <p:cNvSpPr/>
          <p:nvPr/>
        </p:nvSpPr>
        <p:spPr>
          <a:xfrm>
            <a:off x="1041400" y="4174232"/>
            <a:ext cx="5591821"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5F2EC"/>
                </a:solidFill>
                <a:latin typeface="Inter" pitchFamily="34" charset="0"/>
                <a:ea typeface="Inter" pitchFamily="34" charset="-122"/>
                <a:cs typeface="Inter" pitchFamily="34" charset="-120"/>
              </a:rPr>
              <a:t>No budget measure alone ended any episode. In both political cases the spread turned three weeks to two months before the formal agreement.</a:t>
            </a:r>
            <a:endParaRPr lang="en-US" sz="1400" dirty="0"/>
          </a:p>
        </p:txBody>
      </p:sp>
      <p:sp>
        <p:nvSpPr>
          <p:cNvPr id="23" name="Text 21"/>
          <p:cNvSpPr/>
          <p:nvPr/>
        </p:nvSpPr>
        <p:spPr>
          <a:xfrm>
            <a:off x="1041400" y="4957763"/>
            <a:ext cx="55918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4BB"/>
                </a:solidFill>
                <a:latin typeface="Inter" pitchFamily="34" charset="0"/>
                <a:ea typeface="Inter" pitchFamily="34" charset="-122"/>
                <a:cs typeface="Inter" pitchFamily="34" charset="-120"/>
              </a:rPr>
              <a:t>Neither OMT nor TPI has ever been activated.</a:t>
            </a:r>
            <a:endParaRPr lang="en-US" sz="1200" dirty="0"/>
          </a:p>
        </p:txBody>
      </p:sp>
      <p:sp>
        <p:nvSpPr>
          <p:cNvPr id="24" name="Shape 22"/>
          <p:cNvSpPr/>
          <p:nvPr/>
        </p:nvSpPr>
        <p:spPr>
          <a:xfrm>
            <a:off x="6854527" y="3974207"/>
            <a:ext cx="4521498" cy="1542852"/>
          </a:xfrm>
          <a:prstGeom prst="roundRect">
            <a:avLst>
              <a:gd name="adj" fmla="val 4733"/>
            </a:avLst>
          </a:prstGeom>
          <a:solidFill>
            <a:srgbClr val="FBF9F5"/>
          </a:solidFill>
          <a:ln w="6350">
            <a:solidFill>
              <a:srgbClr val="DDD6CA"/>
            </a:solidFill>
            <a:prstDash val="solid"/>
          </a:ln>
        </p:spPr>
      </p:sp>
      <p:sp>
        <p:nvSpPr>
          <p:cNvPr id="25" name="Text 23"/>
          <p:cNvSpPr/>
          <p:nvPr/>
        </p:nvSpPr>
        <p:spPr>
          <a:xfrm>
            <a:off x="7086302" y="4180582"/>
            <a:ext cx="417968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02B"/>
                </a:solidFill>
                <a:latin typeface="Inter" pitchFamily="34" charset="0"/>
                <a:ea typeface="Inter" pitchFamily="34" charset="-122"/>
                <a:cs typeface="Inter" pitchFamily="34" charset="-120"/>
              </a:rPr>
              <a:t>Where France differs</a:t>
            </a:r>
            <a:endParaRPr lang="en-US" sz="1400" dirty="0"/>
          </a:p>
        </p:txBody>
      </p:sp>
      <p:sp>
        <p:nvSpPr>
          <p:cNvPr id="26" name="Text 24"/>
          <p:cNvSpPr/>
          <p:nvPr/>
        </p:nvSpPr>
        <p:spPr>
          <a:xfrm>
            <a:off x="7086302" y="4457402"/>
            <a:ext cx="417968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Italy ran a primary surplus in 2011 and 2018; France runs a primary deficit near 3% of GDP. Both are in an EDP, but Italy (3.1% deficit in 2025, 2.9% forecast for 2026) is expected to exit in 2027; France's deadline is 2029</a:t>
            </a:r>
            <a:endParaRPr lang="en-US" sz="1200" dirty="0"/>
          </a:p>
        </p:txBody>
      </p:sp>
      <p:sp>
        <p:nvSpPr>
          <p:cNvPr id="27" name="Text 25"/>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IT–DE 10y spread, TradingView generic series; ECB press releases (Dec 2011, Sep 2012, Jul 2022); European Commission (3 Jun 2026); Council of the EU; Eurostat (Apr 2026); Cour des comptes (Jun 2026).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846435"/>
          </a:xfrm>
          <a:prstGeom prst="rect">
            <a:avLst/>
          </a:prstGeom>
          <a:noFill/>
          <a:ln/>
        </p:spPr>
        <p:txBody>
          <a:bodyPr wrap="square" lIns="0" tIns="0" rIns="0" bIns="0" rtlCol="0" anchor="t">
            <a:normAutofit/>
          </a:bodyPr>
          <a:lstStyle/>
          <a:p>
            <a:pPr algn="l" indent="0" marL="0">
              <a:lnSpc>
                <a:spcPts val="3234"/>
              </a:lnSpc>
              <a:buNone/>
            </a:pPr>
            <a:r>
              <a:rPr lang="en-US" sz="2940" dirty="0">
                <a:solidFill>
                  <a:srgbClr val="17202B"/>
                </a:solidFill>
                <a:latin typeface="Source Serif 4" pitchFamily="34" charset="0"/>
                <a:ea typeface="Source Serif 4" pitchFamily="34" charset="-122"/>
                <a:cs typeface="Source Serif 4" pitchFamily="34" charset="-120"/>
              </a:rPr>
              <a:t>Ratings-implied value: France screens about 80bp cheap to Italy</a:t>
            </a:r>
            <a:endParaRPr lang="en-US" sz="294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913235"/>
          <a:ext cx="10566400" cy="2474664"/>
        </p:xfrm>
        <a:graphic>
          <a:graphicData uri="http://schemas.openxmlformats.org/drawingml/2006/table">
            <a:tbl>
              <a:tblPr/>
              <a:tblGrid>
                <a:gridCol w="2641600"/>
                <a:gridCol w="2641600"/>
                <a:gridCol w="2641600"/>
                <a:gridCol w="2641600"/>
              </a:tblGrid>
              <a:tr h="450106">
                <a:tc>
                  <a:txBody>
                    <a:bodyPr/>
                    <a:lstStyle/>
                    <a:p>
                      <a:pPr indent="0" marL="0">
                        <a:lnSpc>
                          <a:spcPts val="1764"/>
                        </a:lnSpc>
                        <a:buNone/>
                      </a:pP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indent="0" marL="0">
                        <a:lnSpc>
                          <a:spcPts val="1764"/>
                        </a:lnSpc>
                        <a:buNone/>
                      </a:pPr>
                      <a:r>
                        <a:rPr lang="en-US" sz="1260" b="1" dirty="0">
                          <a:solidFill>
                            <a:srgbClr val="17202B"/>
                          </a:solidFill>
                          <a:latin typeface="Inter" pitchFamily="34" charset="0"/>
                          <a:ea typeface="Inter" pitchFamily="34" charset="-122"/>
                          <a:cs typeface="Inter" pitchFamily="34" charset="-120"/>
                        </a:rPr>
                        <a:t>Notches</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indent="0" marL="0">
                        <a:lnSpc>
                          <a:spcPts val="1764"/>
                        </a:lnSpc>
                        <a:buNone/>
                      </a:pPr>
                      <a:r>
                        <a:rPr lang="en-US" sz="1260" b="1" dirty="0">
                          <a:solidFill>
                            <a:srgbClr val="17202B"/>
                          </a:solidFill>
                          <a:latin typeface="Inter" pitchFamily="34" charset="0"/>
                          <a:ea typeface="Inter" pitchFamily="34" charset="-122"/>
                          <a:cs typeface="Inter" pitchFamily="34" charset="-120"/>
                        </a:rPr>
                        <a:t>Spread</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indent="0" marL="0">
                        <a:lnSpc>
                          <a:spcPts val="1764"/>
                        </a:lnSpc>
                        <a:buNone/>
                      </a:pPr>
                      <a:r>
                        <a:rPr lang="en-US" sz="1260" b="1" dirty="0">
                          <a:solidFill>
                            <a:srgbClr val="17202B"/>
                          </a:solidFill>
                          <a:latin typeface="Inter" pitchFamily="34" charset="0"/>
                          <a:ea typeface="Inter" pitchFamily="34" charset="-122"/>
                          <a:cs typeface="Inter" pitchFamily="34" charset="-120"/>
                        </a:rPr>
                        <a:t>Reading</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r>
              <a:tr h="450106">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Spain against Italy</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2.33 better</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43bp tighter</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 19bp a notch</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674142">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France against Italy, current ratings</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3.67 better</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14bp wider</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Fair ≈ 68 tighter, so ≈ 80bp cheap</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50155">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Expected relative rating change</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2 to 3 fewer</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764"/>
                        </a:lnSpc>
                        <a:buNone/>
                      </a:pP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Explains ≈ 35–55 of the 80</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50155">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Residual</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764"/>
                        </a:lnSpc>
                        <a:buNone/>
                      </a:pP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25–45bp</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764"/>
                        </a:lnSpc>
                        <a:buNone/>
                      </a:pPr>
                      <a:r>
                        <a:rPr lang="en-US" sz="1260" dirty="0">
                          <a:solidFill>
                            <a:srgbClr val="17202B"/>
                          </a:solidFill>
                          <a:latin typeface="Inter" pitchFamily="34" charset="0"/>
                          <a:ea typeface="Inter" pitchFamily="34" charset="-122"/>
                          <a:cs typeface="Inter" pitchFamily="34" charset="-120"/>
                        </a:rPr>
                        <a:t>Trajectory premium</a:t>
                      </a:r>
                      <a:endParaRPr lang="en-US" sz="126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bl>
          </a:graphicData>
        </a:graphic>
      </p:graphicFrame>
      <p:sp>
        <p:nvSpPr>
          <p:cNvPr id="4" name="Shape 1"/>
          <p:cNvSpPr/>
          <p:nvPr/>
        </p:nvSpPr>
        <p:spPr>
          <a:xfrm>
            <a:off x="815975" y="4683175"/>
            <a:ext cx="10560050" cy="1155650"/>
          </a:xfrm>
          <a:prstGeom prst="roundRect">
            <a:avLst>
              <a:gd name="adj" fmla="val 6319"/>
            </a:avLst>
          </a:prstGeom>
          <a:solidFill>
            <a:srgbClr val="FBF9F5"/>
          </a:solidFill>
          <a:ln w="6350">
            <a:solidFill>
              <a:srgbClr val="DDD6CA"/>
            </a:solidFill>
            <a:prstDash val="solid"/>
          </a:ln>
        </p:spPr>
      </p:sp>
      <p:sp>
        <p:nvSpPr>
          <p:cNvPr id="5" name="Text 2"/>
          <p:cNvSpPr/>
          <p:nvPr/>
        </p:nvSpPr>
        <p:spPr>
          <a:xfrm>
            <a:off x="1047750" y="4889550"/>
            <a:ext cx="10399395" cy="494209"/>
          </a:xfrm>
          <a:prstGeom prst="rect">
            <a:avLst/>
          </a:prstGeom>
          <a:noFill/>
          <a:ln/>
        </p:spPr>
        <p:txBody>
          <a:bodyPr wrap="square" lIns="0" tIns="0" rIns="0" bIns="0" rtlCol="0" anchor="t">
            <a:normAutofit/>
          </a:bodyPr>
          <a:lstStyle/>
          <a:p>
            <a:pPr algn="l" indent="0" marL="0">
              <a:lnSpc>
                <a:spcPts val="1860"/>
              </a:lnSpc>
              <a:buNone/>
            </a:pPr>
            <a:r>
              <a:rPr lang="en-US" sz="1378" dirty="0">
                <a:solidFill>
                  <a:srgbClr val="17202B"/>
                </a:solidFill>
                <a:latin typeface="Inter" pitchFamily="34" charset="0"/>
                <a:ea typeface="Inter" pitchFamily="34" charset="-122"/>
                <a:cs typeface="Inter" pitchFamily="34" charset="-120"/>
              </a:rPr>
              <a:t>On this arithmetic, France–Italy between +25 and +45bp is consistent with expected rating moves plus the trajectory premium. It is currently +14.</a:t>
            </a:r>
            <a:endParaRPr lang="en-US" sz="1378" dirty="0"/>
          </a:p>
        </p:txBody>
      </p:sp>
      <p:sp>
        <p:nvSpPr>
          <p:cNvPr id="6" name="Text 3"/>
          <p:cNvSpPr/>
          <p:nvPr/>
        </p:nvSpPr>
        <p:spPr>
          <a:xfrm>
            <a:off x="1047750" y="5421858"/>
            <a:ext cx="10399395" cy="235992"/>
          </a:xfrm>
          <a:prstGeom prst="rect">
            <a:avLst/>
          </a:prstGeom>
          <a:noFill/>
          <a:ln/>
        </p:spPr>
        <p:txBody>
          <a:bodyPr wrap="square" lIns="0" tIns="0" rIns="0" bIns="0" rtlCol="0" anchor="t">
            <a:normAutofit/>
          </a:bodyPr>
          <a:lstStyle/>
          <a:p>
            <a:pPr algn="l" indent="0" marL="0">
              <a:lnSpc>
                <a:spcPts val="1672"/>
              </a:lnSpc>
              <a:buNone/>
            </a:pPr>
            <a:r>
              <a:rPr lang="en-US" sz="1194" dirty="0">
                <a:solidFill>
                  <a:srgbClr val="5F6670"/>
                </a:solidFill>
                <a:latin typeface="Inter" pitchFamily="34" charset="0"/>
                <a:ea typeface="Inter" pitchFamily="34" charset="-122"/>
                <a:cs typeface="Inter" pitchFamily="34" charset="-120"/>
              </a:rPr>
              <a:t>Rating direction: four cuts to France in 17 months; three upgrades for Italy, including Moody's first since 2002.</a:t>
            </a:r>
            <a:endParaRPr lang="en-US" sz="1194"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Average of S&amp;P, Moody's and Fitch on a 21-step scale; spreads at 18 Sep closes. Calculations on 10y spreads.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7202B"/>
                </a:solidFill>
                <a:latin typeface="Source Serif 4" pitchFamily="34" charset="0"/>
                <a:ea typeface="Source Serif 4" pitchFamily="34" charset="-122"/>
                <a:cs typeface="Source Serif 4" pitchFamily="34" charset="-120"/>
              </a:rPr>
              <a:t>Key dates to May 2027</a:t>
            </a:r>
            <a:endParaRPr lang="en-US" sz="3200" dirty="0"/>
          </a:p>
        </p:txBody>
      </p:sp>
      <p:sp>
        <p:nvSpPr>
          <p:cNvPr id="3" name="Text 1"/>
          <p:cNvSpPr/>
          <p:nvPr/>
        </p:nvSpPr>
        <p:spPr>
          <a:xfrm>
            <a:off x="812800" y="15138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322B"/>
                </a:solidFill>
                <a:latin typeface="Inter" pitchFamily="34" charset="0"/>
                <a:ea typeface="Inter" pitchFamily="34" charset="-122"/>
                <a:cs typeface="Inter" pitchFamily="34" charset="-120"/>
              </a:rPr>
              <a:t>2027 BUDGET · NOW TO MID-DECEMBER</a:t>
            </a:r>
            <a:endParaRPr lang="en-US" sz="1300" dirty="0"/>
          </a:p>
        </p:txBody>
      </p:sp>
      <p:sp>
        <p:nvSpPr>
          <p:cNvPr id="4" name="Shape 2"/>
          <p:cNvSpPr/>
          <p:nvPr/>
        </p:nvSpPr>
        <p:spPr>
          <a:xfrm>
            <a:off x="815975" y="1837035"/>
            <a:ext cx="1680617" cy="1852662"/>
          </a:xfrm>
          <a:prstGeom prst="roundRect">
            <a:avLst>
              <a:gd name="adj" fmla="val 3589"/>
            </a:avLst>
          </a:prstGeom>
          <a:solidFill>
            <a:srgbClr val="FBF9F5"/>
          </a:solidFill>
          <a:ln w="6350">
            <a:solidFill>
              <a:srgbClr val="DDD6CA"/>
            </a:solidFill>
            <a:prstDash val="solid"/>
          </a:ln>
        </p:spPr>
      </p:sp>
      <p:sp>
        <p:nvSpPr>
          <p:cNvPr id="5" name="Text 3"/>
          <p:cNvSpPr/>
          <p:nvPr/>
        </p:nvSpPr>
        <p:spPr>
          <a:xfrm>
            <a:off x="958850" y="1979910"/>
            <a:ext cx="144566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30 Sep</a:t>
            </a:r>
            <a:endParaRPr lang="en-US" sz="1400" dirty="0"/>
          </a:p>
        </p:txBody>
      </p:sp>
      <p:sp>
        <p:nvSpPr>
          <p:cNvPr id="6" name="Text 4"/>
          <p:cNvSpPr/>
          <p:nvPr/>
        </p:nvSpPr>
        <p:spPr>
          <a:xfrm>
            <a:off x="958850" y="2266900"/>
            <a:ext cx="1445667" cy="130532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Budget tabled with 2027 OAT financing programme; social security budget follows</a:t>
            </a:r>
            <a:endParaRPr lang="en-US" sz="1200" dirty="0"/>
          </a:p>
        </p:txBody>
      </p:sp>
      <p:sp>
        <p:nvSpPr>
          <p:cNvPr id="7" name="Shape 5"/>
          <p:cNvSpPr/>
          <p:nvPr/>
        </p:nvSpPr>
        <p:spPr>
          <a:xfrm>
            <a:off x="2591842" y="1837035"/>
            <a:ext cx="1680617" cy="1852662"/>
          </a:xfrm>
          <a:prstGeom prst="roundRect">
            <a:avLst>
              <a:gd name="adj" fmla="val 3589"/>
            </a:avLst>
          </a:prstGeom>
          <a:solidFill>
            <a:srgbClr val="FBF9F5"/>
          </a:solidFill>
          <a:ln w="6350">
            <a:solidFill>
              <a:srgbClr val="DDD6CA"/>
            </a:solidFill>
            <a:prstDash val="solid"/>
          </a:ln>
        </p:spPr>
      </p:sp>
      <p:sp>
        <p:nvSpPr>
          <p:cNvPr id="8" name="Text 6"/>
          <p:cNvSpPr/>
          <p:nvPr/>
        </p:nvSpPr>
        <p:spPr>
          <a:xfrm>
            <a:off x="2734717" y="1979910"/>
            <a:ext cx="144566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20 Oct</a:t>
            </a:r>
            <a:endParaRPr lang="en-US" sz="1400" dirty="0"/>
          </a:p>
        </p:txBody>
      </p:sp>
      <p:sp>
        <p:nvSpPr>
          <p:cNvPr id="9" name="Text 7"/>
          <p:cNvSpPr/>
          <p:nvPr/>
        </p:nvSpPr>
        <p:spPr>
          <a:xfrm>
            <a:off x="2734717" y="2266900"/>
            <a:ext cx="14456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Revenue vote</a:t>
            </a:r>
            <a:endParaRPr lang="en-US" sz="1200" dirty="0"/>
          </a:p>
        </p:txBody>
      </p:sp>
      <p:sp>
        <p:nvSpPr>
          <p:cNvPr id="10" name="Shape 8"/>
          <p:cNvSpPr/>
          <p:nvPr/>
        </p:nvSpPr>
        <p:spPr>
          <a:xfrm>
            <a:off x="4367709" y="1837035"/>
            <a:ext cx="1680617" cy="1852662"/>
          </a:xfrm>
          <a:prstGeom prst="roundRect">
            <a:avLst>
              <a:gd name="adj" fmla="val 3589"/>
            </a:avLst>
          </a:prstGeom>
          <a:solidFill>
            <a:srgbClr val="FBF9F5"/>
          </a:solidFill>
          <a:ln w="6350">
            <a:solidFill>
              <a:srgbClr val="DDD6CA"/>
            </a:solidFill>
            <a:prstDash val="solid"/>
          </a:ln>
        </p:spPr>
      </p:sp>
      <p:sp>
        <p:nvSpPr>
          <p:cNvPr id="11" name="Text 9"/>
          <p:cNvSpPr/>
          <p:nvPr/>
        </p:nvSpPr>
        <p:spPr>
          <a:xfrm>
            <a:off x="4510584" y="1979910"/>
            <a:ext cx="144566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23 Oct</a:t>
            </a:r>
            <a:endParaRPr lang="en-US" sz="1400" dirty="0"/>
          </a:p>
        </p:txBody>
      </p:sp>
      <p:sp>
        <p:nvSpPr>
          <p:cNvPr id="12" name="Text 10"/>
          <p:cNvSpPr/>
          <p:nvPr/>
        </p:nvSpPr>
        <p:spPr>
          <a:xfrm>
            <a:off x="4510584" y="2266900"/>
            <a:ext cx="14456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Moody's review</a:t>
            </a:r>
            <a:endParaRPr lang="en-US" sz="1200" dirty="0"/>
          </a:p>
        </p:txBody>
      </p:sp>
      <p:sp>
        <p:nvSpPr>
          <p:cNvPr id="13" name="Shape 11"/>
          <p:cNvSpPr/>
          <p:nvPr/>
        </p:nvSpPr>
        <p:spPr>
          <a:xfrm>
            <a:off x="6143575" y="1837035"/>
            <a:ext cx="1680666" cy="1852662"/>
          </a:xfrm>
          <a:prstGeom prst="roundRect">
            <a:avLst>
              <a:gd name="adj" fmla="val 3589"/>
            </a:avLst>
          </a:prstGeom>
          <a:solidFill>
            <a:srgbClr val="FBF9F5"/>
          </a:solidFill>
          <a:ln w="6350">
            <a:solidFill>
              <a:srgbClr val="DDD6CA"/>
            </a:solidFill>
            <a:prstDash val="solid"/>
          </a:ln>
        </p:spPr>
      </p:sp>
      <p:sp>
        <p:nvSpPr>
          <p:cNvPr id="14" name="Text 12"/>
          <p:cNvSpPr/>
          <p:nvPr/>
        </p:nvSpPr>
        <p:spPr>
          <a:xfrm>
            <a:off x="6286450" y="1979910"/>
            <a:ext cx="144571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17 Nov</a:t>
            </a:r>
            <a:endParaRPr lang="en-US" sz="1400" dirty="0"/>
          </a:p>
        </p:txBody>
      </p:sp>
      <p:sp>
        <p:nvSpPr>
          <p:cNvPr id="15" name="Text 13"/>
          <p:cNvSpPr/>
          <p:nvPr/>
        </p:nvSpPr>
        <p:spPr>
          <a:xfrm>
            <a:off x="6286450" y="2266900"/>
            <a:ext cx="1445716"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First-reading vote; social security budget votes around the same time</a:t>
            </a:r>
            <a:endParaRPr lang="en-US" sz="1200" dirty="0"/>
          </a:p>
        </p:txBody>
      </p:sp>
      <p:sp>
        <p:nvSpPr>
          <p:cNvPr id="16" name="Shape 14"/>
          <p:cNvSpPr/>
          <p:nvPr/>
        </p:nvSpPr>
        <p:spPr>
          <a:xfrm>
            <a:off x="7919492" y="1837035"/>
            <a:ext cx="1680617" cy="1852662"/>
          </a:xfrm>
          <a:prstGeom prst="roundRect">
            <a:avLst>
              <a:gd name="adj" fmla="val 3589"/>
            </a:avLst>
          </a:prstGeom>
          <a:solidFill>
            <a:srgbClr val="FBF9F5"/>
          </a:solidFill>
          <a:ln w="6350">
            <a:solidFill>
              <a:srgbClr val="DDD6CA"/>
            </a:solidFill>
            <a:prstDash val="solid"/>
          </a:ln>
        </p:spPr>
      </p:sp>
      <p:sp>
        <p:nvSpPr>
          <p:cNvPr id="17" name="Text 15"/>
          <p:cNvSpPr/>
          <p:nvPr/>
        </p:nvSpPr>
        <p:spPr>
          <a:xfrm>
            <a:off x="8062367" y="1979910"/>
            <a:ext cx="144566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27 Nov</a:t>
            </a:r>
            <a:endParaRPr lang="en-US" sz="1400" dirty="0"/>
          </a:p>
        </p:txBody>
      </p:sp>
      <p:sp>
        <p:nvSpPr>
          <p:cNvPr id="18" name="Text 16"/>
          <p:cNvSpPr/>
          <p:nvPr/>
        </p:nvSpPr>
        <p:spPr>
          <a:xfrm>
            <a:off x="8062367" y="2266900"/>
            <a:ext cx="14456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S&amp;P review</a:t>
            </a:r>
            <a:endParaRPr lang="en-US" sz="1200" dirty="0"/>
          </a:p>
        </p:txBody>
      </p:sp>
      <p:sp>
        <p:nvSpPr>
          <p:cNvPr id="19" name="Shape 17"/>
          <p:cNvSpPr/>
          <p:nvPr/>
        </p:nvSpPr>
        <p:spPr>
          <a:xfrm>
            <a:off x="9695359" y="1837035"/>
            <a:ext cx="1680617" cy="1852662"/>
          </a:xfrm>
          <a:prstGeom prst="roundRect">
            <a:avLst>
              <a:gd name="adj" fmla="val 3589"/>
            </a:avLst>
          </a:prstGeom>
          <a:solidFill>
            <a:srgbClr val="FBF9F5"/>
          </a:solidFill>
          <a:ln w="6350">
            <a:solidFill>
              <a:srgbClr val="DDD6CA"/>
            </a:solidFill>
            <a:prstDash val="solid"/>
          </a:ln>
        </p:spPr>
      </p:sp>
      <p:sp>
        <p:nvSpPr>
          <p:cNvPr id="20" name="Text 18"/>
          <p:cNvSpPr/>
          <p:nvPr/>
        </p:nvSpPr>
        <p:spPr>
          <a:xfrm>
            <a:off x="9838234" y="1979910"/>
            <a:ext cx="144566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9–15 Dec</a:t>
            </a:r>
            <a:endParaRPr lang="en-US" sz="1400" dirty="0"/>
          </a:p>
        </p:txBody>
      </p:sp>
      <p:sp>
        <p:nvSpPr>
          <p:cNvPr id="21" name="Text 19"/>
          <p:cNvSpPr/>
          <p:nvPr/>
        </p:nvSpPr>
        <p:spPr>
          <a:xfrm>
            <a:off x="9838234" y="2266900"/>
            <a:ext cx="144566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Article 47 window; financing programme confirmed</a:t>
            </a:r>
            <a:endParaRPr lang="en-US" sz="1200" dirty="0"/>
          </a:p>
        </p:txBody>
      </p:sp>
      <p:sp>
        <p:nvSpPr>
          <p:cNvPr id="22" name="Text 20"/>
          <p:cNvSpPr/>
          <p:nvPr/>
        </p:nvSpPr>
        <p:spPr>
          <a:xfrm>
            <a:off x="812800" y="3946872"/>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5C8A"/>
                </a:solidFill>
                <a:latin typeface="Inter" pitchFamily="34" charset="0"/>
                <a:ea typeface="Inter" pitchFamily="34" charset="-122"/>
                <a:cs typeface="Inter" pitchFamily="34" charset="-120"/>
              </a:rPr>
              <a:t>PRESIDENTIAL ELECTION · JANUARY TO MAY 2027</a:t>
            </a:r>
            <a:endParaRPr lang="en-US" sz="1300" dirty="0"/>
          </a:p>
        </p:txBody>
      </p:sp>
      <p:sp>
        <p:nvSpPr>
          <p:cNvPr id="23" name="Shape 21"/>
          <p:cNvSpPr/>
          <p:nvPr/>
        </p:nvSpPr>
        <p:spPr>
          <a:xfrm>
            <a:off x="815975" y="4270077"/>
            <a:ext cx="2568575" cy="999381"/>
          </a:xfrm>
          <a:prstGeom prst="roundRect">
            <a:avLst>
              <a:gd name="adj" fmla="val 6036"/>
            </a:avLst>
          </a:prstGeom>
          <a:solidFill>
            <a:srgbClr val="FBF9F5"/>
          </a:solidFill>
          <a:ln w="6350">
            <a:solidFill>
              <a:srgbClr val="DDD6CA"/>
            </a:solidFill>
            <a:prstDash val="solid"/>
          </a:ln>
        </p:spPr>
      </p:sp>
      <p:sp>
        <p:nvSpPr>
          <p:cNvPr id="24" name="Text 22"/>
          <p:cNvSpPr/>
          <p:nvPr/>
        </p:nvSpPr>
        <p:spPr>
          <a:xfrm>
            <a:off x="958850" y="4412952"/>
            <a:ext cx="23513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January</a:t>
            </a:r>
            <a:endParaRPr lang="en-US" sz="1400" dirty="0"/>
          </a:p>
        </p:txBody>
      </p:sp>
      <p:sp>
        <p:nvSpPr>
          <p:cNvPr id="25" name="Text 23"/>
          <p:cNvSpPr/>
          <p:nvPr/>
        </p:nvSpPr>
        <p:spPr>
          <a:xfrm>
            <a:off x="958850" y="4699943"/>
            <a:ext cx="23513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Campaign premium historically starts building</a:t>
            </a:r>
            <a:endParaRPr lang="en-US" sz="1200" dirty="0"/>
          </a:p>
        </p:txBody>
      </p:sp>
      <p:sp>
        <p:nvSpPr>
          <p:cNvPr id="26" name="Shape 24"/>
          <p:cNvSpPr/>
          <p:nvPr/>
        </p:nvSpPr>
        <p:spPr>
          <a:xfrm>
            <a:off x="3479800" y="4270077"/>
            <a:ext cx="2568575" cy="999381"/>
          </a:xfrm>
          <a:prstGeom prst="roundRect">
            <a:avLst>
              <a:gd name="adj" fmla="val 6036"/>
            </a:avLst>
          </a:prstGeom>
          <a:solidFill>
            <a:srgbClr val="FBF9F5"/>
          </a:solidFill>
          <a:ln w="6350">
            <a:solidFill>
              <a:srgbClr val="DDD6CA"/>
            </a:solidFill>
            <a:prstDash val="solid"/>
          </a:ln>
        </p:spPr>
      </p:sp>
      <p:sp>
        <p:nvSpPr>
          <p:cNvPr id="27" name="Text 25"/>
          <p:cNvSpPr/>
          <p:nvPr/>
        </p:nvSpPr>
        <p:spPr>
          <a:xfrm>
            <a:off x="3622675" y="4412952"/>
            <a:ext cx="23513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Late Mar – early Apr</a:t>
            </a:r>
            <a:endParaRPr lang="en-US" sz="1400" dirty="0"/>
          </a:p>
        </p:txBody>
      </p:sp>
      <p:sp>
        <p:nvSpPr>
          <p:cNvPr id="28" name="Text 26"/>
          <p:cNvSpPr/>
          <p:nvPr/>
        </p:nvSpPr>
        <p:spPr>
          <a:xfrm>
            <a:off x="3622675" y="4699943"/>
            <a:ext cx="23513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Candidate list closes; Le Pen cassation ruling</a:t>
            </a:r>
            <a:endParaRPr lang="en-US" sz="1200" dirty="0"/>
          </a:p>
        </p:txBody>
      </p:sp>
      <p:sp>
        <p:nvSpPr>
          <p:cNvPr id="29" name="Shape 27"/>
          <p:cNvSpPr/>
          <p:nvPr/>
        </p:nvSpPr>
        <p:spPr>
          <a:xfrm>
            <a:off x="6143625" y="4270077"/>
            <a:ext cx="2568575" cy="999381"/>
          </a:xfrm>
          <a:prstGeom prst="roundRect">
            <a:avLst>
              <a:gd name="adj" fmla="val 6036"/>
            </a:avLst>
          </a:prstGeom>
          <a:solidFill>
            <a:srgbClr val="FBF9F5"/>
          </a:solidFill>
          <a:ln w="6350">
            <a:solidFill>
              <a:srgbClr val="DDD6CA"/>
            </a:solidFill>
            <a:prstDash val="solid"/>
          </a:ln>
        </p:spPr>
      </p:sp>
      <p:sp>
        <p:nvSpPr>
          <p:cNvPr id="30" name="Text 28"/>
          <p:cNvSpPr/>
          <p:nvPr/>
        </p:nvSpPr>
        <p:spPr>
          <a:xfrm>
            <a:off x="6286500" y="4412952"/>
            <a:ext cx="23513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18 Apr</a:t>
            </a:r>
            <a:endParaRPr lang="en-US" sz="1400" dirty="0"/>
          </a:p>
        </p:txBody>
      </p:sp>
      <p:sp>
        <p:nvSpPr>
          <p:cNvPr id="31" name="Text 29"/>
          <p:cNvSpPr/>
          <p:nvPr/>
        </p:nvSpPr>
        <p:spPr>
          <a:xfrm>
            <a:off x="6286500" y="4699943"/>
            <a:ext cx="23513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First round</a:t>
            </a:r>
            <a:endParaRPr lang="en-US" sz="1200" dirty="0"/>
          </a:p>
        </p:txBody>
      </p:sp>
      <p:sp>
        <p:nvSpPr>
          <p:cNvPr id="32" name="Shape 30"/>
          <p:cNvSpPr/>
          <p:nvPr/>
        </p:nvSpPr>
        <p:spPr>
          <a:xfrm>
            <a:off x="8807450" y="4270077"/>
            <a:ext cx="2568575" cy="999381"/>
          </a:xfrm>
          <a:prstGeom prst="roundRect">
            <a:avLst>
              <a:gd name="adj" fmla="val 6036"/>
            </a:avLst>
          </a:prstGeom>
          <a:solidFill>
            <a:srgbClr val="FBF9F5"/>
          </a:solidFill>
          <a:ln w="6350">
            <a:solidFill>
              <a:srgbClr val="DDD6CA"/>
            </a:solidFill>
            <a:prstDash val="solid"/>
          </a:ln>
        </p:spPr>
      </p:sp>
      <p:sp>
        <p:nvSpPr>
          <p:cNvPr id="33" name="Text 31"/>
          <p:cNvSpPr/>
          <p:nvPr/>
        </p:nvSpPr>
        <p:spPr>
          <a:xfrm>
            <a:off x="8950325" y="4412952"/>
            <a:ext cx="23513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2B"/>
                </a:solidFill>
                <a:latin typeface="Inter" pitchFamily="34" charset="0"/>
                <a:ea typeface="Inter" pitchFamily="34" charset="-122"/>
                <a:cs typeface="Inter" pitchFamily="34" charset="-120"/>
              </a:rPr>
              <a:t>2 May</a:t>
            </a:r>
            <a:endParaRPr lang="en-US" sz="1400" dirty="0"/>
          </a:p>
        </p:txBody>
      </p:sp>
      <p:sp>
        <p:nvSpPr>
          <p:cNvPr id="34" name="Text 32"/>
          <p:cNvSpPr/>
          <p:nvPr/>
        </p:nvSpPr>
        <p:spPr>
          <a:xfrm>
            <a:off x="8950325" y="4699943"/>
            <a:ext cx="23513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nter" pitchFamily="34" charset="0"/>
                <a:ea typeface="Inter" pitchFamily="34" charset="-122"/>
                <a:cs typeface="Inter" pitchFamily="34" charset="-120"/>
              </a:rPr>
              <a:t>Run-off</a:t>
            </a:r>
            <a:endParaRPr lang="en-US" sz="1200" dirty="0"/>
          </a:p>
        </p:txBody>
      </p:sp>
      <p:sp>
        <p:nvSpPr>
          <p:cNvPr id="35" name="Text 3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Assemblée nationale; rating agency calendars; Conseil constitutionnel.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699294"/>
          </a:xfrm>
          <a:prstGeom prst="rect">
            <a:avLst/>
          </a:prstGeom>
          <a:noFill/>
          <a:ln/>
        </p:spPr>
        <p:txBody>
          <a:bodyPr wrap="square" lIns="0" tIns="0" rIns="0" bIns="0" rtlCol="0" anchor="t">
            <a:normAutofit/>
          </a:bodyPr>
          <a:lstStyle/>
          <a:p>
            <a:pPr algn="l" indent="0" marL="0">
              <a:lnSpc>
                <a:spcPts val="2662"/>
              </a:lnSpc>
              <a:buNone/>
            </a:pPr>
            <a:r>
              <a:rPr lang="en-US" sz="2420" dirty="0">
                <a:solidFill>
                  <a:srgbClr val="17202B"/>
                </a:solidFill>
                <a:latin typeface="Source Serif 4" pitchFamily="34" charset="0"/>
                <a:ea typeface="Source Serif 4" pitchFamily="34" charset="-122"/>
                <a:cs typeface="Source Serif 4" pitchFamily="34" charset="-120"/>
              </a:rPr>
              <a:t>Presidential polling: Le Pen leads across pollsters; second place is contested</a:t>
            </a:r>
            <a:endParaRPr lang="en-US" sz="2420" dirty="0"/>
          </a:p>
        </p:txBody>
      </p:sp>
      <p:sp>
        <p:nvSpPr>
          <p:cNvPr id="3" name="Text 1"/>
          <p:cNvSpPr/>
          <p:nvPr/>
        </p:nvSpPr>
        <p:spPr>
          <a:xfrm>
            <a:off x="812800" y="1689894"/>
            <a:ext cx="6540500" cy="185093"/>
          </a:xfrm>
          <a:prstGeom prst="rect">
            <a:avLst/>
          </a:prstGeom>
          <a:noFill/>
          <a:ln/>
        </p:spPr>
        <p:txBody>
          <a:bodyPr wrap="square" lIns="0" tIns="0" rIns="0" bIns="0" rtlCol="0" anchor="t">
            <a:normAutofit/>
          </a:bodyPr>
          <a:lstStyle/>
          <a:p>
            <a:pPr algn="l" indent="0" marL="0">
              <a:lnSpc>
                <a:spcPts val="1270"/>
              </a:lnSpc>
              <a:buNone/>
            </a:pPr>
            <a:r>
              <a:rPr lang="en-US" sz="907" b="1" dirty="0">
                <a:solidFill>
                  <a:srgbClr val="17202B"/>
                </a:solidFill>
                <a:latin typeface="Inter" pitchFamily="34" charset="0"/>
                <a:ea typeface="Inter" pitchFamily="34" charset="-122"/>
                <a:cs typeface="Inter" pitchFamily="34" charset="-120"/>
              </a:rPr>
              <a:t>First round, % range across scenarios tested</a:t>
            </a:r>
            <a:endParaRPr lang="en-US" sz="907"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25786"/>
          <a:ext cx="6350000" cy="3072507"/>
        </p:xfrm>
        <a:graphic>
          <a:graphicData uri="http://schemas.openxmlformats.org/drawingml/2006/table">
            <a:tbl>
              <a:tblPr/>
              <a:tblGrid>
                <a:gridCol w="1270000"/>
                <a:gridCol w="1270000"/>
                <a:gridCol w="1270000"/>
                <a:gridCol w="1270000"/>
                <a:gridCol w="1270000"/>
              </a:tblGrid>
              <a:tr h="487363">
                <a:tc>
                  <a:txBody>
                    <a:bodyPr/>
                    <a:lstStyle/>
                    <a:p>
                      <a:pPr indent="0" marL="0">
                        <a:lnSpc>
                          <a:spcPts val="1302"/>
                        </a:lnSpc>
                        <a:buNone/>
                      </a:pP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302"/>
                        </a:lnSpc>
                        <a:buNone/>
                      </a:pPr>
                      <a:r>
                        <a:rPr lang="en-US" sz="930" b="1" dirty="0">
                          <a:solidFill>
                            <a:srgbClr val="17202B"/>
                          </a:solidFill>
                          <a:latin typeface="Inter" pitchFamily="34" charset="0"/>
                          <a:ea typeface="Inter" pitchFamily="34" charset="-122"/>
                          <a:cs typeface="Inter" pitchFamily="34" charset="-120"/>
                        </a:rPr>
                        <a:t>Ifop</a:t>
                      </a:r>
                      <a:endParaRPr lang="en-US" sz="930" dirty="0">
                        <a:latin typeface="Inter" charset="0"/>
                        <a:ea typeface="Inter" charset="0"/>
                        <a:cs typeface="Inter" charset="0"/>
                      </a:endParaRPr>
                    </a:p>
                    <a:p>
                      <a:pPr algn="r" indent="0" marL="0">
                        <a:lnSpc>
                          <a:spcPts val="1302"/>
                        </a:lnSpc>
                        <a:buNone/>
                      </a:pPr>
                      <a:r>
                        <a:rPr lang="en-US" sz="930" b="1" dirty="0">
                          <a:solidFill>
                            <a:srgbClr val="17202B"/>
                          </a:solidFill>
                          <a:latin typeface="Inter" pitchFamily="34" charset="0"/>
                          <a:ea typeface="Inter" pitchFamily="34" charset="-122"/>
                          <a:cs typeface="Inter" pitchFamily="34" charset="-120"/>
                        </a:rPr>
                        <a:t>24–25 Aug</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302"/>
                        </a:lnSpc>
                        <a:buNone/>
                      </a:pPr>
                      <a:r>
                        <a:rPr lang="en-US" sz="930" b="1" dirty="0">
                          <a:solidFill>
                            <a:srgbClr val="17202B"/>
                          </a:solidFill>
                          <a:latin typeface="Inter" pitchFamily="34" charset="0"/>
                          <a:ea typeface="Inter" pitchFamily="34" charset="-122"/>
                          <a:cs typeface="Inter" pitchFamily="34" charset="-120"/>
                        </a:rPr>
                        <a:t>Elabe</a:t>
                      </a:r>
                      <a:endParaRPr lang="en-US" sz="930" dirty="0">
                        <a:latin typeface="Inter" charset="0"/>
                        <a:ea typeface="Inter" charset="0"/>
                        <a:cs typeface="Inter" charset="0"/>
                      </a:endParaRPr>
                    </a:p>
                    <a:p>
                      <a:pPr algn="r" indent="0" marL="0">
                        <a:lnSpc>
                          <a:spcPts val="1302"/>
                        </a:lnSpc>
                        <a:buNone/>
                      </a:pPr>
                      <a:r>
                        <a:rPr lang="en-US" sz="930" b="1" dirty="0">
                          <a:solidFill>
                            <a:srgbClr val="17202B"/>
                          </a:solidFill>
                          <a:latin typeface="Inter" pitchFamily="34" charset="0"/>
                          <a:ea typeface="Inter" pitchFamily="34" charset="-122"/>
                          <a:cs typeface="Inter" pitchFamily="34" charset="-120"/>
                        </a:rPr>
                        <a:t>26–28 Aug</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302"/>
                        </a:lnSpc>
                        <a:buNone/>
                      </a:pPr>
                      <a:r>
                        <a:rPr lang="en-US" sz="930" b="1" dirty="0">
                          <a:solidFill>
                            <a:srgbClr val="17202B"/>
                          </a:solidFill>
                          <a:latin typeface="Inter" pitchFamily="34" charset="0"/>
                          <a:ea typeface="Inter" pitchFamily="34" charset="-122"/>
                          <a:cs typeface="Inter" pitchFamily="34" charset="-120"/>
                        </a:rPr>
                        <a:t>Harris</a:t>
                      </a:r>
                      <a:endParaRPr lang="en-US" sz="930" dirty="0">
                        <a:latin typeface="Inter" charset="0"/>
                        <a:ea typeface="Inter" charset="0"/>
                        <a:cs typeface="Inter" charset="0"/>
                      </a:endParaRPr>
                    </a:p>
                    <a:p>
                      <a:pPr algn="r" indent="0" marL="0">
                        <a:lnSpc>
                          <a:spcPts val="1302"/>
                        </a:lnSpc>
                        <a:buNone/>
                      </a:pPr>
                      <a:r>
                        <a:rPr lang="en-US" sz="930" b="1" dirty="0">
                          <a:solidFill>
                            <a:srgbClr val="17202B"/>
                          </a:solidFill>
                          <a:latin typeface="Inter" pitchFamily="34" charset="0"/>
                          <a:ea typeface="Inter" pitchFamily="34" charset="-122"/>
                          <a:cs typeface="Inter" pitchFamily="34" charset="-120"/>
                        </a:rPr>
                        <a:t>8–10 Sep</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302"/>
                        </a:lnSpc>
                        <a:buNone/>
                      </a:pPr>
                      <a:r>
                        <a:rPr lang="en-US" sz="930" b="1" dirty="0">
                          <a:solidFill>
                            <a:srgbClr val="17202B"/>
                          </a:solidFill>
                          <a:latin typeface="Inter" pitchFamily="34" charset="0"/>
                          <a:ea typeface="Inter" pitchFamily="34" charset="-122"/>
                          <a:cs typeface="Inter" pitchFamily="34" charset="-120"/>
                        </a:rPr>
                        <a:t>OpinionWay</a:t>
                      </a:r>
                      <a:endParaRPr lang="en-US" sz="930" dirty="0">
                        <a:latin typeface="Inter" charset="0"/>
                        <a:ea typeface="Inter" charset="0"/>
                        <a:cs typeface="Inter" charset="0"/>
                      </a:endParaRPr>
                    </a:p>
                    <a:p>
                      <a:pPr algn="r" indent="0" marL="0">
                        <a:lnSpc>
                          <a:spcPts val="1302"/>
                        </a:lnSpc>
                        <a:buNone/>
                      </a:pPr>
                      <a:r>
                        <a:rPr lang="en-US" sz="930" b="1" dirty="0">
                          <a:solidFill>
                            <a:srgbClr val="17202B"/>
                          </a:solidFill>
                          <a:latin typeface="Inter" pitchFamily="34" charset="0"/>
                          <a:ea typeface="Inter" pitchFamily="34" charset="-122"/>
                          <a:cs typeface="Inter" pitchFamily="34" charset="-120"/>
                        </a:rPr>
                        <a:t>9–10 Sep</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r>
              <a:tr h="322064">
                <a:tc>
                  <a:txBody>
                    <a:bodyPr/>
                    <a:lstStyle/>
                    <a:p>
                      <a:pPr indent="0" marL="0">
                        <a:lnSpc>
                          <a:spcPts val="1302"/>
                        </a:lnSpc>
                        <a:buNone/>
                      </a:pPr>
                      <a:r>
                        <a:rPr lang="en-US" sz="930" dirty="0">
                          <a:solidFill>
                            <a:srgbClr val="17202B"/>
                          </a:solidFill>
                          <a:latin typeface="Inter" pitchFamily="34" charset="0"/>
                          <a:ea typeface="Inter" pitchFamily="34" charset="-122"/>
                          <a:cs typeface="Inter" pitchFamily="34" charset="-120"/>
                        </a:rPr>
                        <a:t>Le Pen (RN)</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33–35</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34–35.5</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33–34</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32–34</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322064">
                <a:tc>
                  <a:txBody>
                    <a:bodyPr/>
                    <a:lstStyle/>
                    <a:p>
                      <a:pPr indent="0" marL="0">
                        <a:lnSpc>
                          <a:spcPts val="1302"/>
                        </a:lnSpc>
                        <a:buNone/>
                      </a:pPr>
                      <a:r>
                        <a:rPr lang="en-US" sz="930" dirty="0">
                          <a:solidFill>
                            <a:srgbClr val="17202B"/>
                          </a:solidFill>
                          <a:latin typeface="Inter" pitchFamily="34" charset="0"/>
                          <a:ea typeface="Inter" pitchFamily="34" charset="-122"/>
                          <a:cs typeface="Inter" pitchFamily="34" charset="-120"/>
                        </a:rPr>
                        <a:t>Philippe (Horizons)</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14.5–21</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14.5–20.5</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14–17</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15–16</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322064">
                <a:tc>
                  <a:txBody>
                    <a:bodyPr/>
                    <a:lstStyle/>
                    <a:p>
                      <a:pPr indent="0" marL="0">
                        <a:lnSpc>
                          <a:spcPts val="1302"/>
                        </a:lnSpc>
                        <a:buNone/>
                      </a:pPr>
                      <a:r>
                        <a:rPr lang="en-US" sz="930" dirty="0">
                          <a:solidFill>
                            <a:srgbClr val="17202B"/>
                          </a:solidFill>
                          <a:latin typeface="Inter" pitchFamily="34" charset="0"/>
                          <a:ea typeface="Inter" pitchFamily="34" charset="-122"/>
                          <a:cs typeface="Inter" pitchFamily="34" charset="-120"/>
                        </a:rPr>
                        <a:t>Mélenchon (LFI)</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16–19</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14–14.5</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16–17</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16–17</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87412">
                <a:tc>
                  <a:txBody>
                    <a:bodyPr/>
                    <a:lstStyle/>
                    <a:p>
                      <a:pPr indent="0" marL="0">
                        <a:lnSpc>
                          <a:spcPts val="1302"/>
                        </a:lnSpc>
                        <a:buNone/>
                      </a:pPr>
                      <a:r>
                        <a:rPr lang="en-US" sz="930" dirty="0">
                          <a:solidFill>
                            <a:srgbClr val="17202B"/>
                          </a:solidFill>
                          <a:latin typeface="Inter" pitchFamily="34" charset="0"/>
                          <a:ea typeface="Inter" pitchFamily="34" charset="-122"/>
                          <a:cs typeface="Inter" pitchFamily="34" charset="-120"/>
                        </a:rPr>
                        <a:t>Glucksmann (PS/PP)</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11</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[__]</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9–10</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9</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322064">
                <a:tc>
                  <a:txBody>
                    <a:bodyPr/>
                    <a:lstStyle/>
                    <a:p>
                      <a:pPr indent="0" marL="0">
                        <a:lnSpc>
                          <a:spcPts val="1302"/>
                        </a:lnSpc>
                        <a:buNone/>
                      </a:pPr>
                      <a:r>
                        <a:rPr lang="en-US" sz="930" dirty="0">
                          <a:solidFill>
                            <a:srgbClr val="17202B"/>
                          </a:solidFill>
                          <a:latin typeface="Inter" pitchFamily="34" charset="0"/>
                          <a:ea typeface="Inter" pitchFamily="34" charset="-122"/>
                          <a:cs typeface="Inter" pitchFamily="34" charset="-120"/>
                        </a:rPr>
                        <a:t>Attal (Renaissance)</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8–15</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[__]</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8</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7–8</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322064">
                <a:tc>
                  <a:txBody>
                    <a:bodyPr/>
                    <a:lstStyle/>
                    <a:p>
                      <a:pPr indent="0" marL="0">
                        <a:lnSpc>
                          <a:spcPts val="1302"/>
                        </a:lnSpc>
                        <a:buNone/>
                      </a:pPr>
                      <a:r>
                        <a:rPr lang="en-US" sz="930" dirty="0">
                          <a:solidFill>
                            <a:srgbClr val="17202B"/>
                          </a:solidFill>
                          <a:latin typeface="Inter" pitchFamily="34" charset="0"/>
                          <a:ea typeface="Inter" pitchFamily="34" charset="-122"/>
                          <a:cs typeface="Inter" pitchFamily="34" charset="-120"/>
                        </a:rPr>
                        <a:t>Retailleau (LR)</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6–12</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6–9.5</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7</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7</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87412">
                <a:tc>
                  <a:txBody>
                    <a:bodyPr/>
                    <a:lstStyle/>
                    <a:p>
                      <a:pPr indent="0" marL="0">
                        <a:lnSpc>
                          <a:spcPts val="1302"/>
                        </a:lnSpc>
                        <a:buNone/>
                      </a:pPr>
                      <a:r>
                        <a:rPr lang="en-US" sz="930" dirty="0">
                          <a:solidFill>
                            <a:srgbClr val="17202B"/>
                          </a:solidFill>
                          <a:latin typeface="Inter" pitchFamily="34" charset="0"/>
                          <a:ea typeface="Inter" pitchFamily="34" charset="-122"/>
                          <a:cs typeface="Inter" pitchFamily="34" charset="-120"/>
                        </a:rPr>
                        <a:t>Zemmour (Reconquête)</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3.5</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4–4.5</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5</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302"/>
                        </a:lnSpc>
                        <a:buNone/>
                      </a:pPr>
                      <a:r>
                        <a:rPr lang="en-US" sz="930" dirty="0">
                          <a:solidFill>
                            <a:srgbClr val="17202B"/>
                          </a:solidFill>
                          <a:latin typeface="Inter" pitchFamily="34" charset="0"/>
                          <a:ea typeface="Inter" pitchFamily="34" charset="-122"/>
                          <a:cs typeface="Inter" pitchFamily="34" charset="-120"/>
                        </a:rPr>
                        <a:t>2</a:t>
                      </a:r>
                      <a:endParaRPr lang="en-US" sz="930" dirty="0">
                        <a:latin typeface="Inter" charset="0"/>
                        <a:ea typeface="Inter" charset="0"/>
                        <a:cs typeface="Inter" charset="0"/>
                      </a:endParaRPr>
                    </a:p>
                  </a:txBody>
                  <a:tcPr marL="88900" marR="88900" marT="63500" marB="635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bl>
          </a:graphicData>
        </a:graphic>
      </p:graphicFrame>
      <p:sp>
        <p:nvSpPr>
          <p:cNvPr id="5" name="Text 2"/>
          <p:cNvSpPr/>
          <p:nvPr/>
        </p:nvSpPr>
        <p:spPr>
          <a:xfrm>
            <a:off x="7569200" y="1689894"/>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B"/>
                </a:solidFill>
                <a:latin typeface="Inter" pitchFamily="34" charset="0"/>
                <a:ea typeface="Inter" pitchFamily="34" charset="-122"/>
                <a:cs typeface="Inter" pitchFamily="34" charset="-120"/>
              </a:rPr>
              <a:t>Run-off, Le Pen's share across pollsters</a:t>
            </a:r>
            <a:endParaRPr lang="en-US" sz="1200" dirty="0"/>
          </a:p>
        </p:txBody>
      </p:sp>
      <p:sp>
        <p:nvSpPr>
          <p:cNvPr id="6" name="Text 3"/>
          <p:cNvSpPr/>
          <p:nvPr/>
        </p:nvSpPr>
        <p:spPr>
          <a:xfrm>
            <a:off x="7569200" y="2004814"/>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B"/>
                </a:solidFill>
                <a:latin typeface="Inter" pitchFamily="34" charset="0"/>
                <a:ea typeface="Inter" pitchFamily="34" charset="-122"/>
                <a:cs typeface="Inter" pitchFamily="34" charset="-120"/>
              </a:rPr>
              <a:t>vs Philippe: </a:t>
            </a:r>
            <a:r>
              <a:rPr lang="en-US" sz="1200" b="1" dirty="0">
                <a:solidFill>
                  <a:srgbClr val="17202B"/>
                </a:solidFill>
                <a:latin typeface="Inter" pitchFamily="34" charset="0"/>
                <a:ea typeface="Inter" pitchFamily="34" charset="-122"/>
                <a:cs typeface="Inter" pitchFamily="34" charset="-120"/>
              </a:rPr>
              <a:t>52–55%</a:t>
            </a:r>
            <a:endParaRPr lang="en-US" sz="1200" dirty="0"/>
          </a:p>
        </p:txBody>
      </p:sp>
      <p:sp>
        <p:nvSpPr>
          <p:cNvPr id="7" name="Shape 4"/>
          <p:cNvSpPr/>
          <p:nvPr/>
        </p:nvSpPr>
        <p:spPr>
          <a:xfrm>
            <a:off x="7569200" y="2256234"/>
            <a:ext cx="1890018" cy="340320"/>
          </a:xfrm>
          <a:prstGeom prst="rect">
            <a:avLst/>
          </a:prstGeom>
          <a:solidFill>
            <a:srgbClr val="17202B"/>
          </a:solidFill>
          <a:ln/>
        </p:spPr>
      </p:sp>
      <p:sp>
        <p:nvSpPr>
          <p:cNvPr id="8" name="Text 5"/>
          <p:cNvSpPr/>
          <p:nvPr/>
        </p:nvSpPr>
        <p:spPr>
          <a:xfrm>
            <a:off x="7658100" y="2319734"/>
            <a:ext cx="17635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2EC"/>
                </a:solidFill>
                <a:latin typeface="Inter" pitchFamily="34" charset="0"/>
                <a:ea typeface="Inter" pitchFamily="34" charset="-122"/>
                <a:cs typeface="Inter" pitchFamily="34" charset="-120"/>
              </a:rPr>
              <a:t>53</a:t>
            </a:r>
            <a:endParaRPr lang="en-US" sz="1200" dirty="0"/>
          </a:p>
        </p:txBody>
      </p:sp>
      <p:sp>
        <p:nvSpPr>
          <p:cNvPr id="9" name="Shape 6"/>
          <p:cNvSpPr/>
          <p:nvPr/>
        </p:nvSpPr>
        <p:spPr>
          <a:xfrm>
            <a:off x="9459218" y="2256234"/>
            <a:ext cx="1665982" cy="340320"/>
          </a:xfrm>
          <a:prstGeom prst="rect">
            <a:avLst/>
          </a:prstGeom>
          <a:solidFill>
            <a:srgbClr val="DDD6CA"/>
          </a:solidFill>
          <a:ln/>
        </p:spPr>
      </p:sp>
      <p:sp>
        <p:nvSpPr>
          <p:cNvPr id="10" name="Text 7"/>
          <p:cNvSpPr/>
          <p:nvPr/>
        </p:nvSpPr>
        <p:spPr>
          <a:xfrm>
            <a:off x="9548118" y="2319734"/>
            <a:ext cx="153898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B"/>
                </a:solidFill>
                <a:latin typeface="Inter" pitchFamily="34" charset="0"/>
                <a:ea typeface="Inter" pitchFamily="34" charset="-122"/>
                <a:cs typeface="Inter" pitchFamily="34" charset="-120"/>
              </a:rPr>
              <a:t>47</a:t>
            </a:r>
            <a:endParaRPr lang="en-US" sz="1200" dirty="0"/>
          </a:p>
        </p:txBody>
      </p:sp>
      <p:sp>
        <p:nvSpPr>
          <p:cNvPr id="11" name="Text 8"/>
          <p:cNvSpPr/>
          <p:nvPr/>
        </p:nvSpPr>
        <p:spPr>
          <a:xfrm>
            <a:off x="7569200" y="2698155"/>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B"/>
                </a:solidFill>
                <a:latin typeface="Inter" pitchFamily="34" charset="0"/>
                <a:ea typeface="Inter" pitchFamily="34" charset="-122"/>
                <a:cs typeface="Inter" pitchFamily="34" charset="-120"/>
              </a:rPr>
              <a:t>vs Attal: </a:t>
            </a:r>
            <a:r>
              <a:rPr lang="en-US" sz="1200" b="1" dirty="0">
                <a:solidFill>
                  <a:srgbClr val="17202B"/>
                </a:solidFill>
                <a:latin typeface="Inter" pitchFamily="34" charset="0"/>
                <a:ea typeface="Inter" pitchFamily="34" charset="-122"/>
                <a:cs typeface="Inter" pitchFamily="34" charset="-120"/>
              </a:rPr>
              <a:t>54–57%</a:t>
            </a:r>
            <a:endParaRPr lang="en-US" sz="1200" dirty="0"/>
          </a:p>
        </p:txBody>
      </p:sp>
      <p:sp>
        <p:nvSpPr>
          <p:cNvPr id="12" name="Shape 9"/>
          <p:cNvSpPr/>
          <p:nvPr/>
        </p:nvSpPr>
        <p:spPr>
          <a:xfrm>
            <a:off x="7569200" y="2949575"/>
            <a:ext cx="1954014" cy="340320"/>
          </a:xfrm>
          <a:prstGeom prst="rect">
            <a:avLst/>
          </a:prstGeom>
          <a:solidFill>
            <a:srgbClr val="17202B"/>
          </a:solidFill>
          <a:ln/>
        </p:spPr>
      </p:sp>
      <p:sp>
        <p:nvSpPr>
          <p:cNvPr id="13" name="Text 10"/>
          <p:cNvSpPr/>
          <p:nvPr/>
        </p:nvSpPr>
        <p:spPr>
          <a:xfrm>
            <a:off x="7658100" y="3013075"/>
            <a:ext cx="1829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2EC"/>
                </a:solidFill>
                <a:latin typeface="Inter" pitchFamily="34" charset="0"/>
                <a:ea typeface="Inter" pitchFamily="34" charset="-122"/>
                <a:cs typeface="Inter" pitchFamily="34" charset="-120"/>
              </a:rPr>
              <a:t>55.5</a:t>
            </a:r>
            <a:endParaRPr lang="en-US" sz="1200" dirty="0"/>
          </a:p>
        </p:txBody>
      </p:sp>
      <p:sp>
        <p:nvSpPr>
          <p:cNvPr id="14" name="Shape 11"/>
          <p:cNvSpPr/>
          <p:nvPr/>
        </p:nvSpPr>
        <p:spPr>
          <a:xfrm>
            <a:off x="9523214" y="2949575"/>
            <a:ext cx="1601986" cy="340320"/>
          </a:xfrm>
          <a:prstGeom prst="rect">
            <a:avLst/>
          </a:prstGeom>
          <a:solidFill>
            <a:srgbClr val="DDD6CA"/>
          </a:solidFill>
          <a:ln/>
        </p:spPr>
      </p:sp>
      <p:sp>
        <p:nvSpPr>
          <p:cNvPr id="15" name="Text 12"/>
          <p:cNvSpPr/>
          <p:nvPr/>
        </p:nvSpPr>
        <p:spPr>
          <a:xfrm>
            <a:off x="9612114" y="3013075"/>
            <a:ext cx="14749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B"/>
                </a:solidFill>
                <a:latin typeface="Inter" pitchFamily="34" charset="0"/>
                <a:ea typeface="Inter" pitchFamily="34" charset="-122"/>
                <a:cs typeface="Inter" pitchFamily="34" charset="-120"/>
              </a:rPr>
              <a:t>44.5</a:t>
            </a:r>
            <a:endParaRPr lang="en-US" sz="1200" dirty="0"/>
          </a:p>
        </p:txBody>
      </p:sp>
      <p:sp>
        <p:nvSpPr>
          <p:cNvPr id="16" name="Text 13"/>
          <p:cNvSpPr/>
          <p:nvPr/>
        </p:nvSpPr>
        <p:spPr>
          <a:xfrm>
            <a:off x="7569200" y="3391495"/>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B"/>
                </a:solidFill>
                <a:latin typeface="Inter" pitchFamily="34" charset="0"/>
                <a:ea typeface="Inter" pitchFamily="34" charset="-122"/>
                <a:cs typeface="Inter" pitchFamily="34" charset="-120"/>
              </a:rPr>
              <a:t>vs Glucksmann: </a:t>
            </a:r>
            <a:r>
              <a:rPr lang="en-US" sz="1200" b="1" dirty="0">
                <a:solidFill>
                  <a:srgbClr val="17202B"/>
                </a:solidFill>
                <a:latin typeface="Inter" pitchFamily="34" charset="0"/>
                <a:ea typeface="Inter" pitchFamily="34" charset="-122"/>
                <a:cs typeface="Inter" pitchFamily="34" charset="-120"/>
              </a:rPr>
              <a:t>55–57%</a:t>
            </a:r>
            <a:endParaRPr lang="en-US" sz="1200" dirty="0"/>
          </a:p>
        </p:txBody>
      </p:sp>
      <p:sp>
        <p:nvSpPr>
          <p:cNvPr id="17" name="Shape 14"/>
          <p:cNvSpPr/>
          <p:nvPr/>
        </p:nvSpPr>
        <p:spPr>
          <a:xfrm>
            <a:off x="7569200" y="3642916"/>
            <a:ext cx="1970038" cy="340320"/>
          </a:xfrm>
          <a:prstGeom prst="rect">
            <a:avLst/>
          </a:prstGeom>
          <a:solidFill>
            <a:srgbClr val="17202B"/>
          </a:solidFill>
          <a:ln/>
        </p:spPr>
      </p:sp>
      <p:sp>
        <p:nvSpPr>
          <p:cNvPr id="18" name="Text 15"/>
          <p:cNvSpPr/>
          <p:nvPr/>
        </p:nvSpPr>
        <p:spPr>
          <a:xfrm>
            <a:off x="7658100" y="3706416"/>
            <a:ext cx="18460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2EC"/>
                </a:solidFill>
                <a:latin typeface="Inter" pitchFamily="34" charset="0"/>
                <a:ea typeface="Inter" pitchFamily="34" charset="-122"/>
                <a:cs typeface="Inter" pitchFamily="34" charset="-120"/>
              </a:rPr>
              <a:t>56</a:t>
            </a:r>
            <a:endParaRPr lang="en-US" sz="1200" dirty="0"/>
          </a:p>
        </p:txBody>
      </p:sp>
      <p:sp>
        <p:nvSpPr>
          <p:cNvPr id="19" name="Shape 16"/>
          <p:cNvSpPr/>
          <p:nvPr/>
        </p:nvSpPr>
        <p:spPr>
          <a:xfrm>
            <a:off x="9539238" y="3642916"/>
            <a:ext cx="1585962" cy="340320"/>
          </a:xfrm>
          <a:prstGeom prst="rect">
            <a:avLst/>
          </a:prstGeom>
          <a:solidFill>
            <a:srgbClr val="DDD6CA"/>
          </a:solidFill>
          <a:ln/>
        </p:spPr>
      </p:sp>
      <p:sp>
        <p:nvSpPr>
          <p:cNvPr id="20" name="Text 17"/>
          <p:cNvSpPr/>
          <p:nvPr/>
        </p:nvSpPr>
        <p:spPr>
          <a:xfrm>
            <a:off x="9628138" y="3706416"/>
            <a:ext cx="14589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B"/>
                </a:solidFill>
                <a:latin typeface="Inter" pitchFamily="34" charset="0"/>
                <a:ea typeface="Inter" pitchFamily="34" charset="-122"/>
                <a:cs typeface="Inter" pitchFamily="34" charset="-120"/>
              </a:rPr>
              <a:t>44</a:t>
            </a:r>
            <a:endParaRPr lang="en-US" sz="1200" dirty="0"/>
          </a:p>
        </p:txBody>
      </p:sp>
      <p:sp>
        <p:nvSpPr>
          <p:cNvPr id="21" name="Text 18"/>
          <p:cNvSpPr/>
          <p:nvPr/>
        </p:nvSpPr>
        <p:spPr>
          <a:xfrm>
            <a:off x="7569200" y="4084836"/>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B"/>
                </a:solidFill>
                <a:latin typeface="Inter" pitchFamily="34" charset="0"/>
                <a:ea typeface="Inter" pitchFamily="34" charset="-122"/>
                <a:cs typeface="Inter" pitchFamily="34" charset="-120"/>
              </a:rPr>
              <a:t>vs Mélenchon: </a:t>
            </a:r>
            <a:r>
              <a:rPr lang="en-US" sz="1200" b="1" dirty="0">
                <a:solidFill>
                  <a:srgbClr val="17202B"/>
                </a:solidFill>
                <a:latin typeface="Inter" pitchFamily="34" charset="0"/>
                <a:ea typeface="Inter" pitchFamily="34" charset="-122"/>
                <a:cs typeface="Inter" pitchFamily="34" charset="-120"/>
              </a:rPr>
              <a:t>67–69.5%</a:t>
            </a:r>
            <a:endParaRPr lang="en-US" sz="1200" dirty="0"/>
          </a:p>
        </p:txBody>
      </p:sp>
      <p:sp>
        <p:nvSpPr>
          <p:cNvPr id="22" name="Shape 19"/>
          <p:cNvSpPr/>
          <p:nvPr/>
        </p:nvSpPr>
        <p:spPr>
          <a:xfrm>
            <a:off x="7569200" y="4336256"/>
            <a:ext cx="2354064" cy="340320"/>
          </a:xfrm>
          <a:prstGeom prst="rect">
            <a:avLst/>
          </a:prstGeom>
          <a:solidFill>
            <a:srgbClr val="17202B"/>
          </a:solidFill>
          <a:ln/>
        </p:spPr>
      </p:sp>
      <p:sp>
        <p:nvSpPr>
          <p:cNvPr id="23" name="Text 20"/>
          <p:cNvSpPr/>
          <p:nvPr/>
        </p:nvSpPr>
        <p:spPr>
          <a:xfrm>
            <a:off x="7658100" y="4399756"/>
            <a:ext cx="224155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2EC"/>
                </a:solidFill>
                <a:latin typeface="Inter" pitchFamily="34" charset="0"/>
                <a:ea typeface="Inter" pitchFamily="34" charset="-122"/>
                <a:cs typeface="Inter" pitchFamily="34" charset="-120"/>
              </a:rPr>
              <a:t>68</a:t>
            </a:r>
            <a:endParaRPr lang="en-US" sz="1200" dirty="0"/>
          </a:p>
        </p:txBody>
      </p:sp>
      <p:sp>
        <p:nvSpPr>
          <p:cNvPr id="24" name="Shape 21"/>
          <p:cNvSpPr/>
          <p:nvPr/>
        </p:nvSpPr>
        <p:spPr>
          <a:xfrm>
            <a:off x="9923264" y="4336256"/>
            <a:ext cx="1201936" cy="340320"/>
          </a:xfrm>
          <a:prstGeom prst="rect">
            <a:avLst/>
          </a:prstGeom>
          <a:solidFill>
            <a:srgbClr val="DDD6CA"/>
          </a:solidFill>
          <a:ln/>
        </p:spPr>
      </p:sp>
      <p:sp>
        <p:nvSpPr>
          <p:cNvPr id="25" name="Text 22"/>
          <p:cNvSpPr/>
          <p:nvPr/>
        </p:nvSpPr>
        <p:spPr>
          <a:xfrm>
            <a:off x="10012164" y="4399756"/>
            <a:ext cx="10749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B"/>
                </a:solidFill>
                <a:latin typeface="Inter" pitchFamily="34" charset="0"/>
                <a:ea typeface="Inter" pitchFamily="34" charset="-122"/>
                <a:cs typeface="Inter" pitchFamily="34" charset="-120"/>
              </a:rPr>
              <a:t>32</a:t>
            </a:r>
            <a:endParaRPr lang="en-US" sz="1200" dirty="0"/>
          </a:p>
        </p:txBody>
      </p:sp>
      <p:sp>
        <p:nvSpPr>
          <p:cNvPr id="26" name="Shape 23"/>
          <p:cNvSpPr/>
          <p:nvPr/>
        </p:nvSpPr>
        <p:spPr>
          <a:xfrm>
            <a:off x="812800" y="5214193"/>
            <a:ext cx="10566400" cy="627807"/>
          </a:xfrm>
          <a:prstGeom prst="roundRect">
            <a:avLst>
              <a:gd name="adj" fmla="val 12137"/>
            </a:avLst>
          </a:prstGeom>
          <a:solidFill>
            <a:srgbClr val="17202B"/>
          </a:solidFill>
          <a:ln/>
        </p:spPr>
      </p:sp>
      <p:sp>
        <p:nvSpPr>
          <p:cNvPr id="27" name="Text 24"/>
          <p:cNvSpPr/>
          <p:nvPr/>
        </p:nvSpPr>
        <p:spPr>
          <a:xfrm>
            <a:off x="1016000" y="5353893"/>
            <a:ext cx="10464800" cy="373807"/>
          </a:xfrm>
          <a:prstGeom prst="rect">
            <a:avLst/>
          </a:prstGeom>
          <a:noFill/>
          <a:ln/>
        </p:spPr>
        <p:txBody>
          <a:bodyPr wrap="square" lIns="0" tIns="0" rIns="0" bIns="0" rtlCol="0" anchor="t">
            <a:normAutofit/>
          </a:bodyPr>
          <a:lstStyle/>
          <a:p>
            <a:pPr algn="l" indent="0" marL="0">
              <a:lnSpc>
                <a:spcPts val="1490"/>
              </a:lnSpc>
              <a:buNone/>
            </a:pPr>
            <a:r>
              <a:rPr lang="en-US" sz="1064" dirty="0">
                <a:solidFill>
                  <a:srgbClr val="F5F2EC"/>
                </a:solidFill>
                <a:latin typeface="Inter" pitchFamily="34" charset="0"/>
                <a:ea typeface="Inter" pitchFamily="34" charset="-122"/>
                <a:cs typeface="Inter" pitchFamily="34" charset="-120"/>
              </a:rPr>
              <a:t>Second place hinges on centre consolidation: </a:t>
            </a:r>
            <a:r>
              <a:rPr lang="en-US" sz="1064" b="1" dirty="0">
                <a:solidFill>
                  <a:srgbClr val="F5F2EC"/>
                </a:solidFill>
                <a:latin typeface="Inter" pitchFamily="34" charset="0"/>
                <a:ea typeface="Inter" pitchFamily="34" charset="-122"/>
                <a:cs typeface="Inter" pitchFamily="34" charset="-120"/>
              </a:rPr>
              <a:t>Philippe as sole centre candidate polls 19–21%</a:t>
            </a:r>
            <a:r>
              <a:rPr lang="en-US" sz="1064" dirty="0">
                <a:solidFill>
                  <a:srgbClr val="F5F2EC"/>
                </a:solidFill>
                <a:latin typeface="Inter" pitchFamily="34" charset="0"/>
                <a:ea typeface="Inter" pitchFamily="34" charset="-122"/>
                <a:cs typeface="Inter" pitchFamily="34" charset="-120"/>
              </a:rPr>
              <a:t>; with Attal also running he falls to 14–16%, level with Mélenchon.</a:t>
            </a:r>
            <a:endParaRPr lang="en-US" sz="1064" dirty="0"/>
          </a:p>
        </p:txBody>
      </p:sp>
      <p:sp>
        <p:nvSpPr>
          <p:cNvPr id="28"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Ifop-Fiducial, Elabe, Harris Interactive, OpinionWay. Bars show midpoints of the pollster range.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755253"/>
          </a:xfrm>
          <a:prstGeom prst="rect">
            <a:avLst/>
          </a:prstGeom>
          <a:noFill/>
          <a:ln/>
        </p:spPr>
        <p:txBody>
          <a:bodyPr wrap="square" lIns="0" tIns="0" rIns="0" bIns="0" rtlCol="0" anchor="t">
            <a:normAutofit/>
          </a:bodyPr>
          <a:lstStyle/>
          <a:p>
            <a:pPr algn="l" indent="0" marL="0">
              <a:lnSpc>
                <a:spcPts val="2904"/>
              </a:lnSpc>
              <a:buNone/>
            </a:pPr>
            <a:r>
              <a:rPr lang="en-US" sz="2640" dirty="0">
                <a:solidFill>
                  <a:srgbClr val="17202B"/>
                </a:solidFill>
                <a:latin typeface="Source Serif 4" pitchFamily="34" charset="0"/>
                <a:ea typeface="Source Serif 4" pitchFamily="34" charset="-122"/>
                <a:cs typeface="Source Serif 4" pitchFamily="34" charset="-120"/>
              </a:rPr>
              <a:t>Candidate fiscal positions: none sets out a path to primary balance</a:t>
            </a:r>
            <a:endParaRPr lang="en-US" sz="264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796653"/>
          <a:ext cx="10566400" cy="3004046"/>
        </p:xfrm>
        <a:graphic>
          <a:graphicData uri="http://schemas.openxmlformats.org/drawingml/2006/table">
            <a:tbl>
              <a:tblPr/>
              <a:tblGrid>
                <a:gridCol w="2641600"/>
                <a:gridCol w="2641600"/>
                <a:gridCol w="2641600"/>
                <a:gridCol w="2641600"/>
              </a:tblGrid>
              <a:tr h="357684">
                <a:tc>
                  <a:txBody>
                    <a:bodyPr/>
                    <a:lstStyle/>
                    <a:p>
                      <a:pPr indent="0" marL="0">
                        <a:lnSpc>
                          <a:spcPts val="1313"/>
                        </a:lnSpc>
                        <a:buNone/>
                      </a:pP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indent="0" marL="0">
                        <a:lnSpc>
                          <a:spcPts val="1313"/>
                        </a:lnSpc>
                        <a:buNone/>
                      </a:pPr>
                      <a:r>
                        <a:rPr lang="en-US" sz="938" b="1" dirty="0">
                          <a:solidFill>
                            <a:srgbClr val="17202B"/>
                          </a:solidFill>
                          <a:latin typeface="Inter" pitchFamily="34" charset="0"/>
                          <a:ea typeface="Inter" pitchFamily="34" charset="-122"/>
                          <a:cs typeface="Inter" pitchFamily="34" charset="-120"/>
                        </a:rPr>
                        <a:t>Le Pen (RN)</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indent="0" marL="0">
                        <a:lnSpc>
                          <a:spcPts val="1313"/>
                        </a:lnSpc>
                        <a:buNone/>
                      </a:pPr>
                      <a:r>
                        <a:rPr lang="en-US" sz="938" b="1" dirty="0">
                          <a:solidFill>
                            <a:srgbClr val="17202B"/>
                          </a:solidFill>
                          <a:latin typeface="Inter" pitchFamily="34" charset="0"/>
                          <a:ea typeface="Inter" pitchFamily="34" charset="-122"/>
                          <a:cs typeface="Inter" pitchFamily="34" charset="-120"/>
                        </a:rPr>
                        <a:t>Philippe (Horizons)</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indent="0" marL="0">
                        <a:lnSpc>
                          <a:spcPts val="1313"/>
                        </a:lnSpc>
                        <a:buNone/>
                      </a:pPr>
                      <a:r>
                        <a:rPr lang="en-US" sz="938" b="1" dirty="0">
                          <a:solidFill>
                            <a:srgbClr val="17202B"/>
                          </a:solidFill>
                          <a:latin typeface="Inter" pitchFamily="34" charset="0"/>
                          <a:ea typeface="Inter" pitchFamily="34" charset="-122"/>
                          <a:cs typeface="Inter" pitchFamily="34" charset="-120"/>
                        </a:rPr>
                        <a:t>Mélenchon (LFI)</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r>
              <a:tr h="357684">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2023 pension reform</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Reverse: 62, or 60 with 40–42 years</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Keep a legal retirement age</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Abrogate: 60 with 40 years</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524371">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Taxes</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VAT to 5.5% on energy and fuels, ~€12bn a year</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Lower burden on middle classes; no figure</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Higher tax on capital and largest estates</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524421">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Spending</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€125bn savings announced; plan unpublished</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Balance the accounts; no costing</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Increased spending, financed by the above</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524421">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The debt</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No proposal on the stock</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Refuses any cancellation</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Cancel the Eurosystem-held share, or convert to perpetuals</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357733">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EU fiscal rules</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Renegotiate</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Comply</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Renegotiate, then disobey</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357733">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2030 deficit / debt</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7.3% / 133%</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Not costed</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313"/>
                        </a:lnSpc>
                        <a:buNone/>
                      </a:pPr>
                      <a:r>
                        <a:rPr lang="en-US" sz="938" dirty="0">
                          <a:solidFill>
                            <a:srgbClr val="17202B"/>
                          </a:solidFill>
                          <a:latin typeface="Inter" pitchFamily="34" charset="0"/>
                          <a:ea typeface="Inter" pitchFamily="34" charset="-122"/>
                          <a:cs typeface="Inter" pitchFamily="34" charset="-120"/>
                        </a:rPr>
                        <a:t>8.4% / 137%</a:t>
                      </a:r>
                      <a:endParaRPr lang="en-US" sz="938"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bl>
          </a:graphicData>
        </a:graphic>
      </p:graphicFrame>
      <p:sp>
        <p:nvSpPr>
          <p:cNvPr id="4" name="Shape 1"/>
          <p:cNvSpPr/>
          <p:nvPr/>
        </p:nvSpPr>
        <p:spPr>
          <a:xfrm>
            <a:off x="815975" y="5070574"/>
            <a:ext cx="10560050" cy="768251"/>
          </a:xfrm>
          <a:prstGeom prst="roundRect">
            <a:avLst>
              <a:gd name="adj" fmla="val 9505"/>
            </a:avLst>
          </a:prstGeom>
          <a:solidFill>
            <a:srgbClr val="FBF9F5"/>
          </a:solidFill>
          <a:ln w="6350">
            <a:solidFill>
              <a:srgbClr val="DDD6CA"/>
            </a:solidFill>
            <a:prstDash val="solid"/>
          </a:ln>
        </p:spPr>
      </p:sp>
      <p:sp>
        <p:nvSpPr>
          <p:cNvPr id="5" name="Text 2"/>
          <p:cNvSpPr/>
          <p:nvPr/>
        </p:nvSpPr>
        <p:spPr>
          <a:xfrm>
            <a:off x="1047750" y="5251549"/>
            <a:ext cx="10399395" cy="431701"/>
          </a:xfrm>
          <a:prstGeom prst="rect">
            <a:avLst/>
          </a:prstGeom>
          <a:noFill/>
          <a:ln/>
        </p:spPr>
        <p:txBody>
          <a:bodyPr wrap="square" lIns="0" tIns="0" rIns="0" bIns="0" rtlCol="0" anchor="t">
            <a:normAutofit/>
          </a:bodyPr>
          <a:lstStyle/>
          <a:p>
            <a:pPr algn="l" indent="0" marL="0">
              <a:lnSpc>
                <a:spcPts val="1611"/>
              </a:lnSpc>
              <a:buNone/>
            </a:pPr>
            <a:r>
              <a:rPr lang="en-US" sz="1151" dirty="0">
                <a:solidFill>
                  <a:srgbClr val="17202B"/>
                </a:solidFill>
                <a:latin typeface="Inter" pitchFamily="34" charset="0"/>
                <a:ea typeface="Inter" pitchFamily="34" charset="-122"/>
                <a:cs typeface="Inter" pitchFamily="34" charset="-120"/>
              </a:rPr>
              <a:t>The Eurosystem holds about 18% of French debt (€469bn). The LFI proposal would put a candidate in direct conflict with the ECB under Article 123, the scenario most likely to be priced as euro-area rather than French risk.</a:t>
            </a:r>
            <a:endParaRPr lang="en-US" sz="1151"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Positions as stated publicly to 19 Sep 2026; 2030 figures from francebudget.fr, a public costing tool.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TradingView generic series, corrected for benchmark rolls. French-event days labelled from the political calendar in advance. Calculations on 10y spreads.</a:t>
            </a:r>
            <a:endParaRPr lang="en-US" sz="1200" dirty="0"/>
          </a:p>
        </p:txBody>
      </p:sp>
      <p:sp>
        <p:nvSpPr>
          <p:cNvPr id="3" name="Text 1"/>
          <p:cNvSpPr/>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7202B"/>
                </a:solidFill>
                <a:latin typeface="Source Serif 4" pitchFamily="34" charset="0"/>
                <a:ea typeface="Source Serif 4" pitchFamily="34" charset="-122"/>
                <a:cs typeface="Source Serif 4" pitchFamily="34" charset="-120"/>
              </a:rPr>
              <a:t>Market transmission: Italy has decoupled from French shocks since 2025</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706860"/>
          <a:ext cx="10566400" cy="3454301"/>
        </p:xfrm>
        <a:graphic>
          <a:graphicData uri="http://schemas.openxmlformats.org/drawingml/2006/table">
            <a:tbl>
              <a:tblPr/>
              <a:tblGrid>
                <a:gridCol w="2641600"/>
                <a:gridCol w="2641600"/>
                <a:gridCol w="2641600"/>
                <a:gridCol w="2641600"/>
              </a:tblGrid>
              <a:tr h="652760">
                <a:tc>
                  <a:txBody>
                    <a:bodyPr/>
                    <a:lstStyle/>
                    <a:p>
                      <a:pPr indent="0" marL="0">
                        <a:lnSpc>
                          <a:spcPts val="1820"/>
                        </a:lnSpc>
                        <a:buNone/>
                      </a:pPr>
                      <a:r>
                        <a:rPr lang="en-US" sz="1300" b="1" dirty="0">
                          <a:solidFill>
                            <a:srgbClr val="17202B"/>
                          </a:solidFill>
                          <a:latin typeface="Inter" pitchFamily="34" charset="0"/>
                          <a:ea typeface="Inter" pitchFamily="34" charset="-122"/>
                          <a:cs typeface="Inter" pitchFamily="34" charset="-120"/>
                        </a:rPr>
                        <a:t>Spread change, bp (share of the FR–DE move)</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820"/>
                        </a:lnSpc>
                        <a:buNone/>
                      </a:pPr>
                      <a:r>
                        <a:rPr lang="en-US" sz="1300" b="1" dirty="0">
                          <a:solidFill>
                            <a:srgbClr val="17202B"/>
                          </a:solidFill>
                          <a:latin typeface="Inter" pitchFamily="34" charset="0"/>
                          <a:ea typeface="Inter" pitchFamily="34" charset="-122"/>
                          <a:cs typeface="Inter" pitchFamily="34" charset="-120"/>
                        </a:rPr>
                        <a:t>FR–DE</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820"/>
                        </a:lnSpc>
                        <a:buNone/>
                      </a:pPr>
                      <a:r>
                        <a:rPr lang="en-US" sz="1300" b="1" dirty="0">
                          <a:solidFill>
                            <a:srgbClr val="17202B"/>
                          </a:solidFill>
                          <a:latin typeface="Inter" pitchFamily="34" charset="0"/>
                          <a:ea typeface="Inter" pitchFamily="34" charset="-122"/>
                          <a:cs typeface="Inter" pitchFamily="34" charset="-120"/>
                        </a:rPr>
                        <a:t>FR–ES</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820"/>
                        </a:lnSpc>
                        <a:buNone/>
                      </a:pPr>
                      <a:r>
                        <a:rPr lang="en-US" sz="1300" b="1" dirty="0">
                          <a:solidFill>
                            <a:srgbClr val="17202B"/>
                          </a:solidFill>
                          <a:latin typeface="Inter" pitchFamily="34" charset="0"/>
                          <a:ea typeface="Inter" pitchFamily="34" charset="-122"/>
                          <a:cs typeface="Inter" pitchFamily="34" charset="-120"/>
                        </a:rPr>
                        <a:t>FR–IT</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r>
              <a:tr h="421630">
                <a:tc>
                  <a:txBody>
                    <a:bodyPr/>
                    <a:lstStyle/>
                    <a:p>
                      <a:pPr indent="0" marL="0">
                        <a:lnSpc>
                          <a:spcPts val="1820"/>
                        </a:lnSpc>
                        <a:buNone/>
                      </a:pPr>
                      <a:r>
                        <a:rPr lang="en-US" sz="1300" dirty="0">
                          <a:solidFill>
                            <a:srgbClr val="17202B"/>
                          </a:solidFill>
                          <a:latin typeface="Inter" pitchFamily="34" charset="0"/>
                          <a:ea typeface="Inter" pitchFamily="34" charset="-122"/>
                          <a:cs typeface="Inter" pitchFamily="34" charset="-120"/>
                        </a:rPr>
                        <a:t>French-event days, 2024</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+39.3</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+17.7 (45%)</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+1.7 (4%)</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21630">
                <a:tc>
                  <a:txBody>
                    <a:bodyPr/>
                    <a:lstStyle/>
                    <a:p>
                      <a:pPr indent="0" marL="0">
                        <a:lnSpc>
                          <a:spcPts val="1820"/>
                        </a:lnSpc>
                        <a:buNone/>
                      </a:pPr>
                      <a:r>
                        <a:rPr lang="en-US" sz="1300" dirty="0">
                          <a:solidFill>
                            <a:srgbClr val="17202B"/>
                          </a:solidFill>
                          <a:latin typeface="Inter" pitchFamily="34" charset="0"/>
                          <a:ea typeface="Inter" pitchFamily="34" charset="-122"/>
                          <a:cs typeface="Inter" pitchFamily="34" charset="-120"/>
                        </a:rPr>
                        <a:t>French-event days, 2025–26</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+14.9</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+11.0 (74%)</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+9.3 (62%)</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652760">
                <a:tc>
                  <a:txBody>
                    <a:bodyPr/>
                    <a:lstStyle/>
                    <a:p>
                      <a:pPr indent="0" marL="0">
                        <a:lnSpc>
                          <a:spcPts val="1820"/>
                        </a:lnSpc>
                        <a:buNone/>
                      </a:pPr>
                      <a:r>
                        <a:rPr lang="en-US" sz="1300" dirty="0">
                          <a:solidFill>
                            <a:srgbClr val="17202B"/>
                          </a:solidFill>
                          <a:latin typeface="Inter" pitchFamily="34" charset="0"/>
                          <a:ea typeface="Inter" pitchFamily="34" charset="-122"/>
                          <a:cs typeface="Inter" pitchFamily="34" charset="-120"/>
                        </a:rPr>
                        <a:t>Widening leg from the 4 Aug low</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+26.6</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+22.9 (86%)</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+12.4 (47%)</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652760">
                <a:tc>
                  <a:txBody>
                    <a:bodyPr/>
                    <a:lstStyle/>
                    <a:p>
                      <a:pPr indent="0" marL="0">
                        <a:lnSpc>
                          <a:spcPts val="1820"/>
                        </a:lnSpc>
                        <a:buNone/>
                      </a:pPr>
                      <a:r>
                        <a:rPr lang="en-US" sz="1300" dirty="0">
                          <a:solidFill>
                            <a:srgbClr val="17202B"/>
                          </a:solidFill>
                          <a:latin typeface="Inter" pitchFamily="34" charset="0"/>
                          <a:ea typeface="Inter" pitchFamily="34" charset="-122"/>
                          <a:cs typeface="Inter" pitchFamily="34" charset="-120"/>
                        </a:rPr>
                        <a:t>Widening leg since the 29 May low</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+43.1</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+35.9 (83%)</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+22.2 (52%)</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652760">
                <a:tc>
                  <a:txBody>
                    <a:bodyPr/>
                    <a:lstStyle/>
                    <a:p>
                      <a:pPr indent="0" marL="0">
                        <a:lnSpc>
                          <a:spcPts val="1820"/>
                        </a:lnSpc>
                        <a:buNone/>
                      </a:pPr>
                      <a:r>
                        <a:rPr lang="en-US" sz="1300" dirty="0">
                          <a:solidFill>
                            <a:srgbClr val="17202B"/>
                          </a:solidFill>
                          <a:latin typeface="Inter" pitchFamily="34" charset="0"/>
                          <a:ea typeface="Inter" pitchFamily="34" charset="-122"/>
                          <a:cs typeface="Inter" pitchFamily="34" charset="-120"/>
                        </a:rPr>
                        <a:t>Iran risk-off, Mar 2026 (non-French trigger)</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+6</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+2 (33%)</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820"/>
                        </a:lnSpc>
                        <a:buNone/>
                      </a:pPr>
                      <a:r>
                        <a:rPr lang="en-US" sz="1300" dirty="0">
                          <a:solidFill>
                            <a:srgbClr val="17202B"/>
                          </a:solidFill>
                          <a:latin typeface="Inter" pitchFamily="34" charset="0"/>
                          <a:ea typeface="Inter" pitchFamily="34" charset="-122"/>
                          <a:cs typeface="Inter" pitchFamily="34" charset="-120"/>
                        </a:rPr>
                        <a:t>−9 (−150%)</a:t>
                      </a:r>
                      <a:endParaRPr lang="en-US" sz="13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bl>
          </a:graphicData>
        </a:graphic>
      </p:graphicFrame>
      <p:sp>
        <p:nvSpPr>
          <p:cNvPr id="5" name="Text 2"/>
          <p:cNvSpPr/>
          <p:nvPr/>
        </p:nvSpPr>
        <p:spPr>
          <a:xfrm>
            <a:off x="812800" y="5346700"/>
            <a:ext cx="104648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02B"/>
                </a:solidFill>
                <a:latin typeface="Inter" pitchFamily="34" charset="0"/>
                <a:ea typeface="Inter" pitchFamily="34" charset="-122"/>
                <a:cs typeface="Inter" pitchFamily="34" charset="-120"/>
              </a:rPr>
              <a:t>In 2024 Italy widened almost one-for-one with France on French news. In 2025–26 it followed by well under half. Spain decoupled earlier. On non-French risk-off, Italy still widens more than France.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7202B"/>
                </a:solidFill>
                <a:latin typeface="Source Serif 4" pitchFamily="34" charset="0"/>
                <a:ea typeface="Source Serif 4" pitchFamily="34" charset="-122"/>
                <a:cs typeface="Source Serif 4" pitchFamily="34" charset="-120"/>
              </a:rPr>
              <a:t>Spread dynamics since June 2024: pullbacks after widening and what followed</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986260"/>
          <a:ext cx="10566400" cy="2445841"/>
        </p:xfrm>
        <a:graphic>
          <a:graphicData uri="http://schemas.openxmlformats.org/drawingml/2006/table">
            <a:tbl>
              <a:tblPr/>
              <a:tblGrid>
                <a:gridCol w="2113280"/>
                <a:gridCol w="2113280"/>
                <a:gridCol w="2113280"/>
                <a:gridCol w="2113280"/>
                <a:gridCol w="2113280"/>
              </a:tblGrid>
              <a:tr h="688280">
                <a:tc>
                  <a:txBody>
                    <a:bodyPr/>
                    <a:lstStyle/>
                    <a:p>
                      <a:pPr indent="0" marL="0">
                        <a:lnSpc>
                          <a:spcPts val="1960"/>
                        </a:lnSpc>
                        <a:buNone/>
                      </a:pPr>
                      <a:r>
                        <a:rPr lang="en-US" sz="1400" b="1" dirty="0">
                          <a:solidFill>
                            <a:srgbClr val="17202B"/>
                          </a:solidFill>
                          <a:latin typeface="Inter" pitchFamily="34" charset="0"/>
                          <a:ea typeface="Inter" pitchFamily="34" charset="-122"/>
                          <a:cs typeface="Inter" pitchFamily="34" charset="-120"/>
                        </a:rPr>
                        <a:t>Pullback depth, FR–DE</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960"/>
                        </a:lnSpc>
                        <a:buNone/>
                      </a:pPr>
                      <a:r>
                        <a:rPr lang="en-US" sz="1400" b="1" dirty="0">
                          <a:solidFill>
                            <a:srgbClr val="17202B"/>
                          </a:solidFill>
                          <a:latin typeface="Inter" pitchFamily="34" charset="0"/>
                          <a:ea typeface="Inter" pitchFamily="34" charset="-122"/>
                          <a:cs typeface="Inter" pitchFamily="34" charset="-120"/>
                        </a:rPr>
                        <a:t>n</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960"/>
                        </a:lnSpc>
                        <a:buNone/>
                      </a:pPr>
                      <a:r>
                        <a:rPr lang="en-US" sz="1400" b="1" dirty="0">
                          <a:solidFill>
                            <a:srgbClr val="17202B"/>
                          </a:solidFill>
                          <a:latin typeface="Inter" pitchFamily="34" charset="0"/>
                          <a:ea typeface="Inter" pitchFamily="34" charset="-122"/>
                          <a:cs typeface="Inter" pitchFamily="34" charset="-120"/>
                        </a:rPr>
                        <a:t>Sessions, high → low</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960"/>
                        </a:lnSpc>
                        <a:buNone/>
                      </a:pPr>
                      <a:r>
                        <a:rPr lang="en-US" sz="1400" b="1" dirty="0">
                          <a:solidFill>
                            <a:srgbClr val="17202B"/>
                          </a:solidFill>
                          <a:latin typeface="Inter" pitchFamily="34" charset="0"/>
                          <a:ea typeface="Inter" pitchFamily="34" charset="-122"/>
                          <a:cs typeface="Inter" pitchFamily="34" charset="-120"/>
                        </a:rPr>
                        <a:t>Rise over next 60 (med / min / max)</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960"/>
                        </a:lnSpc>
                        <a:buNone/>
                      </a:pPr>
                      <a:r>
                        <a:rPr lang="en-US" sz="1400" b="1" dirty="0">
                          <a:solidFill>
                            <a:srgbClr val="17202B"/>
                          </a:solidFill>
                          <a:latin typeface="Inter" pitchFamily="34" charset="0"/>
                          <a:ea typeface="Inter" pitchFamily="34" charset="-122"/>
                          <a:cs typeface="Inter" pitchFamily="34" charset="-120"/>
                        </a:rPr>
                        <a:t>New high in 60</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r>
              <a:tr h="439390">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Under 8bp</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9</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6</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13.9 / 7.0 / 26.6</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9 of 9</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39390">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8 to 12bp</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7</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14.8 / 5.5 / 18.2</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5 of 7</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39390">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12 to 15bp</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2</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8</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12.4 / 11.1 / 13.6</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1 of 2</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39390">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15bp and over</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3</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26</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16.2 / 15.3 / 19.1</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0 of 3</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bl>
          </a:graphicData>
        </a:graphic>
      </p:graphicFrame>
      <p:sp>
        <p:nvSpPr>
          <p:cNvPr id="4" name="Shape 1"/>
          <p:cNvSpPr/>
          <p:nvPr/>
        </p:nvSpPr>
        <p:spPr>
          <a:xfrm>
            <a:off x="812800" y="4736902"/>
            <a:ext cx="3420517" cy="0"/>
          </a:xfrm>
          <a:prstGeom prst="line">
            <a:avLst/>
          </a:prstGeom>
          <a:noFill/>
          <a:ln w="25400">
            <a:solidFill>
              <a:srgbClr val="2B5C8A"/>
            </a:solidFill>
            <a:prstDash val="solid"/>
          </a:ln>
        </p:spPr>
      </p:sp>
      <p:sp>
        <p:nvSpPr>
          <p:cNvPr id="5" name="Text 2"/>
          <p:cNvSpPr/>
          <p:nvPr/>
        </p:nvSpPr>
        <p:spPr>
          <a:xfrm>
            <a:off x="812800" y="4863902"/>
            <a:ext cx="35231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02B"/>
                </a:solidFill>
                <a:latin typeface="Inter" pitchFamily="34" charset="0"/>
                <a:ea typeface="Inter" pitchFamily="34" charset="-122"/>
                <a:cs typeface="Inter" pitchFamily="34" charset="-120"/>
              </a:rPr>
              <a:t>Shallow pullbacks</a:t>
            </a:r>
            <a:endParaRPr lang="en-US" sz="1500" dirty="0"/>
          </a:p>
        </p:txBody>
      </p:sp>
      <p:sp>
        <p:nvSpPr>
          <p:cNvPr id="6" name="Text 3"/>
          <p:cNvSpPr/>
          <p:nvPr/>
        </p:nvSpPr>
        <p:spPr>
          <a:xfrm>
            <a:off x="812800" y="5143302"/>
            <a:ext cx="352313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670"/>
                </a:solidFill>
                <a:latin typeface="Inter" pitchFamily="34" charset="0"/>
                <a:ea typeface="Inter" pitchFamily="34" charset="-122"/>
                <a:cs typeface="Inter" pitchFamily="34" charset="-120"/>
              </a:rPr>
              <a:t>Under 12bp: followed by a new high in 14 of 16 cases</a:t>
            </a:r>
            <a:endParaRPr lang="en-US" sz="1300" dirty="0"/>
          </a:p>
        </p:txBody>
      </p:sp>
      <p:sp>
        <p:nvSpPr>
          <p:cNvPr id="7" name="Shape 4"/>
          <p:cNvSpPr/>
          <p:nvPr/>
        </p:nvSpPr>
        <p:spPr>
          <a:xfrm>
            <a:off x="4385717" y="4736902"/>
            <a:ext cx="3420517" cy="0"/>
          </a:xfrm>
          <a:prstGeom prst="line">
            <a:avLst/>
          </a:prstGeom>
          <a:noFill/>
          <a:ln w="25400">
            <a:solidFill>
              <a:srgbClr val="2B5C8A"/>
            </a:solidFill>
            <a:prstDash val="solid"/>
          </a:ln>
        </p:spPr>
      </p:sp>
      <p:sp>
        <p:nvSpPr>
          <p:cNvPr id="8" name="Text 5"/>
          <p:cNvSpPr/>
          <p:nvPr/>
        </p:nvSpPr>
        <p:spPr>
          <a:xfrm>
            <a:off x="4385717" y="4863902"/>
            <a:ext cx="35231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02B"/>
                </a:solidFill>
                <a:latin typeface="Inter" pitchFamily="34" charset="0"/>
                <a:ea typeface="Inter" pitchFamily="34" charset="-122"/>
                <a:cs typeface="Inter" pitchFamily="34" charset="-120"/>
              </a:rPr>
              <a:t>Deep pullbacks</a:t>
            </a:r>
            <a:endParaRPr lang="en-US" sz="1500" dirty="0"/>
          </a:p>
        </p:txBody>
      </p:sp>
      <p:sp>
        <p:nvSpPr>
          <p:cNvPr id="9" name="Text 6"/>
          <p:cNvSpPr/>
          <p:nvPr/>
        </p:nvSpPr>
        <p:spPr>
          <a:xfrm>
            <a:off x="4385717" y="5143302"/>
            <a:ext cx="352313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670"/>
                </a:solidFill>
                <a:latin typeface="Inter" pitchFamily="34" charset="0"/>
                <a:ea typeface="Inter" pitchFamily="34" charset="-122"/>
                <a:cs typeface="Inter" pitchFamily="34" charset="-120"/>
              </a:rPr>
              <a:t>12bp or more: coincided with resolution events; 1 of 5 followed by a new high</a:t>
            </a:r>
            <a:endParaRPr lang="en-US" sz="1300" dirty="0"/>
          </a:p>
        </p:txBody>
      </p:sp>
      <p:sp>
        <p:nvSpPr>
          <p:cNvPr id="10" name="Shape 7"/>
          <p:cNvSpPr/>
          <p:nvPr/>
        </p:nvSpPr>
        <p:spPr>
          <a:xfrm>
            <a:off x="7958634" y="4736902"/>
            <a:ext cx="3420566" cy="0"/>
          </a:xfrm>
          <a:prstGeom prst="line">
            <a:avLst/>
          </a:prstGeom>
          <a:noFill/>
          <a:ln w="25400">
            <a:solidFill>
              <a:srgbClr val="2B5C8A"/>
            </a:solidFill>
            <a:prstDash val="solid"/>
          </a:ln>
        </p:spPr>
      </p:sp>
      <p:sp>
        <p:nvSpPr>
          <p:cNvPr id="11" name="Text 8"/>
          <p:cNvSpPr/>
          <p:nvPr/>
        </p:nvSpPr>
        <p:spPr>
          <a:xfrm>
            <a:off x="7958634" y="4863902"/>
            <a:ext cx="352318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02B"/>
                </a:solidFill>
                <a:latin typeface="Inter" pitchFamily="34" charset="0"/>
                <a:ea typeface="Inter" pitchFamily="34" charset="-122"/>
                <a:cs typeface="Inter" pitchFamily="34" charset="-120"/>
              </a:rPr>
              <a:t>Widening legs</a:t>
            </a:r>
            <a:endParaRPr lang="en-US" sz="1500" dirty="0"/>
          </a:p>
        </p:txBody>
      </p:sp>
      <p:sp>
        <p:nvSpPr>
          <p:cNvPr id="12" name="Text 9"/>
          <p:cNvSpPr/>
          <p:nvPr/>
        </p:nvSpPr>
        <p:spPr>
          <a:xfrm>
            <a:off x="7958634" y="5143302"/>
            <a:ext cx="3523183"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670"/>
                </a:solidFill>
                <a:latin typeface="Inter" pitchFamily="34" charset="0"/>
                <a:ea typeface="Inter" pitchFamily="34" charset="-122"/>
                <a:cs typeface="Inter" pitchFamily="34" charset="-120"/>
              </a:rPr>
              <a:t>Median 10bp, max 16 across 20 completed legs; the current leg, 27bp, is the largest</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Five-basis-point ZigZag filter; France–Germany 10y generic, corrected for benchmark rolls, Jun 2024 to 18 Sep 2026. Calculations on 10y spreads.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7202B"/>
                </a:solidFill>
                <a:latin typeface="Source Serif 4" pitchFamily="34" charset="0"/>
                <a:ea typeface="Source Serif 4" pitchFamily="34" charset="-122"/>
                <a:cs typeface="Source Serif 4" pitchFamily="34" charset="-120"/>
              </a:rPr>
              <a:t>Example trading playbook 1: short France vs Spain, 10y</a:t>
            </a:r>
            <a:endParaRPr lang="en-US" sz="3200" dirty="0"/>
          </a:p>
        </p:txBody>
      </p:sp>
      <p:sp>
        <p:nvSpPr>
          <p:cNvPr id="3" name="Shape 1"/>
          <p:cNvSpPr/>
          <p:nvPr/>
        </p:nvSpPr>
        <p:spPr>
          <a:xfrm>
            <a:off x="812800" y="1941810"/>
            <a:ext cx="5515918" cy="0"/>
          </a:xfrm>
          <a:prstGeom prst="line">
            <a:avLst/>
          </a:prstGeom>
          <a:noFill/>
          <a:ln w="12700">
            <a:solidFill>
              <a:srgbClr val="A8322B"/>
            </a:solidFill>
            <a:prstDash val="solid"/>
          </a:ln>
        </p:spPr>
      </p:sp>
      <p:sp>
        <p:nvSpPr>
          <p:cNvPr id="4" name="Text 2"/>
          <p:cNvSpPr/>
          <p:nvPr/>
        </p:nvSpPr>
        <p:spPr>
          <a:xfrm>
            <a:off x="812800" y="2062460"/>
            <a:ext cx="1447800" cy="445691"/>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7078"/>
                </a:solidFill>
                <a:latin typeface="Inter" pitchFamily="34" charset="0"/>
                <a:ea typeface="Inter" pitchFamily="34" charset="-122"/>
                <a:cs typeface="Inter" pitchFamily="34" charset="-120"/>
              </a:rPr>
              <a:t>POSITION</a:t>
            </a:r>
            <a:endParaRPr lang="en-US" sz="1100" dirty="0"/>
          </a:p>
        </p:txBody>
      </p:sp>
      <p:sp>
        <p:nvSpPr>
          <p:cNvPr id="5" name="Text 3"/>
          <p:cNvSpPr/>
          <p:nvPr/>
        </p:nvSpPr>
        <p:spPr>
          <a:xfrm>
            <a:off x="2362200" y="2037060"/>
            <a:ext cx="408551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7202B"/>
                </a:solidFill>
                <a:latin typeface="Inter" pitchFamily="34" charset="0"/>
                <a:ea typeface="Inter" pitchFamily="34" charset="-122"/>
                <a:cs typeface="Inter" pitchFamily="34" charset="-120"/>
              </a:rPr>
              <a:t>Short 10y OAT, long 10y Bono (cash). Signals read on FR–DE</a:t>
            </a:r>
            <a:endParaRPr lang="en-US" sz="1300" dirty="0"/>
          </a:p>
        </p:txBody>
      </p:sp>
      <p:sp>
        <p:nvSpPr>
          <p:cNvPr id="6" name="Shape 4"/>
          <p:cNvSpPr/>
          <p:nvPr/>
        </p:nvSpPr>
        <p:spPr>
          <a:xfrm>
            <a:off x="812800" y="2574826"/>
            <a:ext cx="5515918" cy="0"/>
          </a:xfrm>
          <a:prstGeom prst="line">
            <a:avLst/>
          </a:prstGeom>
          <a:noFill/>
          <a:ln w="6350">
            <a:solidFill>
              <a:srgbClr val="DDD6CA"/>
            </a:solidFill>
            <a:prstDash val="solid"/>
          </a:ln>
        </p:spPr>
      </p:sp>
      <p:sp>
        <p:nvSpPr>
          <p:cNvPr id="7" name="Text 5"/>
          <p:cNvSpPr/>
          <p:nvPr/>
        </p:nvSpPr>
        <p:spPr>
          <a:xfrm>
            <a:off x="812800" y="2692301"/>
            <a:ext cx="1447800" cy="445691"/>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7078"/>
                </a:solidFill>
                <a:latin typeface="Inter" pitchFamily="34" charset="0"/>
                <a:ea typeface="Inter" pitchFamily="34" charset="-122"/>
                <a:cs typeface="Inter" pitchFamily="34" charset="-120"/>
              </a:rPr>
              <a:t>ENTRY</a:t>
            </a:r>
            <a:endParaRPr lang="en-US" sz="1100" dirty="0"/>
          </a:p>
        </p:txBody>
      </p:sp>
      <p:sp>
        <p:nvSpPr>
          <p:cNvPr id="8" name="Text 6"/>
          <p:cNvSpPr/>
          <p:nvPr/>
        </p:nvSpPr>
        <p:spPr>
          <a:xfrm>
            <a:off x="2362200" y="2666901"/>
            <a:ext cx="408551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7202B"/>
                </a:solidFill>
                <a:latin typeface="Inter" pitchFamily="34" charset="0"/>
                <a:ea typeface="Inter" pitchFamily="34" charset="-122"/>
                <a:cs typeface="Inter" pitchFamily="34" charset="-120"/>
              </a:rPr>
              <a:t>After an 8–11bp pullback from the FR–DE high: ~93–96 from 104 (FR–ES at 57)</a:t>
            </a:r>
            <a:endParaRPr lang="en-US" sz="1300" dirty="0"/>
          </a:p>
        </p:txBody>
      </p:sp>
      <p:sp>
        <p:nvSpPr>
          <p:cNvPr id="9" name="Shape 7"/>
          <p:cNvSpPr/>
          <p:nvPr/>
        </p:nvSpPr>
        <p:spPr>
          <a:xfrm>
            <a:off x="812800" y="3204666"/>
            <a:ext cx="5515918" cy="0"/>
          </a:xfrm>
          <a:prstGeom prst="line">
            <a:avLst/>
          </a:prstGeom>
          <a:noFill/>
          <a:ln w="6350">
            <a:solidFill>
              <a:srgbClr val="DDD6CA"/>
            </a:solidFill>
            <a:prstDash val="solid"/>
          </a:ln>
        </p:spPr>
      </p:sp>
      <p:sp>
        <p:nvSpPr>
          <p:cNvPr id="10" name="Text 8"/>
          <p:cNvSpPr/>
          <p:nvPr/>
        </p:nvSpPr>
        <p:spPr>
          <a:xfrm>
            <a:off x="812800" y="3322141"/>
            <a:ext cx="1447800" cy="445691"/>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7078"/>
                </a:solidFill>
                <a:latin typeface="Inter" pitchFamily="34" charset="0"/>
                <a:ea typeface="Inter" pitchFamily="34" charset="-122"/>
                <a:cs typeface="Inter" pitchFamily="34" charset="-120"/>
              </a:rPr>
              <a:t>TARGET</a:t>
            </a:r>
            <a:endParaRPr lang="en-US" sz="1100" dirty="0"/>
          </a:p>
        </p:txBody>
      </p:sp>
      <p:sp>
        <p:nvSpPr>
          <p:cNvPr id="11" name="Text 9"/>
          <p:cNvSpPr/>
          <p:nvPr/>
        </p:nvSpPr>
        <p:spPr>
          <a:xfrm>
            <a:off x="2362200" y="3296741"/>
            <a:ext cx="408551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7202B"/>
                </a:solidFill>
                <a:latin typeface="Inter" pitchFamily="34" charset="0"/>
                <a:ea typeface="Inter" pitchFamily="34" charset="-122"/>
                <a:cs typeface="Inter" pitchFamily="34" charset="-120"/>
              </a:rPr>
              <a:t>Prior FR–DE high, +8–11bp from the low; ≈ 7–8bp on FR–ES</a:t>
            </a:r>
            <a:endParaRPr lang="en-US" sz="1300" dirty="0"/>
          </a:p>
        </p:txBody>
      </p:sp>
      <p:sp>
        <p:nvSpPr>
          <p:cNvPr id="12" name="Shape 10"/>
          <p:cNvSpPr/>
          <p:nvPr/>
        </p:nvSpPr>
        <p:spPr>
          <a:xfrm>
            <a:off x="812800" y="3834507"/>
            <a:ext cx="5515918" cy="0"/>
          </a:xfrm>
          <a:prstGeom prst="line">
            <a:avLst/>
          </a:prstGeom>
          <a:noFill/>
          <a:ln w="6350">
            <a:solidFill>
              <a:srgbClr val="DDD6CA"/>
            </a:solidFill>
            <a:prstDash val="solid"/>
          </a:ln>
        </p:spPr>
      </p:sp>
      <p:sp>
        <p:nvSpPr>
          <p:cNvPr id="13" name="Text 11"/>
          <p:cNvSpPr/>
          <p:nvPr/>
        </p:nvSpPr>
        <p:spPr>
          <a:xfrm>
            <a:off x="812800" y="3951982"/>
            <a:ext cx="1447800" cy="222845"/>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7078"/>
                </a:solidFill>
                <a:latin typeface="Inter" pitchFamily="34" charset="0"/>
                <a:ea typeface="Inter" pitchFamily="34" charset="-122"/>
                <a:cs typeface="Inter" pitchFamily="34" charset="-120"/>
              </a:rPr>
              <a:t>STOP</a:t>
            </a:r>
            <a:endParaRPr lang="en-US" sz="1100" dirty="0"/>
          </a:p>
        </p:txBody>
      </p:sp>
      <p:sp>
        <p:nvSpPr>
          <p:cNvPr id="14" name="Text 12"/>
          <p:cNvSpPr/>
          <p:nvPr/>
        </p:nvSpPr>
        <p:spPr>
          <a:xfrm>
            <a:off x="2362200" y="3926582"/>
            <a:ext cx="4085513"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7202B"/>
                </a:solidFill>
                <a:latin typeface="Inter" pitchFamily="34" charset="0"/>
                <a:ea typeface="Inter" pitchFamily="34" charset="-122"/>
                <a:cs typeface="Inter" pitchFamily="34" charset="-120"/>
              </a:rPr>
              <a:t>FR–DE pullback beyond 12bp (~92)</a:t>
            </a:r>
            <a:endParaRPr lang="en-US" sz="1300" dirty="0"/>
          </a:p>
        </p:txBody>
      </p:sp>
      <p:sp>
        <p:nvSpPr>
          <p:cNvPr id="15" name="Shape 13"/>
          <p:cNvSpPr/>
          <p:nvPr/>
        </p:nvSpPr>
        <p:spPr>
          <a:xfrm>
            <a:off x="812800" y="4241502"/>
            <a:ext cx="5515918" cy="0"/>
          </a:xfrm>
          <a:prstGeom prst="line">
            <a:avLst/>
          </a:prstGeom>
          <a:noFill/>
          <a:ln w="6350">
            <a:solidFill>
              <a:srgbClr val="DDD6CA"/>
            </a:solidFill>
            <a:prstDash val="solid"/>
          </a:ln>
        </p:spPr>
      </p:sp>
      <p:sp>
        <p:nvSpPr>
          <p:cNvPr id="16" name="Text 14"/>
          <p:cNvSpPr/>
          <p:nvPr/>
        </p:nvSpPr>
        <p:spPr>
          <a:xfrm>
            <a:off x="812800" y="4358977"/>
            <a:ext cx="1447800" cy="445691"/>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7078"/>
                </a:solidFill>
                <a:latin typeface="Inter" pitchFamily="34" charset="0"/>
                <a:ea typeface="Inter" pitchFamily="34" charset="-122"/>
                <a:cs typeface="Inter" pitchFamily="34" charset="-120"/>
              </a:rPr>
              <a:t>WINDOW</a:t>
            </a:r>
            <a:endParaRPr lang="en-US" sz="1100" dirty="0"/>
          </a:p>
        </p:txBody>
      </p:sp>
      <p:sp>
        <p:nvSpPr>
          <p:cNvPr id="17" name="Text 15"/>
          <p:cNvSpPr/>
          <p:nvPr/>
        </p:nvSpPr>
        <p:spPr>
          <a:xfrm>
            <a:off x="2362200" y="4333577"/>
            <a:ext cx="408551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7202B"/>
                </a:solidFill>
                <a:latin typeface="Inter" pitchFamily="34" charset="0"/>
                <a:ea typeface="Inter" pitchFamily="34" charset="-122"/>
                <a:cs typeface="Inter" pitchFamily="34" charset="-120"/>
              </a:rPr>
              <a:t>Now to 17 Nov, ideally before the 20 Oct vote; repeats from January</a:t>
            </a:r>
            <a:endParaRPr lang="en-US" sz="1300" dirty="0"/>
          </a:p>
        </p:txBody>
      </p:sp>
      <p:sp>
        <p:nvSpPr>
          <p:cNvPr id="18" name="Shape 16"/>
          <p:cNvSpPr/>
          <p:nvPr/>
        </p:nvSpPr>
        <p:spPr>
          <a:xfrm>
            <a:off x="812800" y="4871343"/>
            <a:ext cx="5515918" cy="0"/>
          </a:xfrm>
          <a:prstGeom prst="line">
            <a:avLst/>
          </a:prstGeom>
          <a:noFill/>
          <a:ln w="6350">
            <a:solidFill>
              <a:srgbClr val="DDD6CA"/>
            </a:solidFill>
            <a:prstDash val="solid"/>
          </a:ln>
        </p:spPr>
      </p:sp>
      <p:sp>
        <p:nvSpPr>
          <p:cNvPr id="19" name="Shape 17"/>
          <p:cNvSpPr/>
          <p:nvPr/>
        </p:nvSpPr>
        <p:spPr>
          <a:xfrm>
            <a:off x="812800" y="5278338"/>
            <a:ext cx="5515918" cy="0"/>
          </a:xfrm>
          <a:prstGeom prst="line">
            <a:avLst/>
          </a:prstGeom>
          <a:noFill/>
          <a:ln w="6350">
            <a:solidFill>
              <a:srgbClr val="DDD6CA"/>
            </a:solidFill>
            <a:prstDash val="solid"/>
          </a:ln>
        </p:spPr>
      </p:sp>
      <p:sp>
        <p:nvSpPr>
          <p:cNvPr id="20" name="Text 18"/>
          <p:cNvSpPr/>
          <p:nvPr/>
        </p:nvSpPr>
        <p:spPr>
          <a:xfrm>
            <a:off x="812800" y="4988818"/>
            <a:ext cx="1447800" cy="222845"/>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7078"/>
                </a:solidFill>
                <a:latin typeface="Inter" pitchFamily="34" charset="0"/>
                <a:ea typeface="Inter" pitchFamily="34" charset="-122"/>
                <a:cs typeface="Inter" pitchFamily="34" charset="-120"/>
              </a:rPr>
              <a:t>CARRY</a:t>
            </a:r>
            <a:endParaRPr lang="en-US" sz="1100" dirty="0"/>
          </a:p>
        </p:txBody>
      </p:sp>
      <p:sp>
        <p:nvSpPr>
          <p:cNvPr id="21" name="Text 19"/>
          <p:cNvSpPr/>
          <p:nvPr/>
        </p:nvSpPr>
        <p:spPr>
          <a:xfrm>
            <a:off x="2362200" y="4963418"/>
            <a:ext cx="4085513"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7202B"/>
                </a:solidFill>
                <a:latin typeface="Inter" pitchFamily="34" charset="0"/>
                <a:ea typeface="Inter" pitchFamily="34" charset="-122"/>
                <a:cs typeface="Inter" pitchFamily="34" charset="-120"/>
              </a:rPr>
              <a:t>−2.6bp per quarter, carry plus roll</a:t>
            </a:r>
            <a:endParaRPr lang="en-US" sz="1300" dirty="0"/>
          </a:p>
        </p:txBody>
      </p:sp>
      <p:sp>
        <p:nvSpPr>
          <p:cNvPr id="22" name="Shape 20"/>
          <p:cNvSpPr/>
          <p:nvPr/>
        </p:nvSpPr>
        <p:spPr>
          <a:xfrm>
            <a:off x="6585893" y="1938635"/>
            <a:ext cx="4790083" cy="2109192"/>
          </a:xfrm>
          <a:prstGeom prst="roundRect">
            <a:avLst>
              <a:gd name="adj" fmla="val 3462"/>
            </a:avLst>
          </a:prstGeom>
          <a:solidFill>
            <a:srgbClr val="FBF9F5"/>
          </a:solidFill>
          <a:ln w="6350">
            <a:solidFill>
              <a:srgbClr val="DDD6CA"/>
            </a:solidFill>
            <a:prstDash val="solid"/>
          </a:ln>
        </p:spPr>
      </p:sp>
      <p:sp>
        <p:nvSpPr>
          <p:cNvPr id="23" name="Text 21"/>
          <p:cNvSpPr/>
          <p:nvPr/>
        </p:nvSpPr>
        <p:spPr>
          <a:xfrm>
            <a:off x="6792268" y="2132310"/>
            <a:ext cx="450865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02B"/>
                </a:solidFill>
                <a:latin typeface="Inter" pitchFamily="34" charset="0"/>
                <a:ea typeface="Inter" pitchFamily="34" charset="-122"/>
                <a:cs typeface="Inter" pitchFamily="34" charset="-120"/>
              </a:rPr>
              <a:t>Supporting evidence</a:t>
            </a:r>
            <a:endParaRPr lang="en-US" sz="1400" dirty="0"/>
          </a:p>
        </p:txBody>
      </p:sp>
      <p:sp>
        <p:nvSpPr>
          <p:cNvPr id="24" name="Text 22"/>
          <p:cNvSpPr/>
          <p:nvPr/>
        </p:nvSpPr>
        <p:spPr>
          <a:xfrm>
            <a:off x="6792268" y="2421830"/>
            <a:ext cx="450865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B"/>
                </a:solidFill>
                <a:latin typeface="Inter" pitchFamily="34" charset="0"/>
                <a:ea typeface="Inter" pitchFamily="34" charset="-122"/>
                <a:cs typeface="Inter" pitchFamily="34" charset="-120"/>
              </a:rPr>
              <a:t>Pullbacks under 12bp were followed by a new high in 14 of 16 cases since June 2024</a:t>
            </a:r>
            <a:endParaRPr lang="en-US" sz="1200" dirty="0"/>
          </a:p>
        </p:txBody>
      </p:sp>
      <p:sp>
        <p:nvSpPr>
          <p:cNvPr id="25" name="Text 23"/>
          <p:cNvSpPr/>
          <p:nvPr/>
        </p:nvSpPr>
        <p:spPr>
          <a:xfrm>
            <a:off x="6792268" y="2924671"/>
            <a:ext cx="450865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B"/>
                </a:solidFill>
                <a:latin typeface="Inter" pitchFamily="34" charset="0"/>
                <a:ea typeface="Inter" pitchFamily="34" charset="-122"/>
                <a:cs typeface="Inter" pitchFamily="34" charset="-120"/>
              </a:rPr>
              <a:t>Spain captured 45–86% of French moves in both regimes; Italy 4–62%</a:t>
            </a:r>
            <a:endParaRPr lang="en-US" sz="1200" dirty="0"/>
          </a:p>
        </p:txBody>
      </p:sp>
      <p:sp>
        <p:nvSpPr>
          <p:cNvPr id="26" name="Text 24"/>
          <p:cNvSpPr/>
          <p:nvPr/>
        </p:nvSpPr>
        <p:spPr>
          <a:xfrm>
            <a:off x="6792268" y="3427512"/>
            <a:ext cx="450865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B"/>
                </a:solidFill>
                <a:latin typeface="Inter" pitchFamily="34" charset="0"/>
                <a:ea typeface="Inter" pitchFamily="34" charset="-122"/>
                <a:cs typeface="Inter" pitchFamily="34" charset="-120"/>
              </a:rPr>
              <a:t>Ratings arithmetic leaves 11–31bp of widening before FR–IT reaches +25</a:t>
            </a:r>
            <a:endParaRPr lang="en-US" sz="1200" dirty="0"/>
          </a:p>
        </p:txBody>
      </p:sp>
      <p:sp>
        <p:nvSpPr>
          <p:cNvPr id="27" name="Shape 25"/>
          <p:cNvSpPr/>
          <p:nvPr/>
        </p:nvSpPr>
        <p:spPr>
          <a:xfrm>
            <a:off x="6582718" y="4203402"/>
            <a:ext cx="4796433" cy="1386681"/>
          </a:xfrm>
          <a:prstGeom prst="roundRect">
            <a:avLst>
              <a:gd name="adj" fmla="val 5495"/>
            </a:avLst>
          </a:prstGeom>
          <a:solidFill>
            <a:srgbClr val="17202B"/>
          </a:solidFill>
          <a:ln/>
        </p:spPr>
      </p:sp>
      <p:sp>
        <p:nvSpPr>
          <p:cNvPr id="28" name="Text 26"/>
          <p:cNvSpPr/>
          <p:nvPr/>
        </p:nvSpPr>
        <p:spPr>
          <a:xfrm>
            <a:off x="6785918" y="4393902"/>
            <a:ext cx="45217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59A92"/>
                </a:solidFill>
                <a:latin typeface="Inter" pitchFamily="34" charset="0"/>
                <a:ea typeface="Inter" pitchFamily="34" charset="-122"/>
                <a:cs typeface="Inter" pitchFamily="34" charset="-120"/>
              </a:rPr>
              <a:t>Where it fails</a:t>
            </a:r>
            <a:endParaRPr lang="en-US" sz="1400" dirty="0"/>
          </a:p>
        </p:txBody>
      </p:sp>
      <p:sp>
        <p:nvSpPr>
          <p:cNvPr id="29" name="Text 27"/>
          <p:cNvSpPr/>
          <p:nvPr/>
        </p:nvSpPr>
        <p:spPr>
          <a:xfrm>
            <a:off x="6785918" y="4683423"/>
            <a:ext cx="45217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1D8"/>
                </a:solidFill>
                <a:latin typeface="Inter" pitchFamily="34" charset="0"/>
                <a:ea typeface="Inter" pitchFamily="34" charset="-122"/>
                <a:cs typeface="Inter" pitchFamily="34" charset="-120"/>
              </a:rPr>
              <a:t>The budget clears first reading without censure, removing the catalyst</a:t>
            </a:r>
            <a:endParaRPr lang="en-US" sz="1200" dirty="0"/>
          </a:p>
        </p:txBody>
      </p:sp>
      <p:sp>
        <p:nvSpPr>
          <p:cNvPr id="30" name="Text 28"/>
          <p:cNvSpPr/>
          <p:nvPr/>
        </p:nvSpPr>
        <p:spPr>
          <a:xfrm>
            <a:off x="6785918" y="5186263"/>
            <a:ext cx="4521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1D8"/>
                </a:solidFill>
                <a:latin typeface="Inter" pitchFamily="34" charset="0"/>
                <a:ea typeface="Inter" pitchFamily="34" charset="-122"/>
                <a:cs typeface="Inter" pitchFamily="34" charset="-120"/>
              </a:rPr>
              <a:t>A pullback past 12bp marks a resolution drift, not a pause</a:t>
            </a:r>
            <a:endParaRPr lang="en-US" sz="1200" dirty="0"/>
          </a:p>
        </p:txBody>
      </p:sp>
      <p:sp>
        <p:nvSpPr>
          <p:cNvPr id="31" name="Text 2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Illustrative example, not a house view or recommendation. Levels as of 18 Sep 2026; calculations on 10y spreads.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7202B"/>
                </a:solidFill>
                <a:latin typeface="Source Serif 4" pitchFamily="34" charset="0"/>
                <a:ea typeface="Source Serif 4" pitchFamily="34" charset="-122"/>
                <a:cs typeface="Source Serif 4" pitchFamily="34" charset="-120"/>
              </a:rPr>
              <a:t>Example trading playbook 2: long France vs Germany, 10y</a:t>
            </a:r>
            <a:endParaRPr lang="en-US" sz="3200" dirty="0"/>
          </a:p>
        </p:txBody>
      </p:sp>
      <p:sp>
        <p:nvSpPr>
          <p:cNvPr id="3" name="Shape 1"/>
          <p:cNvSpPr/>
          <p:nvPr/>
        </p:nvSpPr>
        <p:spPr>
          <a:xfrm>
            <a:off x="812800" y="1941810"/>
            <a:ext cx="5515918" cy="0"/>
          </a:xfrm>
          <a:prstGeom prst="line">
            <a:avLst/>
          </a:prstGeom>
          <a:noFill/>
          <a:ln w="12700">
            <a:solidFill>
              <a:srgbClr val="2B5C8A"/>
            </a:solidFill>
            <a:prstDash val="solid"/>
          </a:ln>
        </p:spPr>
      </p:sp>
      <p:sp>
        <p:nvSpPr>
          <p:cNvPr id="4" name="Text 2"/>
          <p:cNvSpPr/>
          <p:nvPr/>
        </p:nvSpPr>
        <p:spPr>
          <a:xfrm>
            <a:off x="812800" y="2062460"/>
            <a:ext cx="1447800" cy="445691"/>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7078"/>
                </a:solidFill>
                <a:latin typeface="Inter" pitchFamily="34" charset="0"/>
                <a:ea typeface="Inter" pitchFamily="34" charset="-122"/>
                <a:cs typeface="Inter" pitchFamily="34" charset="-120"/>
              </a:rPr>
              <a:t>POSITION</a:t>
            </a:r>
            <a:endParaRPr lang="en-US" sz="1100" dirty="0"/>
          </a:p>
        </p:txBody>
      </p:sp>
      <p:sp>
        <p:nvSpPr>
          <p:cNvPr id="5" name="Text 3"/>
          <p:cNvSpPr/>
          <p:nvPr/>
        </p:nvSpPr>
        <p:spPr>
          <a:xfrm>
            <a:off x="2362200" y="2037060"/>
            <a:ext cx="408551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7202B"/>
                </a:solidFill>
                <a:latin typeface="Inter" pitchFamily="34" charset="0"/>
                <a:ea typeface="Inter" pitchFamily="34" charset="-122"/>
                <a:cs typeface="Inter" pitchFamily="34" charset="-120"/>
              </a:rPr>
              <a:t>Long 10y OAT, short 10y Bund (cash or futures). Entries read on FR–IT</a:t>
            </a:r>
            <a:endParaRPr lang="en-US" sz="1300" dirty="0"/>
          </a:p>
        </p:txBody>
      </p:sp>
      <p:sp>
        <p:nvSpPr>
          <p:cNvPr id="6" name="Shape 4"/>
          <p:cNvSpPr/>
          <p:nvPr/>
        </p:nvSpPr>
        <p:spPr>
          <a:xfrm>
            <a:off x="812800" y="2574826"/>
            <a:ext cx="5515918" cy="0"/>
          </a:xfrm>
          <a:prstGeom prst="line">
            <a:avLst/>
          </a:prstGeom>
          <a:noFill/>
          <a:ln w="6350">
            <a:solidFill>
              <a:srgbClr val="DDD6CA"/>
            </a:solidFill>
            <a:prstDash val="solid"/>
          </a:ln>
        </p:spPr>
      </p:sp>
      <p:sp>
        <p:nvSpPr>
          <p:cNvPr id="7" name="Text 5"/>
          <p:cNvSpPr/>
          <p:nvPr/>
        </p:nvSpPr>
        <p:spPr>
          <a:xfrm>
            <a:off x="812800" y="2692301"/>
            <a:ext cx="1447800" cy="222845"/>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7078"/>
                </a:solidFill>
                <a:latin typeface="Inter" pitchFamily="34" charset="0"/>
                <a:ea typeface="Inter" pitchFamily="34" charset="-122"/>
                <a:cs typeface="Inter" pitchFamily="34" charset="-120"/>
              </a:rPr>
              <a:t>ENTRY 1</a:t>
            </a:r>
            <a:endParaRPr lang="en-US" sz="1100" dirty="0"/>
          </a:p>
        </p:txBody>
      </p:sp>
      <p:sp>
        <p:nvSpPr>
          <p:cNvPr id="8" name="Text 6"/>
          <p:cNvSpPr/>
          <p:nvPr/>
        </p:nvSpPr>
        <p:spPr>
          <a:xfrm>
            <a:off x="2362200" y="2666901"/>
            <a:ext cx="4085513"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7202B"/>
                </a:solidFill>
                <a:latin typeface="Inter" pitchFamily="34" charset="0"/>
                <a:ea typeface="Inter" pitchFamily="34" charset="-122"/>
                <a:cs typeface="Inter" pitchFamily="34" charset="-120"/>
              </a:rPr>
              <a:t>Half size at FR–IT +30 (≈ 130 on FR–DE)</a:t>
            </a:r>
            <a:endParaRPr lang="en-US" sz="1300" dirty="0"/>
          </a:p>
        </p:txBody>
      </p:sp>
      <p:sp>
        <p:nvSpPr>
          <p:cNvPr id="9" name="Shape 7"/>
          <p:cNvSpPr/>
          <p:nvPr/>
        </p:nvSpPr>
        <p:spPr>
          <a:xfrm>
            <a:off x="812800" y="2981821"/>
            <a:ext cx="5515918" cy="0"/>
          </a:xfrm>
          <a:prstGeom prst="line">
            <a:avLst/>
          </a:prstGeom>
          <a:noFill/>
          <a:ln w="6350">
            <a:solidFill>
              <a:srgbClr val="DDD6CA"/>
            </a:solidFill>
            <a:prstDash val="solid"/>
          </a:ln>
        </p:spPr>
      </p:sp>
      <p:sp>
        <p:nvSpPr>
          <p:cNvPr id="10" name="Text 8"/>
          <p:cNvSpPr/>
          <p:nvPr/>
        </p:nvSpPr>
        <p:spPr>
          <a:xfrm>
            <a:off x="812800" y="3099296"/>
            <a:ext cx="1447800" cy="445691"/>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7078"/>
                </a:solidFill>
                <a:latin typeface="Inter" pitchFamily="34" charset="0"/>
                <a:ea typeface="Inter" pitchFamily="34" charset="-122"/>
                <a:cs typeface="Inter" pitchFamily="34" charset="-120"/>
              </a:rPr>
              <a:t>ENTRY 2</a:t>
            </a:r>
            <a:endParaRPr lang="en-US" sz="1100" dirty="0"/>
          </a:p>
        </p:txBody>
      </p:sp>
      <p:sp>
        <p:nvSpPr>
          <p:cNvPr id="11" name="Text 9"/>
          <p:cNvSpPr/>
          <p:nvPr/>
        </p:nvSpPr>
        <p:spPr>
          <a:xfrm>
            <a:off x="2362200" y="3073896"/>
            <a:ext cx="408551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7202B"/>
                </a:solidFill>
                <a:latin typeface="Inter" pitchFamily="34" charset="0"/>
                <a:ea typeface="Inter" pitchFamily="34" charset="-122"/>
                <a:cs typeface="Inter" pitchFamily="34" charset="-120"/>
              </a:rPr>
              <a:t>Half at FR–IT +45 (≈ 150), or on a political capitulation signal once above +25, whichever first</a:t>
            </a:r>
            <a:endParaRPr lang="en-US" sz="1300" dirty="0"/>
          </a:p>
        </p:txBody>
      </p:sp>
      <p:sp>
        <p:nvSpPr>
          <p:cNvPr id="12" name="Shape 10"/>
          <p:cNvSpPr/>
          <p:nvPr/>
        </p:nvSpPr>
        <p:spPr>
          <a:xfrm>
            <a:off x="812800" y="3611662"/>
            <a:ext cx="5515918" cy="0"/>
          </a:xfrm>
          <a:prstGeom prst="line">
            <a:avLst/>
          </a:prstGeom>
          <a:noFill/>
          <a:ln w="6350">
            <a:solidFill>
              <a:srgbClr val="DDD6CA"/>
            </a:solidFill>
            <a:prstDash val="solid"/>
          </a:ln>
        </p:spPr>
      </p:sp>
      <p:sp>
        <p:nvSpPr>
          <p:cNvPr id="13" name="Text 11"/>
          <p:cNvSpPr/>
          <p:nvPr/>
        </p:nvSpPr>
        <p:spPr>
          <a:xfrm>
            <a:off x="812800" y="3729137"/>
            <a:ext cx="1447800" cy="445691"/>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7078"/>
                </a:solidFill>
                <a:latin typeface="Inter" pitchFamily="34" charset="0"/>
                <a:ea typeface="Inter" pitchFamily="34" charset="-122"/>
                <a:cs typeface="Inter" pitchFamily="34" charset="-120"/>
              </a:rPr>
              <a:t>TARGET</a:t>
            </a:r>
            <a:endParaRPr lang="en-US" sz="1100" dirty="0"/>
          </a:p>
        </p:txBody>
      </p:sp>
      <p:sp>
        <p:nvSpPr>
          <p:cNvPr id="14" name="Text 12"/>
          <p:cNvSpPr/>
          <p:nvPr/>
        </p:nvSpPr>
        <p:spPr>
          <a:xfrm>
            <a:off x="2362200" y="3703737"/>
            <a:ext cx="408551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7202B"/>
                </a:solidFill>
                <a:latin typeface="Inter" pitchFamily="34" charset="0"/>
                <a:ea typeface="Inter" pitchFamily="34" charset="-122"/>
                <a:cs typeface="Inter" pitchFamily="34" charset="-120"/>
              </a:rPr>
              <a:t>Post-resolution drift of 12–26bp over one to four months</a:t>
            </a:r>
            <a:endParaRPr lang="en-US" sz="1300" dirty="0"/>
          </a:p>
        </p:txBody>
      </p:sp>
      <p:sp>
        <p:nvSpPr>
          <p:cNvPr id="15" name="Shape 13"/>
          <p:cNvSpPr/>
          <p:nvPr/>
        </p:nvSpPr>
        <p:spPr>
          <a:xfrm>
            <a:off x="812800" y="4241502"/>
            <a:ext cx="5515918" cy="0"/>
          </a:xfrm>
          <a:prstGeom prst="line">
            <a:avLst/>
          </a:prstGeom>
          <a:noFill/>
          <a:ln w="6350">
            <a:solidFill>
              <a:srgbClr val="DDD6CA"/>
            </a:solidFill>
            <a:prstDash val="solid"/>
          </a:ln>
        </p:spPr>
      </p:sp>
      <p:sp>
        <p:nvSpPr>
          <p:cNvPr id="16" name="Text 14"/>
          <p:cNvSpPr/>
          <p:nvPr/>
        </p:nvSpPr>
        <p:spPr>
          <a:xfrm>
            <a:off x="812800" y="4358977"/>
            <a:ext cx="1447800" cy="445691"/>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7078"/>
                </a:solidFill>
                <a:latin typeface="Inter" pitchFamily="34" charset="0"/>
                <a:ea typeface="Inter" pitchFamily="34" charset="-122"/>
                <a:cs typeface="Inter" pitchFamily="34" charset="-120"/>
              </a:rPr>
              <a:t>STOP</a:t>
            </a:r>
            <a:endParaRPr lang="en-US" sz="1100" dirty="0"/>
          </a:p>
        </p:txBody>
      </p:sp>
      <p:sp>
        <p:nvSpPr>
          <p:cNvPr id="17" name="Text 15"/>
          <p:cNvSpPr/>
          <p:nvPr/>
        </p:nvSpPr>
        <p:spPr>
          <a:xfrm>
            <a:off x="2362200" y="4333577"/>
            <a:ext cx="408551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7202B"/>
                </a:solidFill>
                <a:latin typeface="Inter" pitchFamily="34" charset="0"/>
                <a:ea typeface="Inter" pitchFamily="34" charset="-122"/>
                <a:cs typeface="Inter" pitchFamily="34" charset="-120"/>
              </a:rPr>
              <a:t>Euro-area repricing: Italy widening more than France</a:t>
            </a:r>
            <a:endParaRPr lang="en-US" sz="1300" dirty="0"/>
          </a:p>
        </p:txBody>
      </p:sp>
      <p:sp>
        <p:nvSpPr>
          <p:cNvPr id="18" name="Shape 16"/>
          <p:cNvSpPr/>
          <p:nvPr/>
        </p:nvSpPr>
        <p:spPr>
          <a:xfrm>
            <a:off x="812800" y="4871343"/>
            <a:ext cx="5515918" cy="0"/>
          </a:xfrm>
          <a:prstGeom prst="line">
            <a:avLst/>
          </a:prstGeom>
          <a:noFill/>
          <a:ln w="6350">
            <a:solidFill>
              <a:srgbClr val="DDD6CA"/>
            </a:solidFill>
            <a:prstDash val="solid"/>
          </a:ln>
        </p:spPr>
      </p:sp>
      <p:sp>
        <p:nvSpPr>
          <p:cNvPr id="19" name="Shape 17"/>
          <p:cNvSpPr/>
          <p:nvPr/>
        </p:nvSpPr>
        <p:spPr>
          <a:xfrm>
            <a:off x="812800" y="5278338"/>
            <a:ext cx="5515918" cy="0"/>
          </a:xfrm>
          <a:prstGeom prst="line">
            <a:avLst/>
          </a:prstGeom>
          <a:noFill/>
          <a:ln w="6350">
            <a:solidFill>
              <a:srgbClr val="DDD6CA"/>
            </a:solidFill>
            <a:prstDash val="solid"/>
          </a:ln>
        </p:spPr>
      </p:sp>
      <p:sp>
        <p:nvSpPr>
          <p:cNvPr id="20" name="Text 18"/>
          <p:cNvSpPr/>
          <p:nvPr/>
        </p:nvSpPr>
        <p:spPr>
          <a:xfrm>
            <a:off x="812800" y="4988818"/>
            <a:ext cx="1447800" cy="222845"/>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7078"/>
                </a:solidFill>
                <a:latin typeface="Inter" pitchFamily="34" charset="0"/>
                <a:ea typeface="Inter" pitchFamily="34" charset="-122"/>
                <a:cs typeface="Inter" pitchFamily="34" charset="-120"/>
              </a:rPr>
              <a:t>CARRY</a:t>
            </a:r>
            <a:endParaRPr lang="en-US" sz="1100" dirty="0"/>
          </a:p>
        </p:txBody>
      </p:sp>
      <p:sp>
        <p:nvSpPr>
          <p:cNvPr id="21" name="Text 19"/>
          <p:cNvSpPr/>
          <p:nvPr/>
        </p:nvSpPr>
        <p:spPr>
          <a:xfrm>
            <a:off x="2362200" y="4963418"/>
            <a:ext cx="4085513"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7202B"/>
                </a:solidFill>
                <a:latin typeface="Inter" pitchFamily="34" charset="0"/>
                <a:ea typeface="Inter" pitchFamily="34" charset="-122"/>
                <a:cs typeface="Inter" pitchFamily="34" charset="-120"/>
              </a:rPr>
              <a:t>+6.6bp per quarter at 130, +7.3bp at 150</a:t>
            </a:r>
            <a:endParaRPr lang="en-US" sz="1300" dirty="0"/>
          </a:p>
        </p:txBody>
      </p:sp>
      <p:sp>
        <p:nvSpPr>
          <p:cNvPr id="22" name="Shape 20"/>
          <p:cNvSpPr/>
          <p:nvPr/>
        </p:nvSpPr>
        <p:spPr>
          <a:xfrm>
            <a:off x="6585893" y="1938635"/>
            <a:ext cx="4790083" cy="1895872"/>
          </a:xfrm>
          <a:prstGeom prst="roundRect">
            <a:avLst>
              <a:gd name="adj" fmla="val 3852"/>
            </a:avLst>
          </a:prstGeom>
          <a:solidFill>
            <a:srgbClr val="FBF9F5"/>
          </a:solidFill>
          <a:ln w="6350">
            <a:solidFill>
              <a:srgbClr val="DDD6CA"/>
            </a:solidFill>
            <a:prstDash val="solid"/>
          </a:ln>
        </p:spPr>
      </p:sp>
      <p:sp>
        <p:nvSpPr>
          <p:cNvPr id="23" name="Text 21"/>
          <p:cNvSpPr/>
          <p:nvPr/>
        </p:nvSpPr>
        <p:spPr>
          <a:xfrm>
            <a:off x="6792268" y="2132310"/>
            <a:ext cx="450865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02B"/>
                </a:solidFill>
                <a:latin typeface="Inter" pitchFamily="34" charset="0"/>
                <a:ea typeface="Inter" pitchFamily="34" charset="-122"/>
                <a:cs typeface="Inter" pitchFamily="34" charset="-120"/>
              </a:rPr>
              <a:t>Supporting evidence</a:t>
            </a:r>
            <a:endParaRPr lang="en-US" sz="1400" dirty="0"/>
          </a:p>
        </p:txBody>
      </p:sp>
      <p:sp>
        <p:nvSpPr>
          <p:cNvPr id="24" name="Text 22"/>
          <p:cNvSpPr/>
          <p:nvPr/>
        </p:nvSpPr>
        <p:spPr>
          <a:xfrm>
            <a:off x="6792268" y="2421830"/>
            <a:ext cx="450865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B"/>
                </a:solidFill>
                <a:latin typeface="Inter" pitchFamily="34" charset="0"/>
                <a:ea typeface="Inter" pitchFamily="34" charset="-122"/>
                <a:cs typeface="Inter" pitchFamily="34" charset="-120"/>
              </a:rPr>
              <a:t>Beyond +25–45 over Italy, the spread exceeds what expected ratings plus trajectory justify</a:t>
            </a:r>
            <a:endParaRPr lang="en-US" sz="1200" dirty="0"/>
          </a:p>
        </p:txBody>
      </p:sp>
      <p:sp>
        <p:nvSpPr>
          <p:cNvPr id="25" name="Text 23"/>
          <p:cNvSpPr/>
          <p:nvPr/>
        </p:nvSpPr>
        <p:spPr>
          <a:xfrm>
            <a:off x="6792268" y="2924671"/>
            <a:ext cx="450865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B"/>
                </a:solidFill>
                <a:latin typeface="Inter" pitchFamily="34" charset="0"/>
                <a:ea typeface="Inter" pitchFamily="34" charset="-122"/>
                <a:cs typeface="Inter" pitchFamily="34" charset="-120"/>
              </a:rPr>
              <a:t>Italian precedent: spreads turned on political signals about a month before the formal deal</a:t>
            </a:r>
            <a:endParaRPr lang="en-US" sz="1200" dirty="0"/>
          </a:p>
        </p:txBody>
      </p:sp>
      <p:sp>
        <p:nvSpPr>
          <p:cNvPr id="26" name="Text 24"/>
          <p:cNvSpPr/>
          <p:nvPr/>
        </p:nvSpPr>
        <p:spPr>
          <a:xfrm>
            <a:off x="6792268" y="3427512"/>
            <a:ext cx="45086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B"/>
                </a:solidFill>
                <a:latin typeface="Inter" pitchFamily="34" charset="0"/>
                <a:ea typeface="Inter" pitchFamily="34" charset="-122"/>
                <a:cs typeface="Inter" pitchFamily="34" charset="-120"/>
              </a:rPr>
              <a:t>Carry covers about half a quarterly standard deviation at 130</a:t>
            </a:r>
            <a:endParaRPr lang="en-US" sz="1200" dirty="0"/>
          </a:p>
        </p:txBody>
      </p:sp>
      <p:sp>
        <p:nvSpPr>
          <p:cNvPr id="27" name="Shape 25"/>
          <p:cNvSpPr/>
          <p:nvPr/>
        </p:nvSpPr>
        <p:spPr>
          <a:xfrm>
            <a:off x="6582718" y="3990082"/>
            <a:ext cx="4796433" cy="1600002"/>
          </a:xfrm>
          <a:prstGeom prst="roundRect">
            <a:avLst>
              <a:gd name="adj" fmla="val 4762"/>
            </a:avLst>
          </a:prstGeom>
          <a:solidFill>
            <a:srgbClr val="17202B"/>
          </a:solidFill>
          <a:ln/>
        </p:spPr>
      </p:sp>
      <p:sp>
        <p:nvSpPr>
          <p:cNvPr id="28" name="Text 26"/>
          <p:cNvSpPr/>
          <p:nvPr/>
        </p:nvSpPr>
        <p:spPr>
          <a:xfrm>
            <a:off x="6785918" y="4180582"/>
            <a:ext cx="45217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59A92"/>
                </a:solidFill>
                <a:latin typeface="Inter" pitchFamily="34" charset="0"/>
                <a:ea typeface="Inter" pitchFamily="34" charset="-122"/>
                <a:cs typeface="Inter" pitchFamily="34" charset="-120"/>
              </a:rPr>
              <a:t>Where it fails</a:t>
            </a:r>
            <a:endParaRPr lang="en-US" sz="1400" dirty="0"/>
          </a:p>
        </p:txBody>
      </p:sp>
      <p:sp>
        <p:nvSpPr>
          <p:cNvPr id="29" name="Text 27"/>
          <p:cNvSpPr/>
          <p:nvPr/>
        </p:nvSpPr>
        <p:spPr>
          <a:xfrm>
            <a:off x="6785918" y="4470102"/>
            <a:ext cx="45217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1D8"/>
                </a:solidFill>
                <a:latin typeface="Inter" pitchFamily="34" charset="0"/>
                <a:ea typeface="Inter" pitchFamily="34" charset="-122"/>
                <a:cs typeface="Inter" pitchFamily="34" charset="-120"/>
              </a:rPr>
              <a:t>An ECB-confrontation scenario revives the June 2024 reflex and Bunds rally</a:t>
            </a:r>
            <a:endParaRPr lang="en-US" sz="1200" dirty="0"/>
          </a:p>
        </p:txBody>
      </p:sp>
      <p:sp>
        <p:nvSpPr>
          <p:cNvPr id="30" name="Text 28"/>
          <p:cNvSpPr/>
          <p:nvPr/>
        </p:nvSpPr>
        <p:spPr>
          <a:xfrm>
            <a:off x="6785918" y="4972943"/>
            <a:ext cx="45217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1D8"/>
                </a:solidFill>
                <a:latin typeface="Inter" pitchFamily="34" charset="0"/>
                <a:ea typeface="Inter" pitchFamily="34" charset="-122"/>
                <a:cs typeface="Inter" pitchFamily="34" charset="-120"/>
              </a:rPr>
              <a:t>Fading swing highs failed 15 of 21 times since 2024: entries are level-triggered only</a:t>
            </a:r>
            <a:endParaRPr lang="en-US" sz="1200" dirty="0"/>
          </a:p>
        </p:txBody>
      </p:sp>
      <p:sp>
        <p:nvSpPr>
          <p:cNvPr id="31" name="Text 2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Illustrative example, not a house view or recommendation. Levels as of 18 Sep 2026; calculations on 10y spreads.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F5F2EC"/>
                </a:solidFill>
                <a:latin typeface="Source Serif 4" pitchFamily="34" charset="0"/>
                <a:ea typeface="Source Serif 4" pitchFamily="34" charset="-122"/>
                <a:cs typeface="Source Serif 4" pitchFamily="34" charset="-120"/>
              </a:rPr>
              <a:t>Key uncertainties and indicators to monitor</a:t>
            </a:r>
            <a:endParaRPr lang="en-US" sz="3200" dirty="0"/>
          </a:p>
        </p:txBody>
      </p:sp>
      <p:sp>
        <p:nvSpPr>
          <p:cNvPr id="3" name="Text 1"/>
          <p:cNvSpPr/>
          <p:nvPr/>
        </p:nvSpPr>
        <p:spPr>
          <a:xfrm>
            <a:off x="812800" y="1564630"/>
            <a:ext cx="5284724"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9FC0E0"/>
                </a:solidFill>
                <a:latin typeface="Inter" pitchFamily="34" charset="0"/>
                <a:ea typeface="Inter" pitchFamily="34" charset="-122"/>
                <a:cs typeface="Inter" pitchFamily="34" charset="-120"/>
              </a:rPr>
              <a:t>INDICATORS</a:t>
            </a:r>
            <a:endParaRPr lang="en-US" sz="1300" dirty="0"/>
          </a:p>
        </p:txBody>
      </p:sp>
      <p:sp>
        <p:nvSpPr>
          <p:cNvPr id="4" name="Shape 2"/>
          <p:cNvSpPr/>
          <p:nvPr/>
        </p:nvSpPr>
        <p:spPr>
          <a:xfrm>
            <a:off x="812800" y="1938635"/>
            <a:ext cx="5130800" cy="0"/>
          </a:xfrm>
          <a:prstGeom prst="line">
            <a:avLst/>
          </a:prstGeom>
          <a:noFill/>
          <a:ln w="6350">
            <a:solidFill>
              <a:srgbClr val="3A4553"/>
            </a:solidFill>
            <a:prstDash val="solid"/>
          </a:ln>
        </p:spPr>
      </p:sp>
      <p:sp>
        <p:nvSpPr>
          <p:cNvPr id="5" name="Text 3"/>
          <p:cNvSpPr/>
          <p:nvPr/>
        </p:nvSpPr>
        <p:spPr>
          <a:xfrm>
            <a:off x="812800" y="2043410"/>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2EC"/>
                </a:solidFill>
                <a:latin typeface="Inter" pitchFamily="34" charset="0"/>
                <a:ea typeface="Inter" pitchFamily="34" charset="-122"/>
                <a:cs typeface="Inter" pitchFamily="34" charset="-120"/>
              </a:rPr>
              <a:t>Budget passage</a:t>
            </a:r>
            <a:endParaRPr lang="en-US" sz="1400" dirty="0"/>
          </a:p>
        </p:txBody>
      </p:sp>
      <p:sp>
        <p:nvSpPr>
          <p:cNvPr id="6" name="Text 4"/>
          <p:cNvSpPr/>
          <p:nvPr/>
        </p:nvSpPr>
        <p:spPr>
          <a:xfrm>
            <a:off x="812800" y="2294830"/>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4BB"/>
                </a:solidFill>
                <a:latin typeface="Inter" pitchFamily="34" charset="0"/>
                <a:ea typeface="Inter" pitchFamily="34" charset="-122"/>
                <a:cs typeface="Inter" pitchFamily="34" charset="-120"/>
              </a:rPr>
              <a:t>20 Oct and 17 Nov votes; use of 49.3; censure motions</a:t>
            </a:r>
            <a:endParaRPr lang="en-US" sz="1200" dirty="0"/>
          </a:p>
        </p:txBody>
      </p:sp>
      <p:sp>
        <p:nvSpPr>
          <p:cNvPr id="7" name="Shape 5"/>
          <p:cNvSpPr/>
          <p:nvPr/>
        </p:nvSpPr>
        <p:spPr>
          <a:xfrm>
            <a:off x="812800" y="2651026"/>
            <a:ext cx="5130800" cy="0"/>
          </a:xfrm>
          <a:prstGeom prst="line">
            <a:avLst/>
          </a:prstGeom>
          <a:noFill/>
          <a:ln w="6350">
            <a:solidFill>
              <a:srgbClr val="3A4553"/>
            </a:solidFill>
            <a:prstDash val="solid"/>
          </a:ln>
        </p:spPr>
      </p:sp>
      <p:sp>
        <p:nvSpPr>
          <p:cNvPr id="8" name="Text 6"/>
          <p:cNvSpPr/>
          <p:nvPr/>
        </p:nvSpPr>
        <p:spPr>
          <a:xfrm>
            <a:off x="812800" y="2755801"/>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2EC"/>
                </a:solidFill>
                <a:latin typeface="Inter" pitchFamily="34" charset="0"/>
                <a:ea typeface="Inter" pitchFamily="34" charset="-122"/>
                <a:cs typeface="Inter" pitchFamily="34" charset="-120"/>
              </a:rPr>
              <a:t>Rating actions</a:t>
            </a:r>
            <a:endParaRPr lang="en-US" sz="1400" dirty="0"/>
          </a:p>
        </p:txBody>
      </p:sp>
      <p:sp>
        <p:nvSpPr>
          <p:cNvPr id="9" name="Text 7"/>
          <p:cNvSpPr/>
          <p:nvPr/>
        </p:nvSpPr>
        <p:spPr>
          <a:xfrm>
            <a:off x="812800" y="300722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4BB"/>
                </a:solidFill>
                <a:latin typeface="Inter" pitchFamily="34" charset="0"/>
                <a:ea typeface="Inter" pitchFamily="34" charset="-122"/>
                <a:cs typeface="Inter" pitchFamily="34" charset="-120"/>
              </a:rPr>
              <a:t>Moody's 23 Oct, S&amp;P 27 Nov; any Italian upgrade</a:t>
            </a:r>
            <a:endParaRPr lang="en-US" sz="1200" dirty="0"/>
          </a:p>
        </p:txBody>
      </p:sp>
      <p:sp>
        <p:nvSpPr>
          <p:cNvPr id="10" name="Shape 8"/>
          <p:cNvSpPr/>
          <p:nvPr/>
        </p:nvSpPr>
        <p:spPr>
          <a:xfrm>
            <a:off x="812800" y="3363416"/>
            <a:ext cx="5130800" cy="0"/>
          </a:xfrm>
          <a:prstGeom prst="line">
            <a:avLst/>
          </a:prstGeom>
          <a:noFill/>
          <a:ln w="6350">
            <a:solidFill>
              <a:srgbClr val="3A4553"/>
            </a:solidFill>
            <a:prstDash val="solid"/>
          </a:ln>
        </p:spPr>
      </p:sp>
      <p:sp>
        <p:nvSpPr>
          <p:cNvPr id="11" name="Text 9"/>
          <p:cNvSpPr/>
          <p:nvPr/>
        </p:nvSpPr>
        <p:spPr>
          <a:xfrm>
            <a:off x="812800" y="3468191"/>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2EC"/>
                </a:solidFill>
                <a:latin typeface="Inter" pitchFamily="34" charset="0"/>
                <a:ea typeface="Inter" pitchFamily="34" charset="-122"/>
                <a:cs typeface="Inter" pitchFamily="34" charset="-120"/>
              </a:rPr>
              <a:t>Italy's beta to France</a:t>
            </a:r>
            <a:endParaRPr lang="en-US" sz="1400" dirty="0"/>
          </a:p>
        </p:txBody>
      </p:sp>
      <p:sp>
        <p:nvSpPr>
          <p:cNvPr id="12" name="Text 10"/>
          <p:cNvSpPr/>
          <p:nvPr/>
        </p:nvSpPr>
        <p:spPr>
          <a:xfrm>
            <a:off x="812800" y="3719612"/>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4BB"/>
                </a:solidFill>
                <a:latin typeface="Inter" pitchFamily="34" charset="0"/>
                <a:ea typeface="Inter" pitchFamily="34" charset="-122"/>
                <a:cs typeface="Inter" pitchFamily="34" charset="-120"/>
              </a:rPr>
              <a:t>A rising share of French moves showing up in BTPs signals contagion</a:t>
            </a:r>
            <a:endParaRPr lang="en-US" sz="1200" dirty="0"/>
          </a:p>
        </p:txBody>
      </p:sp>
      <p:sp>
        <p:nvSpPr>
          <p:cNvPr id="13" name="Shape 11"/>
          <p:cNvSpPr/>
          <p:nvPr/>
        </p:nvSpPr>
        <p:spPr>
          <a:xfrm>
            <a:off x="812800" y="4075807"/>
            <a:ext cx="5130800" cy="0"/>
          </a:xfrm>
          <a:prstGeom prst="line">
            <a:avLst/>
          </a:prstGeom>
          <a:noFill/>
          <a:ln w="6350">
            <a:solidFill>
              <a:srgbClr val="3A4553"/>
            </a:solidFill>
            <a:prstDash val="solid"/>
          </a:ln>
        </p:spPr>
      </p:sp>
      <p:sp>
        <p:nvSpPr>
          <p:cNvPr id="14" name="Text 12"/>
          <p:cNvSpPr/>
          <p:nvPr/>
        </p:nvSpPr>
        <p:spPr>
          <a:xfrm>
            <a:off x="812800" y="4180582"/>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2EC"/>
                </a:solidFill>
                <a:latin typeface="Inter" pitchFamily="34" charset="0"/>
                <a:ea typeface="Inter" pitchFamily="34" charset="-122"/>
                <a:cs typeface="Inter" pitchFamily="34" charset="-120"/>
              </a:rPr>
              <a:t>Election configuration</a:t>
            </a:r>
            <a:endParaRPr lang="en-US" sz="1400" dirty="0"/>
          </a:p>
        </p:txBody>
      </p:sp>
      <p:sp>
        <p:nvSpPr>
          <p:cNvPr id="15" name="Text 13"/>
          <p:cNvSpPr/>
          <p:nvPr/>
        </p:nvSpPr>
        <p:spPr>
          <a:xfrm>
            <a:off x="812800" y="4432002"/>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4BB"/>
                </a:solidFill>
                <a:latin typeface="Inter" pitchFamily="34" charset="0"/>
                <a:ea typeface="Inter" pitchFamily="34" charset="-122"/>
                <a:cs typeface="Inter" pitchFamily="34" charset="-120"/>
              </a:rPr>
              <a:t>Race for second place; cassation ruling; published costings</a:t>
            </a:r>
            <a:endParaRPr lang="en-US" sz="1200" dirty="0"/>
          </a:p>
        </p:txBody>
      </p:sp>
      <p:sp>
        <p:nvSpPr>
          <p:cNvPr id="16" name="Text 14"/>
          <p:cNvSpPr/>
          <p:nvPr/>
        </p:nvSpPr>
        <p:spPr>
          <a:xfrm>
            <a:off x="6248400" y="1564630"/>
            <a:ext cx="5284724"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59A92"/>
                </a:solidFill>
                <a:latin typeface="Inter" pitchFamily="34" charset="0"/>
                <a:ea typeface="Inter" pitchFamily="34" charset="-122"/>
                <a:cs typeface="Inter" pitchFamily="34" charset="-120"/>
              </a:rPr>
              <a:t>WHAT WOULD CHANGE THE PICTURE</a:t>
            </a:r>
            <a:endParaRPr lang="en-US" sz="1300" dirty="0"/>
          </a:p>
        </p:txBody>
      </p:sp>
      <p:sp>
        <p:nvSpPr>
          <p:cNvPr id="17" name="Shape 15"/>
          <p:cNvSpPr/>
          <p:nvPr/>
        </p:nvSpPr>
        <p:spPr>
          <a:xfrm>
            <a:off x="6248400" y="1938635"/>
            <a:ext cx="5130800" cy="0"/>
          </a:xfrm>
          <a:prstGeom prst="line">
            <a:avLst/>
          </a:prstGeom>
          <a:noFill/>
          <a:ln w="6350">
            <a:solidFill>
              <a:srgbClr val="3A4553"/>
            </a:solidFill>
            <a:prstDash val="solid"/>
          </a:ln>
        </p:spPr>
      </p:sp>
      <p:sp>
        <p:nvSpPr>
          <p:cNvPr id="18" name="Text 16"/>
          <p:cNvSpPr/>
          <p:nvPr/>
        </p:nvSpPr>
        <p:spPr>
          <a:xfrm>
            <a:off x="6248400" y="2043410"/>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2EC"/>
                </a:solidFill>
                <a:latin typeface="Inter" pitchFamily="34" charset="0"/>
                <a:ea typeface="Inter" pitchFamily="34" charset="-122"/>
                <a:cs typeface="Inter" pitchFamily="34" charset="-120"/>
              </a:rPr>
              <a:t>A credible primary-balance path</a:t>
            </a:r>
            <a:endParaRPr lang="en-US" sz="1400" dirty="0"/>
          </a:p>
        </p:txBody>
      </p:sp>
      <p:sp>
        <p:nvSpPr>
          <p:cNvPr id="19" name="Text 17"/>
          <p:cNvSpPr/>
          <p:nvPr/>
        </p:nvSpPr>
        <p:spPr>
          <a:xfrm>
            <a:off x="6248400" y="2294830"/>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4BB"/>
                </a:solidFill>
                <a:latin typeface="Inter" pitchFamily="34" charset="0"/>
                <a:ea typeface="Inter" pitchFamily="34" charset="-122"/>
                <a:cs typeface="Inter" pitchFamily="34" charset="-120"/>
              </a:rPr>
              <a:t>Measures attached and passed would compress the trajectory premium</a:t>
            </a:r>
            <a:endParaRPr lang="en-US" sz="1200" dirty="0"/>
          </a:p>
        </p:txBody>
      </p:sp>
      <p:sp>
        <p:nvSpPr>
          <p:cNvPr id="20" name="Shape 18"/>
          <p:cNvSpPr/>
          <p:nvPr/>
        </p:nvSpPr>
        <p:spPr>
          <a:xfrm>
            <a:off x="6248400" y="2864346"/>
            <a:ext cx="5130800" cy="0"/>
          </a:xfrm>
          <a:prstGeom prst="line">
            <a:avLst/>
          </a:prstGeom>
          <a:noFill/>
          <a:ln w="6350">
            <a:solidFill>
              <a:srgbClr val="3A4553"/>
            </a:solidFill>
            <a:prstDash val="solid"/>
          </a:ln>
        </p:spPr>
      </p:sp>
      <p:sp>
        <p:nvSpPr>
          <p:cNvPr id="21" name="Text 19"/>
          <p:cNvSpPr/>
          <p:nvPr/>
        </p:nvSpPr>
        <p:spPr>
          <a:xfrm>
            <a:off x="6248400" y="2969121"/>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2EC"/>
                </a:solidFill>
                <a:latin typeface="Inter" pitchFamily="34" charset="0"/>
                <a:ea typeface="Inter" pitchFamily="34" charset="-122"/>
                <a:cs typeface="Inter" pitchFamily="34" charset="-120"/>
              </a:rPr>
              <a:t>Repricing as euro-area risk</a:t>
            </a:r>
            <a:endParaRPr lang="en-US" sz="1400" dirty="0"/>
          </a:p>
        </p:txBody>
      </p:sp>
      <p:sp>
        <p:nvSpPr>
          <p:cNvPr id="22" name="Text 20"/>
          <p:cNvSpPr/>
          <p:nvPr/>
        </p:nvSpPr>
        <p:spPr>
          <a:xfrm>
            <a:off x="6248400" y="322054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4BB"/>
                </a:solidFill>
                <a:latin typeface="Inter" pitchFamily="34" charset="0"/>
                <a:ea typeface="Inter" pitchFamily="34" charset="-122"/>
                <a:cs typeface="Inter" pitchFamily="34" charset="-120"/>
              </a:rPr>
              <a:t>An ECB confrontation or wider stress: Italy widens more, Bunds rally</a:t>
            </a:r>
            <a:endParaRPr lang="en-US" sz="1200" dirty="0"/>
          </a:p>
        </p:txBody>
      </p:sp>
      <p:sp>
        <p:nvSpPr>
          <p:cNvPr id="23" name="Shape 21"/>
          <p:cNvSpPr/>
          <p:nvPr/>
        </p:nvSpPr>
        <p:spPr>
          <a:xfrm>
            <a:off x="6248400" y="3576737"/>
            <a:ext cx="5130800" cy="0"/>
          </a:xfrm>
          <a:prstGeom prst="line">
            <a:avLst/>
          </a:prstGeom>
          <a:noFill/>
          <a:ln w="6350">
            <a:solidFill>
              <a:srgbClr val="3A4553"/>
            </a:solidFill>
            <a:prstDash val="solid"/>
          </a:ln>
        </p:spPr>
      </p:sp>
      <p:sp>
        <p:nvSpPr>
          <p:cNvPr id="24" name="Text 22"/>
          <p:cNvSpPr/>
          <p:nvPr/>
        </p:nvSpPr>
        <p:spPr>
          <a:xfrm>
            <a:off x="6248400" y="3681512"/>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2EC"/>
                </a:solidFill>
                <a:latin typeface="Inter" pitchFamily="34" charset="0"/>
                <a:ea typeface="Inter" pitchFamily="34" charset="-122"/>
                <a:cs typeface="Inter" pitchFamily="34" charset="-120"/>
              </a:rPr>
              <a:t>Energy-driven growth shock</a:t>
            </a:r>
            <a:endParaRPr lang="en-US" sz="1400" dirty="0"/>
          </a:p>
        </p:txBody>
      </p:sp>
      <p:sp>
        <p:nvSpPr>
          <p:cNvPr id="25" name="Text 23"/>
          <p:cNvSpPr/>
          <p:nvPr/>
        </p:nvSpPr>
        <p:spPr>
          <a:xfrm>
            <a:off x="6248400" y="3932932"/>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4BB"/>
                </a:solidFill>
                <a:latin typeface="Inter" pitchFamily="34" charset="0"/>
                <a:ea typeface="Inter" pitchFamily="34" charset="-122"/>
                <a:cs typeface="Inter" pitchFamily="34" charset="-120"/>
              </a:rPr>
              <a:t>Raises the odds of broad periphery widening rather than French-specific moves</a:t>
            </a:r>
            <a:endParaRPr lang="en-US" sz="1200" dirty="0"/>
          </a:p>
        </p:txBody>
      </p:sp>
      <p:sp>
        <p:nvSpPr>
          <p:cNvPr id="26" name="Shape 24"/>
          <p:cNvSpPr/>
          <p:nvPr/>
        </p:nvSpPr>
        <p:spPr>
          <a:xfrm>
            <a:off x="6248400" y="4502448"/>
            <a:ext cx="5130800" cy="0"/>
          </a:xfrm>
          <a:prstGeom prst="line">
            <a:avLst/>
          </a:prstGeom>
          <a:noFill/>
          <a:ln w="6350">
            <a:solidFill>
              <a:srgbClr val="3A4553"/>
            </a:solidFill>
            <a:prstDash val="solid"/>
          </a:ln>
        </p:spPr>
      </p:sp>
      <p:sp>
        <p:nvSpPr>
          <p:cNvPr id="27" name="Text 25"/>
          <p:cNvSpPr/>
          <p:nvPr/>
        </p:nvSpPr>
        <p:spPr>
          <a:xfrm>
            <a:off x="6248400" y="4607223"/>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2EC"/>
                </a:solidFill>
                <a:latin typeface="Inter" pitchFamily="34" charset="0"/>
                <a:ea typeface="Inter" pitchFamily="34" charset="-122"/>
                <a:cs typeface="Inter" pitchFamily="34" charset="-120"/>
              </a:rPr>
              <a:t>Measurement caveat</a:t>
            </a:r>
            <a:endParaRPr lang="en-US" sz="1400" dirty="0"/>
          </a:p>
        </p:txBody>
      </p:sp>
      <p:sp>
        <p:nvSpPr>
          <p:cNvPr id="28" name="Text 26"/>
          <p:cNvSpPr/>
          <p:nvPr/>
        </p:nvSpPr>
        <p:spPr>
          <a:xfrm>
            <a:off x="6248400" y="4858643"/>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4BB"/>
                </a:solidFill>
                <a:latin typeface="Inter" pitchFamily="34" charset="0"/>
                <a:ea typeface="Inter" pitchFamily="34" charset="-122"/>
                <a:cs typeface="Inter" pitchFamily="34" charset="-120"/>
              </a:rPr>
              <a:t>Part of BTP–Bund compression reflects Bunds cheapening vs swaps, not Italy alone</a:t>
            </a:r>
            <a:endParaRPr lang="en-US" sz="12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0A8"/>
                </a:solidFill>
                <a:latin typeface="Inter" pitchFamily="34" charset="0"/>
                <a:ea typeface="Inter" pitchFamily="34" charset="-122"/>
                <a:cs typeface="Inter" pitchFamily="34" charset="-120"/>
              </a:rPr>
              <a:t>European Commission; S&amp;P, Moody's, Fitch; OpinionWay; TradingView 10y generic series.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7202B"/>
                </a:solidFill>
                <a:latin typeface="Source Serif 4" pitchFamily="34" charset="0"/>
                <a:ea typeface="Source Serif 4" pitchFamily="34" charset="-122"/>
                <a:cs typeface="Source Serif 4" pitchFamily="34" charset="-120"/>
              </a:rPr>
              <a:t>Appendix: scaling Italy's episodes onto France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564630"/>
          <a:ext cx="10566400" cy="2753122"/>
        </p:xfrm>
        <a:graphic>
          <a:graphicData uri="http://schemas.openxmlformats.org/drawingml/2006/table">
            <a:tbl>
              <a:tblPr/>
              <a:tblGrid>
                <a:gridCol w="1761067"/>
                <a:gridCol w="1761067"/>
                <a:gridCol w="1761067"/>
                <a:gridCol w="1761067"/>
                <a:gridCol w="1761067"/>
                <a:gridCol w="1761067"/>
              </a:tblGrid>
              <a:tr h="688280">
                <a:tc>
                  <a:txBody>
                    <a:bodyPr/>
                    <a:lstStyle/>
                    <a:p>
                      <a:pPr indent="0" marL="0">
                        <a:lnSpc>
                          <a:spcPts val="1960"/>
                        </a:lnSpc>
                        <a:buNone/>
                      </a:pPr>
                      <a:r>
                        <a:rPr lang="en-US" sz="1400" b="1" dirty="0">
                          <a:solidFill>
                            <a:srgbClr val="17202B"/>
                          </a:solidFill>
                          <a:latin typeface="Inter" pitchFamily="34" charset="0"/>
                          <a:ea typeface="Inter" pitchFamily="34" charset="-122"/>
                          <a:cs typeface="Inter" pitchFamily="34" charset="-120"/>
                        </a:rPr>
                        <a:t>Italian episode</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indent="0" marL="0">
                        <a:lnSpc>
                          <a:spcPts val="1960"/>
                        </a:lnSpc>
                        <a:buNone/>
                      </a:pPr>
                      <a:r>
                        <a:rPr lang="en-US" sz="1400" b="1" dirty="0">
                          <a:solidFill>
                            <a:srgbClr val="17202B"/>
                          </a:solidFill>
                          <a:latin typeface="Inter" pitchFamily="34" charset="0"/>
                          <a:ea typeface="Inter" pitchFamily="34" charset="-122"/>
                          <a:cs typeface="Inter" pitchFamily="34" charset="-120"/>
                        </a:rPr>
                        <a:t>IT–DE base → peak</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960"/>
                        </a:lnSpc>
                        <a:buNone/>
                      </a:pPr>
                      <a:r>
                        <a:rPr lang="en-US" sz="1400" b="1" dirty="0">
                          <a:solidFill>
                            <a:srgbClr val="17202B"/>
                          </a:solidFill>
                          <a:latin typeface="Inter" pitchFamily="34" charset="0"/>
                          <a:ea typeface="Inter" pitchFamily="34" charset="-122"/>
                          <a:cs typeface="Inter" pitchFamily="34" charset="-120"/>
                        </a:rPr>
                        <a:t>Move</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960"/>
                        </a:lnSpc>
                        <a:buNone/>
                      </a:pPr>
                      <a:r>
                        <a:rPr lang="en-US" sz="1400" b="1" dirty="0">
                          <a:solidFill>
                            <a:srgbClr val="17202B"/>
                          </a:solidFill>
                          <a:latin typeface="Inter" pitchFamily="34" charset="0"/>
                          <a:ea typeface="Inter" pitchFamily="34" charset="-122"/>
                          <a:cs typeface="Inter" pitchFamily="34" charset="-120"/>
                        </a:rPr>
                        <a:t>Multiple</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960"/>
                        </a:lnSpc>
                        <a:buNone/>
                      </a:pPr>
                      <a:r>
                        <a:rPr lang="en-US" sz="1400" b="1" dirty="0">
                          <a:solidFill>
                            <a:srgbClr val="17202B"/>
                          </a:solidFill>
                          <a:latin typeface="Inter" pitchFamily="34" charset="0"/>
                          <a:ea typeface="Inter" pitchFamily="34" charset="-122"/>
                          <a:cs typeface="Inter" pitchFamily="34" charset="-120"/>
                        </a:rPr>
                        <a:t>France if multiplied</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1960"/>
                        </a:lnSpc>
                        <a:buNone/>
                      </a:pPr>
                      <a:r>
                        <a:rPr lang="en-US" sz="1400" b="1" dirty="0">
                          <a:solidFill>
                            <a:srgbClr val="17202B"/>
                          </a:solidFill>
                          <a:latin typeface="Inter" pitchFamily="34" charset="0"/>
                          <a:ea typeface="Inter" pitchFamily="34" charset="-122"/>
                          <a:cs typeface="Inter" pitchFamily="34" charset="-120"/>
                        </a:rPr>
                        <a:t>France if added</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r>
              <a:tr h="688280">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2022, Draghi to Meloni</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138 → 262</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+124</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95</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174</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688280">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2018, budget standoff</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116 → 323</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+207</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2.8×</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139</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257</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688280">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2011–12, euro crisis</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indent="0" marL="0">
                        <a:lnSpc>
                          <a:spcPts val="1960"/>
                        </a:lnSpc>
                        <a:buNone/>
                      </a:pPr>
                      <a:r>
                        <a:rPr lang="en-US" sz="1400" dirty="0">
                          <a:solidFill>
                            <a:srgbClr val="17202B"/>
                          </a:solidFill>
                          <a:latin typeface="Inter" pitchFamily="34" charset="0"/>
                          <a:ea typeface="Inter" pitchFamily="34" charset="-122"/>
                          <a:cs typeface="Inter" pitchFamily="34" charset="-120"/>
                        </a:rPr>
                        <a:t>127 → 558</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+431</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220</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1960"/>
                        </a:lnSpc>
                        <a:buNone/>
                      </a:pPr>
                      <a:r>
                        <a:rPr lang="en-US" sz="1400" dirty="0">
                          <a:solidFill>
                            <a:srgbClr val="17202B"/>
                          </a:solidFill>
                          <a:latin typeface="Inter" pitchFamily="34" charset="0"/>
                          <a:ea typeface="Inter" pitchFamily="34" charset="-122"/>
                          <a:cs typeface="Inter" pitchFamily="34" charset="-120"/>
                        </a:rPr>
                        <a:t>481</a:t>
                      </a:r>
                      <a:endParaRPr lang="en-US" sz="14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bl>
          </a:graphicData>
        </a:graphic>
      </p:graphicFrame>
      <p:sp>
        <p:nvSpPr>
          <p:cNvPr id="4" name="Text 1"/>
          <p:cNvSpPr/>
          <p:nvPr/>
        </p:nvSpPr>
        <p:spPr>
          <a:xfrm>
            <a:off x="812800" y="4635252"/>
            <a:ext cx="104648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02B"/>
                </a:solidFill>
                <a:latin typeface="Inter" pitchFamily="34" charset="0"/>
                <a:ea typeface="Inter" pitchFamily="34" charset="-122"/>
                <a:cs typeface="Inter" pitchFamily="34" charset="-120"/>
              </a:rPr>
              <a:t>France's pre-dissolution base was about 50bp, a third of Italy's. Proportional and absolute scaling give answers roughly a factor of two apart, so the analogy does not pin down a level; the ratings approach is used instead.</a:t>
            </a:r>
            <a:endParaRPr lang="en-US" sz="15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France base of 50 on FR–DE. TradingView IT–DE 10y generic series. Calculations on 10y spreads.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7202B"/>
                </a:solidFill>
                <a:latin typeface="Source Serif 4" pitchFamily="34" charset="0"/>
                <a:ea typeface="Source Serif 4" pitchFamily="34" charset="-122"/>
                <a:cs typeface="Source Serif 4" pitchFamily="34" charset="-120"/>
              </a:rPr>
              <a:t>Appendix: carry profile of France vs Germany, 10y</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564630"/>
          <a:ext cx="10566400" cy="1828800"/>
        </p:xfrm>
        <a:graphic>
          <a:graphicData uri="http://schemas.openxmlformats.org/drawingml/2006/table">
            <a:tbl>
              <a:tblPr/>
              <a:tblGrid>
                <a:gridCol w="2113280"/>
                <a:gridCol w="2113280"/>
                <a:gridCol w="2113280"/>
                <a:gridCol w="2113280"/>
                <a:gridCol w="2113280"/>
              </a:tblGrid>
              <a:tr h="457200">
                <a:tc>
                  <a:txBody>
                    <a:bodyPr/>
                    <a:lstStyle/>
                    <a:p>
                      <a:pPr indent="0" marL="0">
                        <a:lnSpc>
                          <a:spcPts val="2100"/>
                        </a:lnSpc>
                        <a:buNone/>
                      </a:pPr>
                      <a:r>
                        <a:rPr lang="en-US" sz="1500" b="1" dirty="0">
                          <a:solidFill>
                            <a:srgbClr val="17202B"/>
                          </a:solidFill>
                          <a:latin typeface="Inter" pitchFamily="34" charset="0"/>
                          <a:ea typeface="Inter" pitchFamily="34" charset="-122"/>
                          <a:cs typeface="Inter" pitchFamily="34" charset="-120"/>
                        </a:rPr>
                        <a:t>Spread level</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2100"/>
                        </a:lnSpc>
                        <a:buNone/>
                      </a:pPr>
                      <a:r>
                        <a:rPr lang="en-US" sz="1500" b="1" dirty="0">
                          <a:solidFill>
                            <a:srgbClr val="17202B"/>
                          </a:solidFill>
                          <a:latin typeface="Inter" pitchFamily="34" charset="0"/>
                          <a:ea typeface="Inter" pitchFamily="34" charset="-122"/>
                          <a:cs typeface="Inter" pitchFamily="34" charset="-120"/>
                        </a:rPr>
                        <a:t>Carry, 3m</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2100"/>
                        </a:lnSpc>
                        <a:buNone/>
                      </a:pPr>
                      <a:r>
                        <a:rPr lang="en-US" sz="1500" b="1" dirty="0">
                          <a:solidFill>
                            <a:srgbClr val="17202B"/>
                          </a:solidFill>
                          <a:latin typeface="Inter" pitchFamily="34" charset="0"/>
                          <a:ea typeface="Inter" pitchFamily="34" charset="-122"/>
                          <a:cs typeface="Inter" pitchFamily="34" charset="-120"/>
                        </a:rPr>
                        <a:t>Roll-down, 3m</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2100"/>
                        </a:lnSpc>
                        <a:buNone/>
                      </a:pPr>
                      <a:r>
                        <a:rPr lang="en-US" sz="1500" b="1" dirty="0">
                          <a:solidFill>
                            <a:srgbClr val="17202B"/>
                          </a:solidFill>
                          <a:latin typeface="Inter" pitchFamily="34" charset="0"/>
                          <a:ea typeface="Inter" pitchFamily="34" charset="-122"/>
                          <a:cs typeface="Inter" pitchFamily="34" charset="-120"/>
                        </a:rPr>
                        <a:t>Carry + roll, 3m</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c>
                  <a:txBody>
                    <a:bodyPr/>
                    <a:lstStyle/>
                    <a:p>
                      <a:pPr algn="r" indent="0" marL="0">
                        <a:lnSpc>
                          <a:spcPts val="2100"/>
                        </a:lnSpc>
                        <a:buNone/>
                      </a:pPr>
                      <a:r>
                        <a:rPr lang="en-US" sz="1500" b="1" dirty="0">
                          <a:solidFill>
                            <a:srgbClr val="17202B"/>
                          </a:solidFill>
                          <a:latin typeface="Inter" pitchFamily="34" charset="0"/>
                          <a:ea typeface="Inter" pitchFamily="34" charset="-122"/>
                          <a:cs typeface="Inter" pitchFamily="34" charset="-120"/>
                        </a:rPr>
                        <a:t>Per year</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solidFill>
                      <a:srgbClr val="E3E1DD"/>
                    </a:solidFill>
                  </a:tcPr>
                </a:tc>
              </a:tr>
              <a:tr h="457200">
                <a:tc>
                  <a:txBody>
                    <a:bodyPr/>
                    <a:lstStyle/>
                    <a:p>
                      <a:pPr indent="0" marL="0">
                        <a:lnSpc>
                          <a:spcPts val="2100"/>
                        </a:lnSpc>
                        <a:buNone/>
                      </a:pPr>
                      <a:r>
                        <a:rPr lang="en-US" sz="1500" dirty="0">
                          <a:solidFill>
                            <a:srgbClr val="17202B"/>
                          </a:solidFill>
                          <a:latin typeface="Inter" pitchFamily="34" charset="0"/>
                          <a:ea typeface="Inter" pitchFamily="34" charset="-122"/>
                          <a:cs typeface="Inter" pitchFamily="34" charset="-120"/>
                        </a:rPr>
                        <a:t>104 (18 Sep)</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2100"/>
                        </a:lnSpc>
                        <a:buNone/>
                      </a:pPr>
                      <a:r>
                        <a:rPr lang="en-US" sz="1500" dirty="0">
                          <a:solidFill>
                            <a:srgbClr val="17202B"/>
                          </a:solidFill>
                          <a:latin typeface="Inter" pitchFamily="34" charset="0"/>
                          <a:ea typeface="Inter" pitchFamily="34" charset="-122"/>
                          <a:cs typeface="Inter" pitchFamily="34" charset="-120"/>
                        </a:rPr>
                        <a:t>+3.5</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2100"/>
                        </a:lnSpc>
                        <a:buNone/>
                      </a:pPr>
                      <a:r>
                        <a:rPr lang="en-US" sz="1500" dirty="0">
                          <a:solidFill>
                            <a:srgbClr val="17202B"/>
                          </a:solidFill>
                          <a:latin typeface="Inter" pitchFamily="34" charset="0"/>
                          <a:ea typeface="Inter" pitchFamily="34" charset="-122"/>
                          <a:cs typeface="Inter" pitchFamily="34" charset="-120"/>
                        </a:rPr>
                        <a:t>+2.2</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2100"/>
                        </a:lnSpc>
                        <a:buNone/>
                      </a:pPr>
                      <a:r>
                        <a:rPr lang="en-US" sz="1500" dirty="0">
                          <a:solidFill>
                            <a:srgbClr val="17202B"/>
                          </a:solidFill>
                          <a:latin typeface="Inter" pitchFamily="34" charset="0"/>
                          <a:ea typeface="Inter" pitchFamily="34" charset="-122"/>
                          <a:cs typeface="Inter" pitchFamily="34" charset="-120"/>
                        </a:rPr>
                        <a:t>+5.7</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2100"/>
                        </a:lnSpc>
                        <a:buNone/>
                      </a:pPr>
                      <a:r>
                        <a:rPr lang="en-US" sz="1500" dirty="0">
                          <a:solidFill>
                            <a:srgbClr val="17202B"/>
                          </a:solidFill>
                          <a:latin typeface="Inter" pitchFamily="34" charset="0"/>
                          <a:ea typeface="Inter" pitchFamily="34" charset="-122"/>
                          <a:cs typeface="Inter" pitchFamily="34" charset="-120"/>
                        </a:rPr>
                        <a:t>+23</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57200">
                <a:tc>
                  <a:txBody>
                    <a:bodyPr/>
                    <a:lstStyle/>
                    <a:p>
                      <a:pPr indent="0" marL="0">
                        <a:lnSpc>
                          <a:spcPts val="2100"/>
                        </a:lnSpc>
                        <a:buNone/>
                      </a:pPr>
                      <a:r>
                        <a:rPr lang="en-US" sz="1500" dirty="0">
                          <a:solidFill>
                            <a:srgbClr val="17202B"/>
                          </a:solidFill>
                          <a:latin typeface="Inter" pitchFamily="34" charset="0"/>
                          <a:ea typeface="Inter" pitchFamily="34" charset="-122"/>
                          <a:cs typeface="Inter" pitchFamily="34" charset="-120"/>
                        </a:rPr>
                        <a:t>130</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2100"/>
                        </a:lnSpc>
                        <a:buNone/>
                      </a:pPr>
                      <a:r>
                        <a:rPr lang="en-US" sz="1500" dirty="0">
                          <a:solidFill>
                            <a:srgbClr val="17202B"/>
                          </a:solidFill>
                          <a:latin typeface="Inter" pitchFamily="34" charset="0"/>
                          <a:ea typeface="Inter" pitchFamily="34" charset="-122"/>
                          <a:cs typeface="Inter" pitchFamily="34" charset="-120"/>
                        </a:rPr>
                        <a:t>+4.4</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2100"/>
                        </a:lnSpc>
                        <a:buNone/>
                      </a:pPr>
                      <a:r>
                        <a:rPr lang="en-US" sz="1500" dirty="0">
                          <a:solidFill>
                            <a:srgbClr val="17202B"/>
                          </a:solidFill>
                          <a:latin typeface="Inter" pitchFamily="34" charset="0"/>
                          <a:ea typeface="Inter" pitchFamily="34" charset="-122"/>
                          <a:cs typeface="Inter" pitchFamily="34" charset="-120"/>
                        </a:rPr>
                        <a:t>+2.2</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2100"/>
                        </a:lnSpc>
                        <a:buNone/>
                      </a:pPr>
                      <a:r>
                        <a:rPr lang="en-US" sz="1500" dirty="0">
                          <a:solidFill>
                            <a:srgbClr val="17202B"/>
                          </a:solidFill>
                          <a:latin typeface="Inter" pitchFamily="34" charset="0"/>
                          <a:ea typeface="Inter" pitchFamily="34" charset="-122"/>
                          <a:cs typeface="Inter" pitchFamily="34" charset="-120"/>
                        </a:rPr>
                        <a:t>+6.6</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2100"/>
                        </a:lnSpc>
                        <a:buNone/>
                      </a:pPr>
                      <a:r>
                        <a:rPr lang="en-US" sz="1500" dirty="0">
                          <a:solidFill>
                            <a:srgbClr val="17202B"/>
                          </a:solidFill>
                          <a:latin typeface="Inter" pitchFamily="34" charset="0"/>
                          <a:ea typeface="Inter" pitchFamily="34" charset="-122"/>
                          <a:cs typeface="Inter" pitchFamily="34" charset="-120"/>
                        </a:rPr>
                        <a:t>+26</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r h="457200">
                <a:tc>
                  <a:txBody>
                    <a:bodyPr/>
                    <a:lstStyle/>
                    <a:p>
                      <a:pPr indent="0" marL="0">
                        <a:lnSpc>
                          <a:spcPts val="2100"/>
                        </a:lnSpc>
                        <a:buNone/>
                      </a:pPr>
                      <a:r>
                        <a:rPr lang="en-US" sz="1500" dirty="0">
                          <a:solidFill>
                            <a:srgbClr val="17202B"/>
                          </a:solidFill>
                          <a:latin typeface="Inter" pitchFamily="34" charset="0"/>
                          <a:ea typeface="Inter" pitchFamily="34" charset="-122"/>
                          <a:cs typeface="Inter" pitchFamily="34" charset="-120"/>
                        </a:rPr>
                        <a:t>150</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2100"/>
                        </a:lnSpc>
                        <a:buNone/>
                      </a:pPr>
                      <a:r>
                        <a:rPr lang="en-US" sz="1500" dirty="0">
                          <a:solidFill>
                            <a:srgbClr val="17202B"/>
                          </a:solidFill>
                          <a:latin typeface="Inter" pitchFamily="34" charset="0"/>
                          <a:ea typeface="Inter" pitchFamily="34" charset="-122"/>
                          <a:cs typeface="Inter" pitchFamily="34" charset="-120"/>
                        </a:rPr>
                        <a:t>+5.1</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2100"/>
                        </a:lnSpc>
                        <a:buNone/>
                      </a:pPr>
                      <a:r>
                        <a:rPr lang="en-US" sz="1500" dirty="0">
                          <a:solidFill>
                            <a:srgbClr val="17202B"/>
                          </a:solidFill>
                          <a:latin typeface="Inter" pitchFamily="34" charset="0"/>
                          <a:ea typeface="Inter" pitchFamily="34" charset="-122"/>
                          <a:cs typeface="Inter" pitchFamily="34" charset="-120"/>
                        </a:rPr>
                        <a:t>+2.2</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2100"/>
                        </a:lnSpc>
                        <a:buNone/>
                      </a:pPr>
                      <a:r>
                        <a:rPr lang="en-US" sz="1500" dirty="0">
                          <a:solidFill>
                            <a:srgbClr val="17202B"/>
                          </a:solidFill>
                          <a:latin typeface="Inter" pitchFamily="34" charset="0"/>
                          <a:ea typeface="Inter" pitchFamily="34" charset="-122"/>
                          <a:cs typeface="Inter" pitchFamily="34" charset="-120"/>
                        </a:rPr>
                        <a:t>+7.3</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c>
                  <a:txBody>
                    <a:bodyPr/>
                    <a:lstStyle/>
                    <a:p>
                      <a:pPr algn="r" indent="0" marL="0">
                        <a:lnSpc>
                          <a:spcPts val="2100"/>
                        </a:lnSpc>
                        <a:buNone/>
                      </a:pPr>
                      <a:r>
                        <a:rPr lang="en-US" sz="1500" dirty="0">
                          <a:solidFill>
                            <a:srgbClr val="17202B"/>
                          </a:solidFill>
                          <a:latin typeface="Inter" pitchFamily="34" charset="0"/>
                          <a:ea typeface="Inter" pitchFamily="34" charset="-122"/>
                          <a:cs typeface="Inter" pitchFamily="34" charset="-120"/>
                        </a:rPr>
                        <a:t>+29</a:t>
                      </a:r>
                      <a:endParaRPr lang="en-US" sz="1500" dirty="0">
                        <a:latin typeface="Inter" charset="0"/>
                        <a:ea typeface="Inter" charset="0"/>
                        <a:cs typeface="Inter" charset="0"/>
                      </a:endParaRPr>
                    </a:p>
                  </a:txBody>
                  <a:tcPr marL="114300" marR="114300" marT="88900" marB="88900" anchor="t">
                    <a:lnL w="12700" cap="flat" cmpd="sng" algn="ctr">
                      <a:solidFill>
                        <a:srgbClr val="C4C4C2"/>
                      </a:solidFill>
                      <a:prstDash val="solid"/>
                      <a:round/>
                      <a:headEnd type="none" w="med" len="med"/>
                      <a:tailEnd type="none" w="med" len="med"/>
                    </a:lnL>
                    <a:lnR w="12700" cap="flat" cmpd="sng" algn="ctr">
                      <a:solidFill>
                        <a:srgbClr val="C4C4C2"/>
                      </a:solidFill>
                      <a:prstDash val="solid"/>
                      <a:round/>
                      <a:headEnd type="none" w="med" len="med"/>
                      <a:tailEnd type="none" w="med" len="med"/>
                    </a:lnR>
                    <a:lnT w="12700" cap="flat" cmpd="sng" algn="ctr">
                      <a:solidFill>
                        <a:srgbClr val="C4C4C2"/>
                      </a:solidFill>
                      <a:prstDash val="solid"/>
                      <a:round/>
                      <a:headEnd type="none" w="med" len="med"/>
                      <a:tailEnd type="none" w="med" len="med"/>
                    </a:lnT>
                    <a:lnB w="12700" cap="flat" cmpd="sng" algn="ctr">
                      <a:solidFill>
                        <a:srgbClr val="C4C4C2"/>
                      </a:solidFill>
                      <a:prstDash val="solid"/>
                      <a:round/>
                      <a:headEnd type="none" w="med" len="med"/>
                      <a:tailEnd type="none" w="med" len="med"/>
                    </a:lnB>
                  </a:tcPr>
                </a:tc>
              </a:tr>
            </a:tbl>
          </a:graphicData>
        </a:graphic>
      </p:graphicFrame>
      <p:sp>
        <p:nvSpPr>
          <p:cNvPr id="4" name="Text 1"/>
          <p:cNvSpPr/>
          <p:nvPr/>
        </p:nvSpPr>
        <p:spPr>
          <a:xfrm>
            <a:off x="812800" y="3710930"/>
            <a:ext cx="104648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02B"/>
                </a:solidFill>
                <a:latin typeface="Inter" pitchFamily="34" charset="0"/>
                <a:ea typeface="Inter" pitchFamily="34" charset="-122"/>
                <a:cs typeface="Inter" pitchFamily="34" charset="-120"/>
              </a:rPr>
              <a:t>Quarterly volatility of the spread is 12–15bp, so carry offsets roughly half a quarterly standard deviation. A 30bp premium, the size of the 2024 dissolution move, equals about five quarters of carry.</a:t>
            </a:r>
            <a:endParaRPr lang="en-US" sz="15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078"/>
                </a:solidFill>
                <a:latin typeface="Inter" pitchFamily="34" charset="0"/>
                <a:ea typeface="Inter" pitchFamily="34" charset="-122"/>
                <a:cs typeface="Inter" pitchFamily="34" charset="-120"/>
              </a:rPr>
              <a:t>18 Sep curves, French 10y shifted by the spread level, both legs financed at 2.50% GC. Calculations on 10y spreads.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French and Italian spreads: IC briefing</dc:title>
  <dc:subject>PptxGenJS Presentation</dc:subject>
  <dc:creator>PptxGenJS</dc:creator>
  <cp:lastModifiedBy>PptxGenJS</cp:lastModifiedBy>
  <cp:revision>1</cp:revision>
  <dcterms:created xsi:type="dcterms:W3CDTF">2026-09-21T13:43:35Z</dcterms:created>
  <dcterms:modified xsi:type="dcterms:W3CDTF">2026-09-21T13:43:35Z</dcterms:modified>
</cp:coreProperties>
</file>