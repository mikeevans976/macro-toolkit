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is to complement the current strategy with a more systematic portfolio construction process. We start from a small set of overarching macro themes, 12 to 15, and assign each one a probability distribution of outcomes. Comparing that distribution with market pricing gives a probability-weighted expected PnL for the theme. For each theme we pick the trade with the best payout for its upfront premium, and rank all candidate trades by payout/cost ratio, carry and relative value. We then measure how trades co-move across themes before allocating capital and estimating the PnL of the whole book. The table shows the four starting themes, how we expect each asset class to respond, and an example expression. These are illustrations for discussion, not positions.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column answers one question in the framework. Macro regime: dynamic factor models nowcast growth and inflation and tell us whether rates reflect them, which is where themes come from. Implied odds: option-implied densities and fair value models tell us what the market already prices, so we only pay for views that differ from it. Fair value modelling generalises the inflation-swap elastic-net models we already run to rates and spreads. Rates positioning covers Euribor futures today and will extend to bond futures. Relative value and positioning pick the cheapest, best-timed instrument for each view. Correlation regimes and the trade blotter check that the book diversifies the way we think it does. Supply and funding monitors are in build.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AI: to cover more markets and asset classes with the same team, to streamline routine work, and to deepen the analysis. How: agents run the full toolkit across every market daily and flag what has changed; data checks, screens and first-draft briefings are automated; and agents read research, write and run models, and record their reasoning. Every run is logged, and the PM keeps every decision. The agents: the Fixed Income Pod is live, with specialists for macro, relative value, inflation and positioning feeding a lead agent. Next, a Portfolio Builder agent will run the five-step framework end to end using the toolkit, the live book and sell-side research, and a Risk agent will compute the book's Greeks to specific risk factors and propose hedges. Planned after that: a Research agent that maps sell-side research and news onto our themes and tracks consensus against our probabilities, and a Trade monitor that tracks each trade's thesis, levels and stops and alerts us when a theme's odds shift.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TextBox 1"/>
          <p:cNvSpPr txBox="1"/>
          <p:nvPr/>
        </p:nvSpPr>
        <p:spPr>
          <a:xfrm>
            <a:off x="813816" y="813816"/>
            <a:ext cx="10881360" cy="502920"/>
          </a:xfrm>
          <a:prstGeom prst="rect">
            <a:avLst/>
          </a:prstGeom>
          <a:noFill/>
        </p:spPr>
        <p:txBody>
          <a:bodyPr wrap="square" lIns="0" rIns="0" tIns="0" bIns="0" anchor="t">
            <a:spAutoFit/>
          </a:bodyPr>
          <a:lstStyle/>
          <a:p>
            <a:pPr>
              <a:lnSpc>
                <a:spcPts val="3600"/>
              </a:lnSpc>
            </a:pPr>
            <a:r>
              <a:rPr sz="3000" b="0" i="0">
                <a:solidFill>
                  <a:srgbClr val="17202B"/>
                </a:solidFill>
                <a:latin typeface="Source Serif 4"/>
              </a:rPr>
              <a:t>Our framework: from macro themes to a robust portfolio</a:t>
            </a:r>
          </a:p>
        </p:txBody>
      </p:sp>
      <p:sp>
        <p:nvSpPr>
          <p:cNvPr id="3" name="TextBox 2"/>
          <p:cNvSpPr txBox="1"/>
          <p:nvPr/>
        </p:nvSpPr>
        <p:spPr>
          <a:xfrm>
            <a:off x="813816" y="1517904"/>
            <a:ext cx="10881360" cy="256032"/>
          </a:xfrm>
          <a:prstGeom prst="rect">
            <a:avLst/>
          </a:prstGeom>
          <a:noFill/>
        </p:spPr>
        <p:txBody>
          <a:bodyPr wrap="square" lIns="0" rIns="0" tIns="0" bIns="0" anchor="t">
            <a:spAutoFit/>
          </a:bodyPr>
          <a:lstStyle/>
          <a:p>
            <a:pPr>
              <a:lnSpc>
                <a:spcPts val="1680"/>
              </a:lnSpc>
            </a:pPr>
            <a:r>
              <a:rPr sz="1200" b="1" i="0" spc="100">
                <a:solidFill>
                  <a:srgbClr val="2B5C8A"/>
                </a:solidFill>
                <a:latin typeface="Inter"/>
              </a:rPr>
              <a:t>THE PROCESS · FIVE STEPS, APPLIED TO EVERY THEME</a:t>
            </a:r>
          </a:p>
        </p:txBody>
      </p:sp>
      <p:sp>
        <p:nvSpPr>
          <p:cNvPr id="4" name="Rounded Rectangle 3"/>
          <p:cNvSpPr/>
          <p:nvPr/>
        </p:nvSpPr>
        <p:spPr>
          <a:xfrm>
            <a:off x="813816" y="1837943"/>
            <a:ext cx="2029967" cy="178308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993391"/>
            <a:ext cx="1719071" cy="150876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01 · THEMES</a:t>
            </a:r>
          </a:p>
          <a:p>
            <a:pPr>
              <a:lnSpc>
                <a:spcPts val="1900"/>
              </a:lnSpc>
              <a:spcBef>
                <a:spcPts val="600"/>
              </a:spcBef>
            </a:pPr>
            <a:r>
              <a:rPr sz="1500" b="1" i="0">
                <a:solidFill>
                  <a:srgbClr val="17202B"/>
                </a:solidFill>
                <a:latin typeface="Inter"/>
              </a:rPr>
              <a:t>Identify themes</a:t>
            </a:r>
          </a:p>
          <a:p>
            <a:pPr>
              <a:lnSpc>
                <a:spcPts val="1600"/>
              </a:lnSpc>
              <a:spcBef>
                <a:spcPts val="600"/>
              </a:spcBef>
            </a:pPr>
            <a:r>
              <a:rPr sz="1200" b="0" i="0">
                <a:solidFill>
                  <a:srgbClr val="5F6670"/>
                </a:solidFill>
                <a:latin typeface="Inter"/>
              </a:rPr>
              <a:t>12–15 overarching macro themes that drive returns across asset classes</a:t>
            </a:r>
          </a:p>
        </p:txBody>
      </p:sp>
      <p:sp>
        <p:nvSpPr>
          <p:cNvPr id="6" name="Rounded Rectangle 5"/>
          <p:cNvSpPr/>
          <p:nvPr/>
        </p:nvSpPr>
        <p:spPr>
          <a:xfrm>
            <a:off x="3026664" y="1837943"/>
            <a:ext cx="2029967" cy="178308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82112" y="1993391"/>
            <a:ext cx="1719071" cy="150876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02 · PROBABILITIES</a:t>
            </a:r>
          </a:p>
          <a:p>
            <a:pPr>
              <a:lnSpc>
                <a:spcPts val="1900"/>
              </a:lnSpc>
              <a:spcBef>
                <a:spcPts val="600"/>
              </a:spcBef>
            </a:pPr>
            <a:r>
              <a:rPr sz="1500" b="1" i="0">
                <a:solidFill>
                  <a:srgbClr val="17202B"/>
                </a:solidFill>
                <a:latin typeface="Inter"/>
              </a:rPr>
              <a:t>Assign odds</a:t>
            </a:r>
          </a:p>
          <a:p>
            <a:pPr>
              <a:lnSpc>
                <a:spcPts val="1600"/>
              </a:lnSpc>
              <a:spcBef>
                <a:spcPts val="600"/>
              </a:spcBef>
            </a:pPr>
            <a:r>
              <a:rPr sz="1200" b="0" i="0">
                <a:solidFill>
                  <a:srgbClr val="5F6670"/>
                </a:solidFill>
                <a:latin typeface="Inter"/>
              </a:rPr>
              <a:t>Outcome distribution per theme vs market pricing gives a probability-weighted expected PnL</a:t>
            </a:r>
          </a:p>
        </p:txBody>
      </p:sp>
      <p:sp>
        <p:nvSpPr>
          <p:cNvPr id="8" name="Rounded Rectangle 7"/>
          <p:cNvSpPr/>
          <p:nvPr/>
        </p:nvSpPr>
        <p:spPr>
          <a:xfrm>
            <a:off x="5239512" y="1837943"/>
            <a:ext cx="2029967" cy="178308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59" y="1993391"/>
            <a:ext cx="1719071" cy="150876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03 · TRADES</a:t>
            </a:r>
          </a:p>
          <a:p>
            <a:pPr>
              <a:lnSpc>
                <a:spcPts val="1900"/>
              </a:lnSpc>
              <a:spcBef>
                <a:spcPts val="600"/>
              </a:spcBef>
            </a:pPr>
            <a:r>
              <a:rPr sz="1500" b="1" i="0">
                <a:solidFill>
                  <a:srgbClr val="17202B"/>
                </a:solidFill>
                <a:latin typeface="Inter"/>
              </a:rPr>
              <a:t>Pick the trade</a:t>
            </a:r>
          </a:p>
          <a:p>
            <a:pPr>
              <a:lnSpc>
                <a:spcPts val="1600"/>
              </a:lnSpc>
              <a:spcBef>
                <a:spcPts val="600"/>
              </a:spcBef>
            </a:pPr>
            <a:r>
              <a:rPr sz="1200" b="0" i="0">
                <a:solidFill>
                  <a:srgbClr val="5F6670"/>
                </a:solidFill>
                <a:latin typeface="Inter"/>
              </a:rPr>
              <a:t>Best payout for the upfront premium; trades ranked by payout/cost ratio, carry and RV</a:t>
            </a:r>
          </a:p>
        </p:txBody>
      </p:sp>
      <p:sp>
        <p:nvSpPr>
          <p:cNvPr id="10" name="Rounded Rectangle 9"/>
          <p:cNvSpPr/>
          <p:nvPr/>
        </p:nvSpPr>
        <p:spPr>
          <a:xfrm>
            <a:off x="7452360" y="1837943"/>
            <a:ext cx="2029967" cy="178308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07808" y="1993391"/>
            <a:ext cx="1719071" cy="150876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04 · CORRELATIONS</a:t>
            </a:r>
          </a:p>
          <a:p>
            <a:pPr>
              <a:lnSpc>
                <a:spcPts val="1900"/>
              </a:lnSpc>
              <a:spcBef>
                <a:spcPts val="600"/>
              </a:spcBef>
            </a:pPr>
            <a:r>
              <a:rPr sz="1500" b="1" i="0">
                <a:solidFill>
                  <a:srgbClr val="17202B"/>
                </a:solidFill>
                <a:latin typeface="Inter"/>
              </a:rPr>
              <a:t>Map co-movement</a:t>
            </a:r>
          </a:p>
          <a:p>
            <a:pPr>
              <a:lnSpc>
                <a:spcPts val="1600"/>
              </a:lnSpc>
              <a:spcBef>
                <a:spcPts val="600"/>
              </a:spcBef>
            </a:pPr>
            <a:r>
              <a:rPr sz="1200" b="0" i="0">
                <a:solidFill>
                  <a:srgbClr val="5F6670"/>
                </a:solidFill>
                <a:latin typeface="Inter"/>
              </a:rPr>
              <a:t>Expected correlations and payoffs across themes: where risk diversifies</a:t>
            </a:r>
          </a:p>
        </p:txBody>
      </p:sp>
      <p:sp>
        <p:nvSpPr>
          <p:cNvPr id="12" name="Rounded Rectangle 11"/>
          <p:cNvSpPr/>
          <p:nvPr/>
        </p:nvSpPr>
        <p:spPr>
          <a:xfrm>
            <a:off x="9665208" y="1837943"/>
            <a:ext cx="2029967" cy="178308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20656" y="1993391"/>
            <a:ext cx="1719071" cy="150876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05 · ALLOCATION</a:t>
            </a:r>
          </a:p>
          <a:p>
            <a:pPr>
              <a:lnSpc>
                <a:spcPts val="1900"/>
              </a:lnSpc>
              <a:spcBef>
                <a:spcPts val="600"/>
              </a:spcBef>
            </a:pPr>
            <a:r>
              <a:rPr sz="1500" b="1" i="0">
                <a:solidFill>
                  <a:srgbClr val="17202B"/>
                </a:solidFill>
                <a:latin typeface="Inter"/>
              </a:rPr>
              <a:t>Allocate capital</a:t>
            </a:r>
          </a:p>
          <a:p>
            <a:pPr>
              <a:lnSpc>
                <a:spcPts val="1600"/>
              </a:lnSpc>
              <a:spcBef>
                <a:spcPts val="600"/>
              </a:spcBef>
            </a:pPr>
            <a:r>
              <a:rPr sz="1200" b="0" i="0">
                <a:solidFill>
                  <a:srgbClr val="5F6670"/>
                </a:solidFill>
                <a:latin typeface="Inter"/>
              </a:rPr>
              <a:t>Size by probability-weighted payoff and risk contribution; estimate the PnL of the whole book</a:t>
            </a:r>
          </a:p>
        </p:txBody>
      </p:sp>
      <p:sp>
        <p:nvSpPr>
          <p:cNvPr id="14" name="TextBox 13"/>
          <p:cNvSpPr txBox="1"/>
          <p:nvPr/>
        </p:nvSpPr>
        <p:spPr>
          <a:xfrm>
            <a:off x="813816" y="3822191"/>
            <a:ext cx="10881360" cy="256032"/>
          </a:xfrm>
          <a:prstGeom prst="rect">
            <a:avLst/>
          </a:prstGeom>
          <a:noFill/>
        </p:spPr>
        <p:txBody>
          <a:bodyPr wrap="square" lIns="0" rIns="0" tIns="0" bIns="0" anchor="t">
            <a:spAutoFit/>
          </a:bodyPr>
          <a:lstStyle/>
          <a:p>
            <a:pPr>
              <a:lnSpc>
                <a:spcPts val="1680"/>
              </a:lnSpc>
            </a:pPr>
            <a:r>
              <a:rPr sz="1200" b="1" i="0" spc="100">
                <a:solidFill>
                  <a:srgbClr val="A8322B"/>
                </a:solidFill>
                <a:latin typeface="Inter"/>
              </a:rPr>
              <a:t>STARTING THEMES · 4 OF A TARGETED 12–15 · EXPECTED DIRECTION BY ASSET CLASS</a:t>
            </a:r>
          </a:p>
        </p:txBody>
      </p:sp>
      <p:graphicFrame>
        <p:nvGraphicFramePr>
          <p:cNvPr id="15" name="Table 14"/>
          <p:cNvGraphicFramePr>
            <a:graphicFrameLocks noGrp="1"/>
          </p:cNvGraphicFramePr>
          <p:nvPr/>
        </p:nvGraphicFramePr>
        <p:xfrm>
          <a:off x="813816" y="4114800"/>
          <a:ext cx="10881360" cy="1810512"/>
        </p:xfrm>
        <a:graphic>
          <a:graphicData uri="http://schemas.openxmlformats.org/drawingml/2006/table">
            <a:tbl>
              <a:tblPr firstRow="0" bandRow="0"/>
              <a:tblGrid>
                <a:gridCol w="1920240"/>
                <a:gridCol w="2468880"/>
                <a:gridCol w="1783080"/>
                <a:gridCol w="1280160"/>
                <a:gridCol w="1188720"/>
                <a:gridCol w="2240280"/>
              </a:tblGrid>
              <a:tr h="274320">
                <a:tc>
                  <a:txBody>
                    <a:bodyPr wrap="square"/>
                    <a:lstStyle/>
                    <a:p>
                      <a:pPr>
                        <a:lnSpc>
                          <a:spcPts val="1450"/>
                        </a:lnSpc>
                      </a:pPr>
                      <a:r>
                        <a:rPr sz="1100" b="1">
                          <a:solidFill>
                            <a:srgbClr val="17202B"/>
                          </a:solidFill>
                          <a:latin typeface="Inter"/>
                        </a:rPr>
                        <a:t>Theme</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solidFill>
                      <a:srgbClr val="E3E1DD"/>
                    </a:solidFill>
                  </a:tcPr>
                </a:tc>
                <a:tc>
                  <a:txBody>
                    <a:bodyPr wrap="square"/>
                    <a:lstStyle/>
                    <a:p>
                      <a:pPr>
                        <a:lnSpc>
                          <a:spcPts val="1450"/>
                        </a:lnSpc>
                      </a:pPr>
                      <a:r>
                        <a:rPr sz="1100" b="1">
                          <a:solidFill>
                            <a:srgbClr val="17202B"/>
                          </a:solidFill>
                          <a:latin typeface="Inter"/>
                        </a:rPr>
                        <a:t>Rates</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solidFill>
                      <a:srgbClr val="E3E1DD"/>
                    </a:solidFill>
                  </a:tcPr>
                </a:tc>
                <a:tc>
                  <a:txBody>
                    <a:bodyPr wrap="square"/>
                    <a:lstStyle/>
                    <a:p>
                      <a:pPr>
                        <a:lnSpc>
                          <a:spcPts val="1450"/>
                        </a:lnSpc>
                      </a:pPr>
                      <a:r>
                        <a:rPr sz="1100" b="1">
                          <a:solidFill>
                            <a:srgbClr val="17202B"/>
                          </a:solidFill>
                          <a:latin typeface="Inter"/>
                        </a:rPr>
                        <a:t>FX</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solidFill>
                      <a:srgbClr val="E3E1DD"/>
                    </a:solidFill>
                  </a:tcPr>
                </a:tc>
                <a:tc>
                  <a:txBody>
                    <a:bodyPr wrap="square"/>
                    <a:lstStyle/>
                    <a:p>
                      <a:pPr>
                        <a:lnSpc>
                          <a:spcPts val="1450"/>
                        </a:lnSpc>
                      </a:pPr>
                      <a:r>
                        <a:rPr sz="1100" b="1">
                          <a:solidFill>
                            <a:srgbClr val="17202B"/>
                          </a:solidFill>
                          <a:latin typeface="Inter"/>
                        </a:rPr>
                        <a:t>Equities</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solidFill>
                      <a:srgbClr val="E3E1DD"/>
                    </a:solidFill>
                  </a:tcPr>
                </a:tc>
                <a:tc>
                  <a:txBody>
                    <a:bodyPr wrap="square"/>
                    <a:lstStyle/>
                    <a:p>
                      <a:pPr>
                        <a:lnSpc>
                          <a:spcPts val="1450"/>
                        </a:lnSpc>
                      </a:pPr>
                      <a:r>
                        <a:rPr sz="1100" b="1">
                          <a:solidFill>
                            <a:srgbClr val="17202B"/>
                          </a:solidFill>
                          <a:latin typeface="Inter"/>
                        </a:rPr>
                        <a:t>Commodities</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solidFill>
                      <a:srgbClr val="E3E1DD"/>
                    </a:solidFill>
                  </a:tcPr>
                </a:tc>
                <a:tc>
                  <a:txBody>
                    <a:bodyPr wrap="square"/>
                    <a:lstStyle/>
                    <a:p>
                      <a:pPr>
                        <a:lnSpc>
                          <a:spcPts val="1450"/>
                        </a:lnSpc>
                      </a:pPr>
                      <a:r>
                        <a:rPr sz="1100" b="1">
                          <a:solidFill>
                            <a:srgbClr val="17202B"/>
                          </a:solidFill>
                          <a:latin typeface="Inter"/>
                        </a:rPr>
                        <a:t>Suitable expression</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solidFill>
                      <a:srgbClr val="E3E1DD"/>
                    </a:solidFill>
                  </a:tcPr>
                </a:tc>
              </a:tr>
              <a:tr h="384048">
                <a:tc>
                  <a:txBody>
                    <a:bodyPr wrap="square"/>
                    <a:lstStyle/>
                    <a:p>
                      <a:pPr>
                        <a:lnSpc>
                          <a:spcPts val="1450"/>
                        </a:lnSpc>
                      </a:pPr>
                      <a:r>
                        <a:rPr sz="1100" b="1">
                          <a:solidFill>
                            <a:srgbClr val="17202B"/>
                          </a:solidFill>
                          <a:latin typeface="Inter"/>
                        </a:rPr>
                        <a:t>Dollar debasement</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US curve steeper, term premium ↑</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USD ↓ vs EUR, JPY, CHF</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Non-US over US</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Gold ↑</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17202B"/>
                          </a:solidFill>
                          <a:latin typeface="Inter"/>
                        </a:rPr>
                        <a:t>Long gold; USD puts vs EUR, JPY</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r>
              <a:tr h="384048">
                <a:tc>
                  <a:txBody>
                    <a:bodyPr wrap="square"/>
                    <a:lstStyle/>
                    <a:p>
                      <a:pPr>
                        <a:lnSpc>
                          <a:spcPts val="1450"/>
                        </a:lnSpc>
                      </a:pPr>
                      <a:r>
                        <a:rPr sz="1100" b="1">
                          <a:solidFill>
                            <a:srgbClr val="17202B"/>
                          </a:solidFill>
                          <a:latin typeface="Inter"/>
                        </a:rPr>
                        <a:t>AI boom</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US real yields ↑</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USD ↑; KRW, TWD ↑</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Semis, tech ↑</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Copper, power ↑</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17202B"/>
                          </a:solidFill>
                          <a:latin typeface="Inter"/>
                        </a:rPr>
                        <a:t>Long semis vs index; long copper</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r>
              <a:tr h="384048">
                <a:tc>
                  <a:txBody>
                    <a:bodyPr wrap="square"/>
                    <a:lstStyle/>
                    <a:p>
                      <a:pPr>
                        <a:lnSpc>
                          <a:spcPts val="1450"/>
                        </a:lnSpc>
                      </a:pPr>
                      <a:r>
                        <a:rPr sz="1100" b="1">
                          <a:solidFill>
                            <a:srgbClr val="17202B"/>
                          </a:solidFill>
                          <a:latin typeface="Inter"/>
                        </a:rPr>
                        <a:t>Europe: growth and fiscal</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Bunds cheapen vs swaps, curve steeper</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EUR ↑</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Defence, banks ↑</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17202B"/>
                          </a:solidFill>
                          <a:latin typeface="Inter"/>
                        </a:rPr>
                        <a:t>EUR 10s30s steepener; long EUR/USD</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r>
              <a:tr h="384048">
                <a:tc>
                  <a:txBody>
                    <a:bodyPr wrap="square"/>
                    <a:lstStyle/>
                    <a:p>
                      <a:pPr>
                        <a:lnSpc>
                          <a:spcPts val="1450"/>
                        </a:lnSpc>
                      </a:pPr>
                      <a:r>
                        <a:rPr sz="1100" b="1">
                          <a:solidFill>
                            <a:srgbClr val="17202B"/>
                          </a:solidFill>
                          <a:latin typeface="Inter"/>
                        </a:rPr>
                        <a:t>UK: BoE hikes gradually</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SONIA front end ↑, gilt curve flatter</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GBP ↑</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FTSE 250 ↓</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5F6670"/>
                          </a:solidFill>
                          <a:latin typeface="Inter"/>
                        </a:rPr>
                        <a:t>–</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c>
                  <a:txBody>
                    <a:bodyPr wrap="square"/>
                    <a:lstStyle/>
                    <a:p>
                      <a:pPr>
                        <a:lnSpc>
                          <a:spcPts val="1450"/>
                        </a:lnSpc>
                      </a:pPr>
                      <a:r>
                        <a:rPr sz="1100" b="0">
                          <a:solidFill>
                            <a:srgbClr val="17202B"/>
                          </a:solidFill>
                          <a:latin typeface="Inter"/>
                        </a:rPr>
                        <a:t>Gilt 2s10s flattener; GBP/USD calls</a:t>
                      </a:r>
                    </a:p>
                  </a:txBody>
                  <a:tcPr marL="91440" marR="91440" marT="54864" marB="54864" anchor="ctr">
                    <a:lnL w="12700">
                      <a:solidFill>
                        <a:srgbClr val="C4C4C2"/>
                      </a:solidFill>
                    </a:lnL>
                    <a:lnR w="12700">
                      <a:solidFill>
                        <a:srgbClr val="C4C4C2"/>
                      </a:solidFill>
                    </a:lnR>
                    <a:lnT w="12700">
                      <a:solidFill>
                        <a:srgbClr val="C4C4C2"/>
                      </a:solidFill>
                    </a:lnT>
                    <a:lnB w="12700">
                      <a:solidFill>
                        <a:srgbClr val="C4C4C2"/>
                      </a:solidFill>
                    </a:lnB>
                    <a:noFill/>
                  </a:tcPr>
                </a:tc>
              </a:tr>
            </a:tbl>
          </a:graphicData>
        </a:graphic>
      </p:graphicFrame>
      <p:sp>
        <p:nvSpPr>
          <p:cNvPr id="16" name="TextBox 15"/>
          <p:cNvSpPr txBox="1"/>
          <p:nvPr/>
        </p:nvSpPr>
        <p:spPr>
          <a:xfrm>
            <a:off x="813816" y="6373368"/>
            <a:ext cx="10881360" cy="274320"/>
          </a:xfrm>
          <a:prstGeom prst="rect">
            <a:avLst/>
          </a:prstGeom>
          <a:noFill/>
        </p:spPr>
        <p:txBody>
          <a:bodyPr wrap="square" lIns="0" rIns="0" tIns="0" bIns="0" anchor="t">
            <a:spAutoFit/>
          </a:bodyPr>
          <a:lstStyle/>
          <a:p>
            <a:pPr>
              <a:lnSpc>
                <a:spcPts val="1500"/>
              </a:lnSpc>
            </a:pPr>
            <a:r>
              <a:rPr sz="1100" b="0" i="0">
                <a:solidFill>
                  <a:srgbClr val="6B7078"/>
                </a:solidFill>
                <a:latin typeface="Inter"/>
              </a:rPr>
              <a:t>Illustrative: expected directions and expressions are examples for discussion, not positions or recommendations.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TextBox 1"/>
          <p:cNvSpPr txBox="1"/>
          <p:nvPr/>
        </p:nvSpPr>
        <p:spPr>
          <a:xfrm>
            <a:off x="813816" y="813816"/>
            <a:ext cx="10881360" cy="502920"/>
          </a:xfrm>
          <a:prstGeom prst="rect">
            <a:avLst/>
          </a:prstGeom>
          <a:noFill/>
        </p:spPr>
        <p:txBody>
          <a:bodyPr wrap="square" lIns="0" rIns="0" tIns="0" bIns="0" anchor="t">
            <a:spAutoFit/>
          </a:bodyPr>
          <a:lstStyle/>
          <a:p>
            <a:pPr>
              <a:lnSpc>
                <a:spcPts val="3600"/>
              </a:lnSpc>
            </a:pPr>
            <a:r>
              <a:rPr sz="3000" b="0" i="0">
                <a:solidFill>
                  <a:srgbClr val="17202B"/>
                </a:solidFill>
                <a:latin typeface="Source Serif 4"/>
              </a:rPr>
              <a:t>The toolkit: every tool answers a question in the framework</a:t>
            </a:r>
          </a:p>
        </p:txBody>
      </p:sp>
      <p:sp>
        <p:nvSpPr>
          <p:cNvPr id="3" name="Rounded Rectangle 2"/>
          <p:cNvSpPr/>
          <p:nvPr/>
        </p:nvSpPr>
        <p:spPr>
          <a:xfrm>
            <a:off x="813816" y="1517904"/>
            <a:ext cx="2029967" cy="470916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9264" y="1673351"/>
            <a:ext cx="1719071" cy="123444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01 · THEMES</a:t>
            </a:r>
          </a:p>
          <a:p>
            <a:pPr>
              <a:lnSpc>
                <a:spcPts val="1900"/>
              </a:lnSpc>
              <a:spcBef>
                <a:spcPts val="600"/>
              </a:spcBef>
            </a:pPr>
            <a:r>
              <a:rPr sz="1500" b="1" i="0">
                <a:solidFill>
                  <a:srgbClr val="17202B"/>
                </a:solidFill>
                <a:latin typeface="Inter"/>
              </a:rPr>
              <a:t>Macro regime</a:t>
            </a:r>
          </a:p>
          <a:p>
            <a:pPr>
              <a:lnSpc>
                <a:spcPts val="1600"/>
              </a:lnSpc>
              <a:spcBef>
                <a:spcPts val="600"/>
              </a:spcBef>
            </a:pPr>
            <a:r>
              <a:rPr sz="1200" b="0" i="1">
                <a:solidFill>
                  <a:srgbClr val="17202B"/>
                </a:solidFill>
                <a:latin typeface="Inter"/>
              </a:rPr>
              <a:t>Where are growth and inflation surprising, and do rates reflect it?</a:t>
            </a:r>
          </a:p>
        </p:txBody>
      </p:sp>
      <p:cxnSp>
        <p:nvCxnSpPr>
          <p:cNvPr id="5" name="Connector 4"/>
          <p:cNvCxnSpPr/>
          <p:nvPr/>
        </p:nvCxnSpPr>
        <p:spPr>
          <a:xfrm>
            <a:off x="969264" y="2999232"/>
            <a:ext cx="1719071"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69264" y="3108960"/>
            <a:ext cx="1719071" cy="3017520"/>
          </a:xfrm>
          <a:prstGeom prst="rect">
            <a:avLst/>
          </a:prstGeom>
          <a:noFill/>
        </p:spPr>
        <p:txBody>
          <a:bodyPr wrap="square" lIns="0" rIns="0" tIns="0" bIns="0" anchor="t">
            <a:spAutoFit/>
          </a:bodyPr>
          <a:lstStyle/>
          <a:p>
            <a:pPr>
              <a:lnSpc>
                <a:spcPts val="1550"/>
              </a:lnSpc>
            </a:pPr>
            <a:r>
              <a:rPr sz="1200" b="1" i="0">
                <a:solidFill>
                  <a:srgbClr val="17202B"/>
                </a:solidFill>
                <a:latin typeface="Inter"/>
              </a:rPr>
              <a:t>Macro heatmaps</a:t>
            </a:r>
          </a:p>
          <a:p>
            <a:pPr>
              <a:lnSpc>
                <a:spcPts val="1350"/>
              </a:lnSpc>
              <a:spcBef>
                <a:spcPts val="100"/>
              </a:spcBef>
            </a:pPr>
            <a:r>
              <a:rPr sz="1050" b="0" i="0">
                <a:solidFill>
                  <a:srgbClr val="5F6670"/>
                </a:solidFill>
                <a:latin typeface="Inter"/>
              </a:rPr>
              <a:t>Mixed-frequency dynamic factor models (Kalman filter) nowcast growth and inflation in 10 economies; yield PCs regressed on the factors</a:t>
            </a:r>
          </a:p>
          <a:p>
            <a:pPr>
              <a:lnSpc>
                <a:spcPts val="1550"/>
              </a:lnSpc>
              <a:spcBef>
                <a:spcPts val="800"/>
              </a:spcBef>
            </a:pPr>
            <a:r>
              <a:rPr sz="1200" b="1" i="0">
                <a:solidFill>
                  <a:srgbClr val="17202B"/>
                </a:solidFill>
                <a:latin typeface="Inter"/>
              </a:rPr>
              <a:t>Global yields factor model</a:t>
            </a:r>
          </a:p>
          <a:p>
            <a:pPr>
              <a:lnSpc>
                <a:spcPts val="1350"/>
              </a:lnSpc>
              <a:spcBef>
                <a:spcPts val="100"/>
              </a:spcBef>
            </a:pPr>
            <a:r>
              <a:rPr sz="1050" b="0" i="0">
                <a:solidFill>
                  <a:srgbClr val="5F6670"/>
                </a:solidFill>
                <a:latin typeface="Inter"/>
              </a:rPr>
              <a:t>PCA on 10y yields across DM and EM (global, DM, EM factors); residuals give rich/cheap z-scores</a:t>
            </a:r>
          </a:p>
        </p:txBody>
      </p:sp>
      <p:sp>
        <p:nvSpPr>
          <p:cNvPr id="7" name="Rounded Rectangle 6"/>
          <p:cNvSpPr/>
          <p:nvPr/>
        </p:nvSpPr>
        <p:spPr>
          <a:xfrm>
            <a:off x="3026664" y="1517904"/>
            <a:ext cx="2029967" cy="470916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2112" y="1673351"/>
            <a:ext cx="1719071" cy="123444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02 · PROBABILITIES</a:t>
            </a:r>
          </a:p>
          <a:p>
            <a:pPr>
              <a:lnSpc>
                <a:spcPts val="1900"/>
              </a:lnSpc>
              <a:spcBef>
                <a:spcPts val="600"/>
              </a:spcBef>
            </a:pPr>
            <a:r>
              <a:rPr sz="1500" b="1" i="0">
                <a:solidFill>
                  <a:srgbClr val="17202B"/>
                </a:solidFill>
                <a:latin typeface="Inter"/>
              </a:rPr>
              <a:t>Implied odds</a:t>
            </a:r>
          </a:p>
          <a:p>
            <a:pPr>
              <a:lnSpc>
                <a:spcPts val="1600"/>
              </a:lnSpc>
              <a:spcBef>
                <a:spcPts val="600"/>
              </a:spcBef>
            </a:pPr>
            <a:r>
              <a:rPr sz="1200" b="0" i="1">
                <a:solidFill>
                  <a:srgbClr val="17202B"/>
                </a:solidFill>
                <a:latin typeface="Inter"/>
              </a:rPr>
              <a:t>What does the market already price?</a:t>
            </a:r>
          </a:p>
        </p:txBody>
      </p:sp>
      <p:cxnSp>
        <p:nvCxnSpPr>
          <p:cNvPr id="9" name="Connector 8"/>
          <p:cNvCxnSpPr/>
          <p:nvPr/>
        </p:nvCxnSpPr>
        <p:spPr>
          <a:xfrm>
            <a:off x="3182112" y="2999232"/>
            <a:ext cx="1719071"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182112" y="3108960"/>
            <a:ext cx="1719071" cy="3017520"/>
          </a:xfrm>
          <a:prstGeom prst="rect">
            <a:avLst/>
          </a:prstGeom>
          <a:noFill/>
        </p:spPr>
        <p:txBody>
          <a:bodyPr wrap="square" lIns="0" rIns="0" tIns="0" bIns="0" anchor="t">
            <a:spAutoFit/>
          </a:bodyPr>
          <a:lstStyle/>
          <a:p>
            <a:pPr>
              <a:lnSpc>
                <a:spcPts val="1550"/>
              </a:lnSpc>
            </a:pPr>
            <a:r>
              <a:rPr sz="1200" b="1" i="0">
                <a:solidFill>
                  <a:srgbClr val="17202B"/>
                </a:solidFill>
                <a:latin typeface="Inter"/>
              </a:rPr>
              <a:t>Option-implied scenarios</a:t>
            </a:r>
          </a:p>
          <a:p>
            <a:pPr>
              <a:lnSpc>
                <a:spcPts val="1350"/>
              </a:lnSpc>
              <a:spcBef>
                <a:spcPts val="100"/>
              </a:spcBef>
            </a:pPr>
            <a:r>
              <a:rPr sz="1050" b="0" i="0">
                <a:solidFill>
                  <a:srgbClr val="5F6670"/>
                </a:solidFill>
                <a:latin typeface="Inter"/>
              </a:rPr>
              <a:t>Gram-Charlier densities from swaption forwards and normal vols; options monitor tracks vol, skew and premium</a:t>
            </a:r>
          </a:p>
          <a:p>
            <a:pPr>
              <a:lnSpc>
                <a:spcPts val="1550"/>
              </a:lnSpc>
              <a:spcBef>
                <a:spcPts val="800"/>
              </a:spcBef>
            </a:pPr>
            <a:r>
              <a:rPr sz="1200" b="1" i="0">
                <a:solidFill>
                  <a:srgbClr val="17202B"/>
                </a:solidFill>
                <a:latin typeface="Inter"/>
              </a:rPr>
              <a:t>Fair value modelling</a:t>
            </a:r>
          </a:p>
          <a:p>
            <a:pPr>
              <a:lnSpc>
                <a:spcPts val="1350"/>
              </a:lnSpc>
              <a:spcBef>
                <a:spcPts val="100"/>
              </a:spcBef>
            </a:pPr>
            <a:r>
              <a:rPr sz="1050" b="0" i="0">
                <a:solidFill>
                  <a:srgbClr val="5F6670"/>
                </a:solidFill>
                <a:latin typeface="Inter"/>
              </a:rPr>
              <a:t>Rolling elastic-net models of rates, inflation and spreads on macro and market drivers</a:t>
            </a:r>
          </a:p>
          <a:p>
            <a:pPr>
              <a:lnSpc>
                <a:spcPts val="1550"/>
              </a:lnSpc>
              <a:spcBef>
                <a:spcPts val="800"/>
              </a:spcBef>
            </a:pPr>
            <a:r>
              <a:rPr sz="1200" b="1" i="0">
                <a:solidFill>
                  <a:srgbClr val="17202B"/>
                </a:solidFill>
                <a:latin typeface="Inter"/>
              </a:rPr>
              <a:t>Inflation fixings</a:t>
            </a:r>
          </a:p>
          <a:p>
            <a:pPr>
              <a:lnSpc>
                <a:spcPts val="1350"/>
              </a:lnSpc>
              <a:spcBef>
                <a:spcPts val="100"/>
              </a:spcBef>
            </a:pPr>
            <a:r>
              <a:rPr sz="1050" b="0" i="0">
                <a:solidFill>
                  <a:srgbClr val="5F6670"/>
                </a:solidFill>
                <a:latin typeface="Inter"/>
              </a:rPr>
              <a:t>HICP, RPI and US CPI index paths rebuilt from fixing swaps</a:t>
            </a:r>
          </a:p>
        </p:txBody>
      </p:sp>
      <p:sp>
        <p:nvSpPr>
          <p:cNvPr id="11" name="Rounded Rectangle 10"/>
          <p:cNvSpPr/>
          <p:nvPr/>
        </p:nvSpPr>
        <p:spPr>
          <a:xfrm>
            <a:off x="5239512" y="1517904"/>
            <a:ext cx="2029967" cy="470916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59" y="1673351"/>
            <a:ext cx="1719071" cy="123444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03 · TRADES</a:t>
            </a:r>
          </a:p>
          <a:p>
            <a:pPr>
              <a:lnSpc>
                <a:spcPts val="1900"/>
              </a:lnSpc>
              <a:spcBef>
                <a:spcPts val="600"/>
              </a:spcBef>
            </a:pPr>
            <a:r>
              <a:rPr sz="1500" b="1" i="0">
                <a:solidFill>
                  <a:srgbClr val="17202B"/>
                </a:solidFill>
                <a:latin typeface="Inter"/>
              </a:rPr>
              <a:t>Relative value</a:t>
            </a:r>
          </a:p>
          <a:p>
            <a:pPr>
              <a:lnSpc>
                <a:spcPts val="1600"/>
              </a:lnSpc>
              <a:spcBef>
                <a:spcPts val="600"/>
              </a:spcBef>
            </a:pPr>
            <a:r>
              <a:rPr sz="1200" b="0" i="1">
                <a:solidFill>
                  <a:srgbClr val="17202B"/>
                </a:solidFill>
                <a:latin typeface="Inter"/>
              </a:rPr>
              <a:t>Which instrument expresses the view most cheaply?</a:t>
            </a:r>
          </a:p>
        </p:txBody>
      </p:sp>
      <p:cxnSp>
        <p:nvCxnSpPr>
          <p:cNvPr id="13" name="Connector 12"/>
          <p:cNvCxnSpPr/>
          <p:nvPr/>
        </p:nvCxnSpPr>
        <p:spPr>
          <a:xfrm>
            <a:off x="5394959" y="2999232"/>
            <a:ext cx="1719072"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394959" y="3108960"/>
            <a:ext cx="1719071" cy="3017520"/>
          </a:xfrm>
          <a:prstGeom prst="rect">
            <a:avLst/>
          </a:prstGeom>
          <a:noFill/>
        </p:spPr>
        <p:txBody>
          <a:bodyPr wrap="square" lIns="0" rIns="0" tIns="0" bIns="0" anchor="t">
            <a:spAutoFit/>
          </a:bodyPr>
          <a:lstStyle/>
          <a:p>
            <a:pPr>
              <a:lnSpc>
                <a:spcPts val="1550"/>
              </a:lnSpc>
            </a:pPr>
            <a:r>
              <a:rPr sz="1200" b="1" i="0">
                <a:solidFill>
                  <a:srgbClr val="17202B"/>
                </a:solidFill>
                <a:latin typeface="Inter"/>
              </a:rPr>
              <a:t>Swap and EGB RV</a:t>
            </a:r>
          </a:p>
          <a:p>
            <a:pPr>
              <a:lnSpc>
                <a:spcPts val="1350"/>
              </a:lnSpc>
              <a:spcBef>
                <a:spcPts val="100"/>
              </a:spcBef>
            </a:pPr>
            <a:r>
              <a:rPr sz="1050" b="0" i="0">
                <a:solidFill>
                  <a:srgbClr val="5F6670"/>
                </a:solidFill>
                <a:latin typeface="Inter"/>
              </a:rPr>
              <a:t>Curves, flies and spreads by z-score, carry and roll; OIS and repo-bloc carry</a:t>
            </a:r>
          </a:p>
          <a:p>
            <a:pPr>
              <a:lnSpc>
                <a:spcPts val="1550"/>
              </a:lnSpc>
              <a:spcBef>
                <a:spcPts val="800"/>
              </a:spcBef>
            </a:pPr>
            <a:r>
              <a:rPr sz="1200" b="1" i="0">
                <a:solidFill>
                  <a:srgbClr val="17202B"/>
                </a:solidFill>
                <a:latin typeface="Inter"/>
              </a:rPr>
              <a:t>Fitted bond curves</a:t>
            </a:r>
          </a:p>
          <a:p>
            <a:pPr>
              <a:lnSpc>
                <a:spcPts val="1350"/>
              </a:lnSpc>
              <a:spcBef>
                <a:spcPts val="100"/>
              </a:spcBef>
            </a:pPr>
            <a:r>
              <a:rPr sz="1050" b="0" i="0">
                <a:solidFill>
                  <a:srgbClr val="5F6670"/>
                </a:solidFill>
                <a:latin typeface="Inter"/>
              </a:rPr>
              <a:t>Spline-fitted curve with issue size, age and deliverability terms</a:t>
            </a:r>
          </a:p>
          <a:p>
            <a:pPr>
              <a:lnSpc>
                <a:spcPts val="1550"/>
              </a:lnSpc>
              <a:spcBef>
                <a:spcPts val="800"/>
              </a:spcBef>
            </a:pPr>
            <a:r>
              <a:rPr sz="1200" b="1" i="0">
                <a:solidFill>
                  <a:srgbClr val="17202B"/>
                </a:solidFill>
                <a:latin typeface="Inter"/>
              </a:rPr>
              <a:t>PCA (rates, inflation)</a:t>
            </a:r>
          </a:p>
          <a:p>
            <a:pPr>
              <a:lnSpc>
                <a:spcPts val="1350"/>
              </a:lnSpc>
              <a:spcBef>
                <a:spcPts val="100"/>
              </a:spcBef>
            </a:pPr>
            <a:r>
              <a:rPr sz="1050" b="0" i="0">
                <a:solidFill>
                  <a:srgbClr val="5F6670"/>
                </a:solidFill>
                <a:latin typeface="Inter"/>
              </a:rPr>
              <a:t>Level/slope/curvature-hedged flies on nominal and linker curves</a:t>
            </a:r>
          </a:p>
          <a:p>
            <a:pPr>
              <a:lnSpc>
                <a:spcPts val="1550"/>
              </a:lnSpc>
              <a:spcBef>
                <a:spcPts val="800"/>
              </a:spcBef>
            </a:pPr>
            <a:r>
              <a:rPr sz="1200" b="1" i="0">
                <a:solidFill>
                  <a:srgbClr val="17202B"/>
                </a:solidFill>
                <a:latin typeface="Inter"/>
              </a:rPr>
              <a:t>Mean reversion (OU)</a:t>
            </a:r>
          </a:p>
          <a:p>
            <a:pPr>
              <a:lnSpc>
                <a:spcPts val="1350"/>
              </a:lnSpc>
              <a:spcBef>
                <a:spcPts val="100"/>
              </a:spcBef>
            </a:pPr>
            <a:r>
              <a:rPr sz="1050" b="0" i="0">
                <a:solidFill>
                  <a:srgbClr val="5F6670"/>
                </a:solidFill>
                <a:latin typeface="Inter"/>
              </a:rPr>
              <a:t>Half-life, forward distributions, Sharpe by horizon, hit odds</a:t>
            </a:r>
          </a:p>
        </p:txBody>
      </p:sp>
      <p:sp>
        <p:nvSpPr>
          <p:cNvPr id="15" name="Rounded Rectangle 14"/>
          <p:cNvSpPr/>
          <p:nvPr/>
        </p:nvSpPr>
        <p:spPr>
          <a:xfrm>
            <a:off x="7452360" y="1517904"/>
            <a:ext cx="2029967" cy="470916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07808" y="1673351"/>
            <a:ext cx="1719071" cy="123444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03 · TRADES</a:t>
            </a:r>
          </a:p>
          <a:p>
            <a:pPr>
              <a:lnSpc>
                <a:spcPts val="1900"/>
              </a:lnSpc>
              <a:spcBef>
                <a:spcPts val="600"/>
              </a:spcBef>
            </a:pPr>
            <a:r>
              <a:rPr sz="1500" b="1" i="0">
                <a:solidFill>
                  <a:srgbClr val="17202B"/>
                </a:solidFill>
                <a:latin typeface="Inter"/>
              </a:rPr>
              <a:t>Positioning and timing</a:t>
            </a:r>
          </a:p>
          <a:p>
            <a:pPr>
              <a:lnSpc>
                <a:spcPts val="1600"/>
              </a:lnSpc>
              <a:spcBef>
                <a:spcPts val="600"/>
              </a:spcBef>
            </a:pPr>
            <a:r>
              <a:rPr sz="1200" b="0" i="1">
                <a:solidFill>
                  <a:srgbClr val="17202B"/>
                </a:solidFill>
                <a:latin typeface="Inter"/>
              </a:rPr>
              <a:t>Is the trade crowded, and when do we enter?</a:t>
            </a:r>
          </a:p>
        </p:txBody>
      </p:sp>
      <p:cxnSp>
        <p:nvCxnSpPr>
          <p:cNvPr id="17" name="Connector 16"/>
          <p:cNvCxnSpPr/>
          <p:nvPr/>
        </p:nvCxnSpPr>
        <p:spPr>
          <a:xfrm>
            <a:off x="7607808" y="2999232"/>
            <a:ext cx="1719072"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607808" y="3108960"/>
            <a:ext cx="1719071" cy="3017520"/>
          </a:xfrm>
          <a:prstGeom prst="rect">
            <a:avLst/>
          </a:prstGeom>
          <a:noFill/>
        </p:spPr>
        <p:txBody>
          <a:bodyPr wrap="square" lIns="0" rIns="0" tIns="0" bIns="0" anchor="t">
            <a:spAutoFit/>
          </a:bodyPr>
          <a:lstStyle/>
          <a:p>
            <a:pPr>
              <a:lnSpc>
                <a:spcPts val="1550"/>
              </a:lnSpc>
            </a:pPr>
            <a:r>
              <a:rPr sz="1200" b="1" i="0">
                <a:solidFill>
                  <a:srgbClr val="17202B"/>
                </a:solidFill>
                <a:latin typeface="Inter"/>
              </a:rPr>
              <a:t>Rates positioning</a:t>
            </a:r>
          </a:p>
          <a:p>
            <a:pPr>
              <a:lnSpc>
                <a:spcPts val="1350"/>
              </a:lnSpc>
              <a:spcBef>
                <a:spcPts val="100"/>
              </a:spcBef>
            </a:pPr>
            <a:r>
              <a:rPr sz="1050" b="0" i="0">
                <a:solidFill>
                  <a:srgbClr val="5F6670"/>
                </a:solidFill>
                <a:latin typeface="Inter"/>
              </a:rPr>
              <a:t>Daily price and open-interest signal, DV01-weighted and anchored to weekly COT via a Kalman filter; Euribor now, bond futures next</a:t>
            </a:r>
          </a:p>
          <a:p>
            <a:pPr>
              <a:lnSpc>
                <a:spcPts val="1550"/>
              </a:lnSpc>
              <a:spcBef>
                <a:spcPts val="800"/>
              </a:spcBef>
            </a:pPr>
            <a:r>
              <a:rPr sz="1200" b="1" i="0">
                <a:solidFill>
                  <a:srgbClr val="17202B"/>
                </a:solidFill>
                <a:latin typeface="Inter"/>
              </a:rPr>
              <a:t>Momentum</a:t>
            </a:r>
          </a:p>
          <a:p>
            <a:pPr>
              <a:lnSpc>
                <a:spcPts val="1350"/>
              </a:lnSpc>
              <a:spcBef>
                <a:spcPts val="100"/>
              </a:spcBef>
            </a:pPr>
            <a:r>
              <a:rPr sz="1050" b="0" i="0">
                <a:solidFill>
                  <a:srgbClr val="5F6670"/>
                </a:solidFill>
                <a:latin typeface="Inter"/>
              </a:rPr>
              <a:t>Vol-scaled CTA signals over 1–12m lookbacks</a:t>
            </a:r>
          </a:p>
          <a:p>
            <a:pPr>
              <a:lnSpc>
                <a:spcPts val="1550"/>
              </a:lnSpc>
              <a:spcBef>
                <a:spcPts val="800"/>
              </a:spcBef>
            </a:pPr>
            <a:r>
              <a:rPr sz="1200" b="1" i="0">
                <a:solidFill>
                  <a:srgbClr val="17202B"/>
                </a:solidFill>
                <a:latin typeface="Inter"/>
              </a:rPr>
              <a:t>Print analysis</a:t>
            </a:r>
          </a:p>
          <a:p>
            <a:pPr>
              <a:lnSpc>
                <a:spcPts val="1350"/>
              </a:lnSpc>
              <a:spcBef>
                <a:spcPts val="100"/>
              </a:spcBef>
            </a:pPr>
            <a:r>
              <a:rPr sz="1050" b="0" i="0">
                <a:solidFill>
                  <a:srgbClr val="5F6670"/>
                </a:solidFill>
                <a:latin typeface="Inter"/>
              </a:rPr>
              <a:t>Surprises vs the consensus range, and market reaction</a:t>
            </a:r>
          </a:p>
          <a:p>
            <a:pPr>
              <a:lnSpc>
                <a:spcPts val="1550"/>
              </a:lnSpc>
              <a:spcBef>
                <a:spcPts val="800"/>
              </a:spcBef>
            </a:pPr>
            <a:r>
              <a:rPr sz="1200" b="1" i="0">
                <a:solidFill>
                  <a:srgbClr val="17202B"/>
                </a:solidFill>
                <a:latin typeface="Inter"/>
              </a:rPr>
              <a:t>Seasonality backtester</a:t>
            </a:r>
          </a:p>
          <a:p>
            <a:pPr>
              <a:lnSpc>
                <a:spcPts val="1350"/>
              </a:lnSpc>
              <a:spcBef>
                <a:spcPts val="100"/>
              </a:spcBef>
            </a:pPr>
            <a:r>
              <a:rPr sz="1050" b="0" i="0">
                <a:solidFill>
                  <a:srgbClr val="5F6670"/>
                </a:solidFill>
                <a:latin typeface="Inter"/>
              </a:rPr>
              <a:t>Calendar patterns backtested with PnL metrics</a:t>
            </a:r>
          </a:p>
        </p:txBody>
      </p:sp>
      <p:sp>
        <p:nvSpPr>
          <p:cNvPr id="19" name="Rounded Rectangle 18"/>
          <p:cNvSpPr/>
          <p:nvPr/>
        </p:nvSpPr>
        <p:spPr>
          <a:xfrm>
            <a:off x="9665208" y="1517904"/>
            <a:ext cx="2029967" cy="4709160"/>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20656" y="1673351"/>
            <a:ext cx="1719071" cy="123444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04–05 · PORTFOLIO</a:t>
            </a:r>
          </a:p>
          <a:p>
            <a:pPr>
              <a:lnSpc>
                <a:spcPts val="1900"/>
              </a:lnSpc>
              <a:spcBef>
                <a:spcPts val="600"/>
              </a:spcBef>
            </a:pPr>
            <a:r>
              <a:rPr sz="1500" b="1" i="0">
                <a:solidFill>
                  <a:srgbClr val="17202B"/>
                </a:solidFill>
                <a:latin typeface="Inter"/>
              </a:rPr>
              <a:t>Correlation and risk</a:t>
            </a:r>
          </a:p>
          <a:p>
            <a:pPr>
              <a:lnSpc>
                <a:spcPts val="1600"/>
              </a:lnSpc>
              <a:spcBef>
                <a:spcPts val="600"/>
              </a:spcBef>
            </a:pPr>
            <a:r>
              <a:rPr sz="1200" b="0" i="1">
                <a:solidFill>
                  <a:srgbClr val="17202B"/>
                </a:solidFill>
                <a:latin typeface="Inter"/>
              </a:rPr>
              <a:t>Does the book diversify the way we think it does?</a:t>
            </a:r>
          </a:p>
        </p:txBody>
      </p:sp>
      <p:cxnSp>
        <p:nvCxnSpPr>
          <p:cNvPr id="21" name="Connector 20"/>
          <p:cNvCxnSpPr/>
          <p:nvPr/>
        </p:nvCxnSpPr>
        <p:spPr>
          <a:xfrm>
            <a:off x="9820656" y="2999232"/>
            <a:ext cx="1719072"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820656" y="3108960"/>
            <a:ext cx="1719071" cy="3017520"/>
          </a:xfrm>
          <a:prstGeom prst="rect">
            <a:avLst/>
          </a:prstGeom>
          <a:noFill/>
        </p:spPr>
        <p:txBody>
          <a:bodyPr wrap="square" lIns="0" rIns="0" tIns="0" bIns="0" anchor="t">
            <a:spAutoFit/>
          </a:bodyPr>
          <a:lstStyle/>
          <a:p>
            <a:pPr>
              <a:lnSpc>
                <a:spcPts val="1550"/>
              </a:lnSpc>
            </a:pPr>
            <a:r>
              <a:rPr sz="1200" b="1" i="0">
                <a:solidFill>
                  <a:srgbClr val="17202B"/>
                </a:solidFill>
                <a:latin typeface="Inter"/>
              </a:rPr>
              <a:t>Correlation regimes</a:t>
            </a:r>
          </a:p>
          <a:p>
            <a:pPr>
              <a:lnSpc>
                <a:spcPts val="1350"/>
              </a:lnSpc>
              <a:spcBef>
                <a:spcPts val="100"/>
              </a:spcBef>
            </a:pPr>
            <a:r>
              <a:rPr sz="1050" b="0" i="0">
                <a:solidFill>
                  <a:srgbClr val="5F6670"/>
                </a:solidFill>
                <a:latin typeface="Inter"/>
              </a:rPr>
              <a:t>Flags pairs whose 1m correlation breaks from the prior 6m regime, on daily changes</a:t>
            </a:r>
          </a:p>
          <a:p>
            <a:pPr>
              <a:lnSpc>
                <a:spcPts val="1550"/>
              </a:lnSpc>
              <a:spcBef>
                <a:spcPts val="800"/>
              </a:spcBef>
            </a:pPr>
            <a:r>
              <a:rPr sz="1200" b="1" i="0">
                <a:solidFill>
                  <a:srgbClr val="17202B"/>
                </a:solidFill>
                <a:latin typeface="Inter"/>
              </a:rPr>
              <a:t>Trade blotter and watch</a:t>
            </a:r>
          </a:p>
          <a:p>
            <a:pPr>
              <a:lnSpc>
                <a:spcPts val="1350"/>
              </a:lnSpc>
              <a:spcBef>
                <a:spcPts val="100"/>
              </a:spcBef>
            </a:pPr>
            <a:r>
              <a:rPr sz="1050" b="0" i="0">
                <a:solidFill>
                  <a:srgbClr val="5F6670"/>
                </a:solidFill>
                <a:latin typeface="Inter"/>
              </a:rPr>
              <a:t>The live book, entry levels and alerts</a:t>
            </a:r>
          </a:p>
          <a:p>
            <a:pPr>
              <a:lnSpc>
                <a:spcPts val="1550"/>
              </a:lnSpc>
              <a:spcBef>
                <a:spcPts val="800"/>
              </a:spcBef>
            </a:pPr>
            <a:r>
              <a:rPr sz="1200" b="1" i="0">
                <a:solidFill>
                  <a:srgbClr val="6B7078"/>
                </a:solidFill>
                <a:latin typeface="Inter"/>
              </a:rPr>
              <a:t>In build</a:t>
            </a:r>
          </a:p>
          <a:p>
            <a:pPr>
              <a:lnSpc>
                <a:spcPts val="1350"/>
              </a:lnSpc>
              <a:spcBef>
                <a:spcPts val="100"/>
              </a:spcBef>
            </a:pPr>
            <a:r>
              <a:rPr sz="1050" b="0" i="0">
                <a:solidFill>
                  <a:srgbClr val="5F6670"/>
                </a:solidFill>
                <a:latin typeface="Inter"/>
              </a:rPr>
              <a:t>Supply and funding monitors</a:t>
            </a:r>
          </a:p>
        </p:txBody>
      </p:sp>
      <p:sp>
        <p:nvSpPr>
          <p:cNvPr id="23" name="TextBox 22"/>
          <p:cNvSpPr txBox="1"/>
          <p:nvPr/>
        </p:nvSpPr>
        <p:spPr>
          <a:xfrm>
            <a:off x="813816" y="6373368"/>
            <a:ext cx="10881360" cy="274320"/>
          </a:xfrm>
          <a:prstGeom prst="rect">
            <a:avLst/>
          </a:prstGeom>
          <a:noFill/>
        </p:spPr>
        <p:txBody>
          <a:bodyPr wrap="square" lIns="0" rIns="0" tIns="0" bIns="0" anchor="t">
            <a:spAutoFit/>
          </a:bodyPr>
          <a:lstStyle/>
          <a:p>
            <a:pPr>
              <a:lnSpc>
                <a:spcPts val="1500"/>
              </a:lnSpc>
            </a:pPr>
            <a:r>
              <a:rPr sz="1100" b="0" i="0">
                <a:solidFill>
                  <a:srgbClr val="6B7078"/>
                </a:solidFill>
                <a:latin typeface="Inter"/>
              </a:rPr>
              <a:t>All tools built in-house. Each column feeds the agents on the next 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TextBox 1"/>
          <p:cNvSpPr txBox="1"/>
          <p:nvPr/>
        </p:nvSpPr>
        <p:spPr>
          <a:xfrm>
            <a:off x="813816" y="813816"/>
            <a:ext cx="10881360" cy="502920"/>
          </a:xfrm>
          <a:prstGeom prst="rect">
            <a:avLst/>
          </a:prstGeom>
          <a:noFill/>
        </p:spPr>
        <p:txBody>
          <a:bodyPr wrap="square" lIns="0" rIns="0" tIns="0" bIns="0" anchor="t">
            <a:spAutoFit/>
          </a:bodyPr>
          <a:lstStyle/>
          <a:p>
            <a:pPr>
              <a:lnSpc>
                <a:spcPts val="3600"/>
              </a:lnSpc>
            </a:pPr>
            <a:r>
              <a:rPr sz="3000" b="0" i="0">
                <a:solidFill>
                  <a:srgbClr val="17202B"/>
                </a:solidFill>
                <a:latin typeface="Source Serif 4"/>
              </a:rPr>
              <a:t>AI roadmap: why, how, and the agents that run the framework</a:t>
            </a:r>
          </a:p>
        </p:txBody>
      </p:sp>
      <p:sp>
        <p:nvSpPr>
          <p:cNvPr id="3" name="TextBox 2"/>
          <p:cNvSpPr txBox="1"/>
          <p:nvPr/>
        </p:nvSpPr>
        <p:spPr>
          <a:xfrm>
            <a:off x="813816" y="1517904"/>
            <a:ext cx="10881360" cy="256032"/>
          </a:xfrm>
          <a:prstGeom prst="rect">
            <a:avLst/>
          </a:prstGeom>
          <a:noFill/>
        </p:spPr>
        <p:txBody>
          <a:bodyPr wrap="square" lIns="0" rIns="0" tIns="0" bIns="0" anchor="t">
            <a:spAutoFit/>
          </a:bodyPr>
          <a:lstStyle/>
          <a:p>
            <a:pPr>
              <a:lnSpc>
                <a:spcPts val="1680"/>
              </a:lnSpc>
            </a:pPr>
            <a:r>
              <a:rPr sz="1200" b="1" i="0" spc="100">
                <a:solidFill>
                  <a:srgbClr val="2B5C8A"/>
                </a:solidFill>
                <a:latin typeface="Inter"/>
              </a:rPr>
              <a:t>WHY AND HOW WE USE AI</a:t>
            </a:r>
          </a:p>
        </p:txBody>
      </p:sp>
      <p:sp>
        <p:nvSpPr>
          <p:cNvPr id="4" name="Rounded Rectangle 3"/>
          <p:cNvSpPr/>
          <p:nvPr/>
        </p:nvSpPr>
        <p:spPr>
          <a:xfrm>
            <a:off x="813816" y="1837943"/>
            <a:ext cx="2514600" cy="1572768"/>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6696" y="1993391"/>
            <a:ext cx="2148840" cy="1298448"/>
          </a:xfrm>
          <a:prstGeom prst="rect">
            <a:avLst/>
          </a:prstGeom>
          <a:noFill/>
        </p:spPr>
        <p:txBody>
          <a:bodyPr wrap="square" lIns="0" rIns="0" tIns="0" bIns="0" anchor="t">
            <a:spAutoFit/>
          </a:bodyPr>
          <a:lstStyle/>
          <a:p>
            <a:pPr>
              <a:lnSpc>
                <a:spcPts val="1900"/>
              </a:lnSpc>
            </a:pPr>
            <a:r>
              <a:rPr sz="1500" b="1" i="0">
                <a:solidFill>
                  <a:srgbClr val="17202B"/>
                </a:solidFill>
                <a:latin typeface="Inter"/>
              </a:rPr>
              <a:t>Coverage</a:t>
            </a:r>
          </a:p>
          <a:p>
            <a:pPr>
              <a:lnSpc>
                <a:spcPts val="1600"/>
              </a:lnSpc>
              <a:spcBef>
                <a:spcPts val="400"/>
              </a:spcBef>
            </a:pPr>
            <a:r>
              <a:rPr sz="1200" b="0" i="0">
                <a:solidFill>
                  <a:srgbClr val="17202B"/>
                </a:solidFill>
                <a:latin typeface="Inter"/>
              </a:rPr>
              <a:t>More markets and asset classes, with the same team</a:t>
            </a:r>
          </a:p>
          <a:p>
            <a:pPr>
              <a:lnSpc>
                <a:spcPts val="1450"/>
              </a:lnSpc>
              <a:spcBef>
                <a:spcPts val="600"/>
              </a:spcBef>
            </a:pPr>
            <a:r>
              <a:rPr sz="1050" b="1" i="0" spc="100">
                <a:solidFill>
                  <a:srgbClr val="2B5C8A"/>
                </a:solidFill>
                <a:latin typeface="Inter"/>
              </a:rPr>
              <a:t>HOW  </a:t>
            </a:r>
            <a:r>
              <a:rPr sz="1100" b="0" i="0">
                <a:solidFill>
                  <a:srgbClr val="5F6670"/>
                </a:solidFill>
                <a:latin typeface="Inter"/>
              </a:rPr>
              <a:t>Agents run the full toolkit across every market daily and flag what has changed</a:t>
            </a:r>
          </a:p>
        </p:txBody>
      </p:sp>
      <p:sp>
        <p:nvSpPr>
          <p:cNvPr id="6" name="Rounded Rectangle 5"/>
          <p:cNvSpPr/>
          <p:nvPr/>
        </p:nvSpPr>
        <p:spPr>
          <a:xfrm>
            <a:off x="3511296" y="1837943"/>
            <a:ext cx="2514600" cy="1572768"/>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94176" y="1993391"/>
            <a:ext cx="2148840" cy="1298448"/>
          </a:xfrm>
          <a:prstGeom prst="rect">
            <a:avLst/>
          </a:prstGeom>
          <a:noFill/>
        </p:spPr>
        <p:txBody>
          <a:bodyPr wrap="square" lIns="0" rIns="0" tIns="0" bIns="0" anchor="t">
            <a:spAutoFit/>
          </a:bodyPr>
          <a:lstStyle/>
          <a:p>
            <a:pPr>
              <a:lnSpc>
                <a:spcPts val="1900"/>
              </a:lnSpc>
            </a:pPr>
            <a:r>
              <a:rPr sz="1500" b="1" i="0">
                <a:solidFill>
                  <a:srgbClr val="17202B"/>
                </a:solidFill>
                <a:latin typeface="Inter"/>
              </a:rPr>
              <a:t>Speed</a:t>
            </a:r>
          </a:p>
          <a:p>
            <a:pPr>
              <a:lnSpc>
                <a:spcPts val="1600"/>
              </a:lnSpc>
              <a:spcBef>
                <a:spcPts val="400"/>
              </a:spcBef>
            </a:pPr>
            <a:r>
              <a:rPr sz="1200" b="0" i="0">
                <a:solidFill>
                  <a:srgbClr val="17202B"/>
                </a:solidFill>
                <a:latin typeface="Inter"/>
              </a:rPr>
              <a:t>Routine monitoring, screening and briefing streamlined</a:t>
            </a:r>
          </a:p>
          <a:p>
            <a:pPr>
              <a:lnSpc>
                <a:spcPts val="1450"/>
              </a:lnSpc>
              <a:spcBef>
                <a:spcPts val="600"/>
              </a:spcBef>
            </a:pPr>
            <a:r>
              <a:rPr sz="1050" b="1" i="0" spc="100">
                <a:solidFill>
                  <a:srgbClr val="2B5C8A"/>
                </a:solidFill>
                <a:latin typeface="Inter"/>
              </a:rPr>
              <a:t>HOW  </a:t>
            </a:r>
            <a:r>
              <a:rPr sz="1100" b="0" i="0">
                <a:solidFill>
                  <a:srgbClr val="5F6670"/>
                </a:solidFill>
                <a:latin typeface="Inter"/>
              </a:rPr>
              <a:t>Automated data checks, screens and first-draft briefings every morning</a:t>
            </a:r>
          </a:p>
        </p:txBody>
      </p:sp>
      <p:sp>
        <p:nvSpPr>
          <p:cNvPr id="8" name="Rounded Rectangle 7"/>
          <p:cNvSpPr/>
          <p:nvPr/>
        </p:nvSpPr>
        <p:spPr>
          <a:xfrm>
            <a:off x="6208776" y="1837943"/>
            <a:ext cx="2514600" cy="1572768"/>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91656" y="1993391"/>
            <a:ext cx="2148840" cy="1298448"/>
          </a:xfrm>
          <a:prstGeom prst="rect">
            <a:avLst/>
          </a:prstGeom>
          <a:noFill/>
        </p:spPr>
        <p:txBody>
          <a:bodyPr wrap="square" lIns="0" rIns="0" tIns="0" bIns="0" anchor="t">
            <a:spAutoFit/>
          </a:bodyPr>
          <a:lstStyle/>
          <a:p>
            <a:pPr>
              <a:lnSpc>
                <a:spcPts val="1900"/>
              </a:lnSpc>
            </a:pPr>
            <a:r>
              <a:rPr sz="1500" b="1" i="0">
                <a:solidFill>
                  <a:srgbClr val="17202B"/>
                </a:solidFill>
                <a:latin typeface="Inter"/>
              </a:rPr>
              <a:t>Depth</a:t>
            </a:r>
          </a:p>
          <a:p>
            <a:pPr>
              <a:lnSpc>
                <a:spcPts val="1600"/>
              </a:lnSpc>
              <a:spcBef>
                <a:spcPts val="400"/>
              </a:spcBef>
            </a:pPr>
            <a:r>
              <a:rPr sz="1200" b="0" i="0">
                <a:solidFill>
                  <a:srgbClr val="17202B"/>
                </a:solidFill>
                <a:latin typeface="Inter"/>
              </a:rPr>
              <a:t>Broader, more consistent and documented analysis</a:t>
            </a:r>
          </a:p>
          <a:p>
            <a:pPr>
              <a:lnSpc>
                <a:spcPts val="1450"/>
              </a:lnSpc>
              <a:spcBef>
                <a:spcPts val="600"/>
              </a:spcBef>
            </a:pPr>
            <a:r>
              <a:rPr sz="1050" b="1" i="0" spc="100">
                <a:solidFill>
                  <a:srgbClr val="2B5C8A"/>
                </a:solidFill>
                <a:latin typeface="Inter"/>
              </a:rPr>
              <a:t>HOW  </a:t>
            </a:r>
            <a:r>
              <a:rPr sz="1100" b="0" i="0">
                <a:solidFill>
                  <a:srgbClr val="5F6670"/>
                </a:solidFill>
                <a:latin typeface="Inter"/>
              </a:rPr>
              <a:t>Agents read research, write and run models, and record their reasoning</a:t>
            </a:r>
          </a:p>
        </p:txBody>
      </p:sp>
      <p:sp>
        <p:nvSpPr>
          <p:cNvPr id="10" name="Rounded Rectangle 9"/>
          <p:cNvSpPr/>
          <p:nvPr/>
        </p:nvSpPr>
        <p:spPr>
          <a:xfrm>
            <a:off x="8906256" y="1837943"/>
            <a:ext cx="2788919" cy="1572768"/>
          </a:xfrm>
          <a:prstGeom prst="roundRect">
            <a:avLst>
              <a:gd name="adj" fmla="val 4000"/>
            </a:avLst>
          </a:prstGeom>
          <a:solidFill>
            <a:srgbClr val="172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34856" y="2020824"/>
            <a:ext cx="2331719" cy="1207007"/>
          </a:xfrm>
          <a:prstGeom prst="rect">
            <a:avLst/>
          </a:prstGeom>
          <a:noFill/>
        </p:spPr>
        <p:txBody>
          <a:bodyPr wrap="square" lIns="0" rIns="0" tIns="0" bIns="0" anchor="t">
            <a:spAutoFit/>
          </a:bodyPr>
          <a:lstStyle/>
          <a:p>
            <a:pPr>
              <a:lnSpc>
                <a:spcPts val="1900"/>
              </a:lnSpc>
            </a:pPr>
            <a:r>
              <a:rPr sz="1400" b="0" i="0">
                <a:solidFill>
                  <a:srgbClr val="F5F2EC"/>
                </a:solidFill>
                <a:latin typeface="Inter"/>
              </a:rPr>
              <a:t>The PM keeps every investment decision.</a:t>
            </a:r>
          </a:p>
          <a:p>
            <a:pPr>
              <a:lnSpc>
                <a:spcPts val="1600"/>
              </a:lnSpc>
              <a:spcBef>
                <a:spcPts val="600"/>
              </a:spcBef>
            </a:pPr>
            <a:r>
              <a:rPr sz="1200" b="0" i="0">
                <a:solidFill>
                  <a:srgbClr val="B9BEC6"/>
                </a:solidFill>
                <a:latin typeface="Inter"/>
              </a:rPr>
              <a:t>Agents propose, explain and document; every run is logged and auditable.</a:t>
            </a:r>
          </a:p>
        </p:txBody>
      </p:sp>
      <p:sp>
        <p:nvSpPr>
          <p:cNvPr id="12" name="TextBox 11"/>
          <p:cNvSpPr txBox="1"/>
          <p:nvPr/>
        </p:nvSpPr>
        <p:spPr>
          <a:xfrm>
            <a:off x="813816" y="3639312"/>
            <a:ext cx="10881360" cy="256032"/>
          </a:xfrm>
          <a:prstGeom prst="rect">
            <a:avLst/>
          </a:prstGeom>
          <a:noFill/>
        </p:spPr>
        <p:txBody>
          <a:bodyPr wrap="square" lIns="0" rIns="0" tIns="0" bIns="0" anchor="t">
            <a:spAutoFit/>
          </a:bodyPr>
          <a:lstStyle/>
          <a:p>
            <a:pPr>
              <a:lnSpc>
                <a:spcPts val="1680"/>
              </a:lnSpc>
            </a:pPr>
            <a:r>
              <a:rPr sz="1200" b="1" i="0" spc="100">
                <a:solidFill>
                  <a:srgbClr val="A8322B"/>
                </a:solidFill>
                <a:latin typeface="Inter"/>
              </a:rPr>
              <a:t>THE AGENTS · LIVE, NEXT AND PLANNED</a:t>
            </a:r>
          </a:p>
        </p:txBody>
      </p:sp>
      <p:sp>
        <p:nvSpPr>
          <p:cNvPr id="13" name="Rounded Rectangle 12"/>
          <p:cNvSpPr/>
          <p:nvPr/>
        </p:nvSpPr>
        <p:spPr>
          <a:xfrm>
            <a:off x="813816" y="3959352"/>
            <a:ext cx="2029967" cy="2258568"/>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4114800"/>
            <a:ext cx="1719071" cy="1463040"/>
          </a:xfrm>
          <a:prstGeom prst="rect">
            <a:avLst/>
          </a:prstGeom>
          <a:noFill/>
        </p:spPr>
        <p:txBody>
          <a:bodyPr wrap="square" lIns="0" rIns="0" tIns="0" bIns="0" anchor="t">
            <a:spAutoFit/>
          </a:bodyPr>
          <a:lstStyle/>
          <a:p>
            <a:pPr>
              <a:lnSpc>
                <a:spcPts val="1500"/>
              </a:lnSpc>
            </a:pPr>
            <a:r>
              <a:rPr sz="1100" b="1" i="0" spc="100">
                <a:solidFill>
                  <a:srgbClr val="2B5C8A"/>
                </a:solidFill>
                <a:latin typeface="Inter"/>
              </a:rPr>
              <a:t>LIVE</a:t>
            </a:r>
          </a:p>
          <a:p>
            <a:pPr>
              <a:lnSpc>
                <a:spcPts val="1900"/>
              </a:lnSpc>
              <a:spcBef>
                <a:spcPts val="400"/>
              </a:spcBef>
            </a:pPr>
            <a:r>
              <a:rPr sz="1500" b="1" i="0">
                <a:solidFill>
                  <a:srgbClr val="17202B"/>
                </a:solidFill>
                <a:latin typeface="Inter"/>
              </a:rPr>
              <a:t>Fixed Income Pod</a:t>
            </a:r>
          </a:p>
          <a:p>
            <a:pPr>
              <a:lnSpc>
                <a:spcPts val="1450"/>
              </a:lnSpc>
              <a:spcBef>
                <a:spcPts val="400"/>
              </a:spcBef>
            </a:pPr>
            <a:r>
              <a:rPr sz="1100" b="0" i="0">
                <a:solidFill>
                  <a:srgbClr val="5F6670"/>
                </a:solidFill>
                <a:latin typeface="Inter"/>
              </a:rPr>
              <a:t>Macro, RV, inflation and positioning specialists run their tools; a lead agent forms one view</a:t>
            </a:r>
          </a:p>
        </p:txBody>
      </p:sp>
      <p:cxnSp>
        <p:nvCxnSpPr>
          <p:cNvPr id="15" name="Connector 14"/>
          <p:cNvCxnSpPr/>
          <p:nvPr/>
        </p:nvCxnSpPr>
        <p:spPr>
          <a:xfrm>
            <a:off x="969264" y="5477256"/>
            <a:ext cx="1719071"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69264" y="5568696"/>
            <a:ext cx="1719071" cy="594360"/>
          </a:xfrm>
          <a:prstGeom prst="rect">
            <a:avLst/>
          </a:prstGeom>
          <a:noFill/>
        </p:spPr>
        <p:txBody>
          <a:bodyPr wrap="square" lIns="0" rIns="0" tIns="0" bIns="0" anchor="t">
            <a:spAutoFit/>
          </a:bodyPr>
          <a:lstStyle/>
          <a:p>
            <a:pPr>
              <a:lnSpc>
                <a:spcPts val="1350"/>
              </a:lnSpc>
            </a:pPr>
            <a:r>
              <a:rPr sz="1050" b="1" i="0">
                <a:solidFill>
                  <a:srgbClr val="2B5C8A"/>
                </a:solidFill>
                <a:latin typeface="Inter"/>
              </a:rPr>
              <a:t>In  </a:t>
            </a:r>
            <a:r>
              <a:rPr sz="1050" b="0" i="0">
                <a:solidFill>
                  <a:srgbClr val="17202B"/>
                </a:solidFill>
                <a:latin typeface="Inter"/>
              </a:rPr>
              <a:t>The toolkit</a:t>
            </a:r>
          </a:p>
          <a:p>
            <a:pPr>
              <a:lnSpc>
                <a:spcPts val="1350"/>
              </a:lnSpc>
              <a:spcBef>
                <a:spcPts val="300"/>
              </a:spcBef>
            </a:pPr>
            <a:r>
              <a:rPr sz="1050" b="1" i="0">
                <a:solidFill>
                  <a:srgbClr val="2B5C8A"/>
                </a:solidFill>
                <a:latin typeface="Inter"/>
              </a:rPr>
              <a:t>Out  </a:t>
            </a:r>
            <a:r>
              <a:rPr sz="1050" b="0" i="0">
                <a:solidFill>
                  <a:srgbClr val="17202B"/>
                </a:solidFill>
                <a:latin typeface="Inter"/>
              </a:rPr>
              <a:t>Briefings and trade ideas</a:t>
            </a:r>
          </a:p>
        </p:txBody>
      </p:sp>
      <p:sp>
        <p:nvSpPr>
          <p:cNvPr id="17" name="Rounded Rectangle 16"/>
          <p:cNvSpPr/>
          <p:nvPr/>
        </p:nvSpPr>
        <p:spPr>
          <a:xfrm>
            <a:off x="3026664" y="3959352"/>
            <a:ext cx="2029967" cy="2258568"/>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82112" y="4114800"/>
            <a:ext cx="1719071" cy="1463040"/>
          </a:xfrm>
          <a:prstGeom prst="rect">
            <a:avLst/>
          </a:prstGeom>
          <a:noFill/>
        </p:spPr>
        <p:txBody>
          <a:bodyPr wrap="square" lIns="0" rIns="0" tIns="0" bIns="0" anchor="t">
            <a:spAutoFit/>
          </a:bodyPr>
          <a:lstStyle/>
          <a:p>
            <a:pPr>
              <a:lnSpc>
                <a:spcPts val="1500"/>
              </a:lnSpc>
            </a:pPr>
            <a:r>
              <a:rPr sz="1100" b="1" i="0" spc="100">
                <a:solidFill>
                  <a:srgbClr val="A8322B"/>
                </a:solidFill>
                <a:latin typeface="Inter"/>
              </a:rPr>
              <a:t>NEXT</a:t>
            </a:r>
          </a:p>
          <a:p>
            <a:pPr>
              <a:lnSpc>
                <a:spcPts val="1900"/>
              </a:lnSpc>
              <a:spcBef>
                <a:spcPts val="400"/>
              </a:spcBef>
            </a:pPr>
            <a:r>
              <a:rPr sz="1500" b="1" i="0">
                <a:solidFill>
                  <a:srgbClr val="17202B"/>
                </a:solidFill>
                <a:latin typeface="Inter"/>
              </a:rPr>
              <a:t>Portfolio Builder</a:t>
            </a:r>
          </a:p>
          <a:p>
            <a:pPr>
              <a:lnSpc>
                <a:spcPts val="1450"/>
              </a:lnSpc>
              <a:spcBef>
                <a:spcPts val="400"/>
              </a:spcBef>
            </a:pPr>
            <a:r>
              <a:rPr sz="1100" b="0" i="0">
                <a:solidFill>
                  <a:srgbClr val="5F6670"/>
                </a:solidFill>
                <a:latin typeface="Inter"/>
              </a:rPr>
              <a:t>Runs the five steps: odds, best trades, correlations, sizing and expected PnL</a:t>
            </a:r>
          </a:p>
        </p:txBody>
      </p:sp>
      <p:cxnSp>
        <p:nvCxnSpPr>
          <p:cNvPr id="19" name="Connector 18"/>
          <p:cNvCxnSpPr/>
          <p:nvPr/>
        </p:nvCxnSpPr>
        <p:spPr>
          <a:xfrm>
            <a:off x="3182112" y="5477256"/>
            <a:ext cx="1719071"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182112" y="5568696"/>
            <a:ext cx="1719071" cy="594360"/>
          </a:xfrm>
          <a:prstGeom prst="rect">
            <a:avLst/>
          </a:prstGeom>
          <a:noFill/>
        </p:spPr>
        <p:txBody>
          <a:bodyPr wrap="square" lIns="0" rIns="0" tIns="0" bIns="0" anchor="t">
            <a:spAutoFit/>
          </a:bodyPr>
          <a:lstStyle/>
          <a:p>
            <a:pPr>
              <a:lnSpc>
                <a:spcPts val="1350"/>
              </a:lnSpc>
            </a:pPr>
            <a:r>
              <a:rPr sz="1050" b="1" i="0">
                <a:solidFill>
                  <a:srgbClr val="2B5C8A"/>
                </a:solidFill>
                <a:latin typeface="Inter"/>
              </a:rPr>
              <a:t>In  </a:t>
            </a:r>
            <a:r>
              <a:rPr sz="1050" b="0" i="0">
                <a:solidFill>
                  <a:srgbClr val="17202B"/>
                </a:solidFill>
                <a:latin typeface="Inter"/>
              </a:rPr>
              <a:t>Toolkit, book, sell-side research</a:t>
            </a:r>
          </a:p>
          <a:p>
            <a:pPr>
              <a:lnSpc>
                <a:spcPts val="1350"/>
              </a:lnSpc>
              <a:spcBef>
                <a:spcPts val="300"/>
              </a:spcBef>
            </a:pPr>
            <a:r>
              <a:rPr sz="1050" b="1" i="0">
                <a:solidFill>
                  <a:srgbClr val="2B5C8A"/>
                </a:solidFill>
                <a:latin typeface="Inter"/>
              </a:rPr>
              <a:t>Out  </a:t>
            </a:r>
            <a:r>
              <a:rPr sz="1050" b="0" i="0">
                <a:solidFill>
                  <a:srgbClr val="17202B"/>
                </a:solidFill>
                <a:latin typeface="Inter"/>
              </a:rPr>
              <a:t>Proposed portfolio</a:t>
            </a:r>
          </a:p>
        </p:txBody>
      </p:sp>
      <p:sp>
        <p:nvSpPr>
          <p:cNvPr id="21" name="Rounded Rectangle 20"/>
          <p:cNvSpPr/>
          <p:nvPr/>
        </p:nvSpPr>
        <p:spPr>
          <a:xfrm>
            <a:off x="5239512" y="3959352"/>
            <a:ext cx="2029967" cy="2258568"/>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4959" y="4114800"/>
            <a:ext cx="1719071" cy="1463040"/>
          </a:xfrm>
          <a:prstGeom prst="rect">
            <a:avLst/>
          </a:prstGeom>
          <a:noFill/>
        </p:spPr>
        <p:txBody>
          <a:bodyPr wrap="square" lIns="0" rIns="0" tIns="0" bIns="0" anchor="t">
            <a:spAutoFit/>
          </a:bodyPr>
          <a:lstStyle/>
          <a:p>
            <a:pPr>
              <a:lnSpc>
                <a:spcPts val="1500"/>
              </a:lnSpc>
            </a:pPr>
            <a:r>
              <a:rPr sz="1100" b="1" i="0" spc="100">
                <a:solidFill>
                  <a:srgbClr val="A8322B"/>
                </a:solidFill>
                <a:latin typeface="Inter"/>
              </a:rPr>
              <a:t>NEXT</a:t>
            </a:r>
          </a:p>
          <a:p>
            <a:pPr>
              <a:lnSpc>
                <a:spcPts val="1900"/>
              </a:lnSpc>
              <a:spcBef>
                <a:spcPts val="400"/>
              </a:spcBef>
            </a:pPr>
            <a:r>
              <a:rPr sz="1500" b="1" i="0">
                <a:solidFill>
                  <a:srgbClr val="17202B"/>
                </a:solidFill>
                <a:latin typeface="Inter"/>
              </a:rPr>
              <a:t>Risk</a:t>
            </a:r>
          </a:p>
          <a:p>
            <a:pPr>
              <a:lnSpc>
                <a:spcPts val="1450"/>
              </a:lnSpc>
              <a:spcBef>
                <a:spcPts val="400"/>
              </a:spcBef>
            </a:pPr>
            <a:r>
              <a:rPr sz="1100" b="0" i="0">
                <a:solidFill>
                  <a:srgbClr val="5F6670"/>
                </a:solidFill>
                <a:latin typeface="Inter"/>
              </a:rPr>
              <a:t>Greeks of the book to rates, curve, FX and volatility factors; proposes hedges</a:t>
            </a:r>
          </a:p>
        </p:txBody>
      </p:sp>
      <p:cxnSp>
        <p:nvCxnSpPr>
          <p:cNvPr id="23" name="Connector 22"/>
          <p:cNvCxnSpPr/>
          <p:nvPr/>
        </p:nvCxnSpPr>
        <p:spPr>
          <a:xfrm>
            <a:off x="5394959" y="5477256"/>
            <a:ext cx="1719072"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394959" y="5568696"/>
            <a:ext cx="1719071" cy="594360"/>
          </a:xfrm>
          <a:prstGeom prst="rect">
            <a:avLst/>
          </a:prstGeom>
          <a:noFill/>
        </p:spPr>
        <p:txBody>
          <a:bodyPr wrap="square" lIns="0" rIns="0" tIns="0" bIns="0" anchor="t">
            <a:spAutoFit/>
          </a:bodyPr>
          <a:lstStyle/>
          <a:p>
            <a:pPr>
              <a:lnSpc>
                <a:spcPts val="1350"/>
              </a:lnSpc>
            </a:pPr>
            <a:r>
              <a:rPr sz="1050" b="1" i="0">
                <a:solidFill>
                  <a:srgbClr val="2B5C8A"/>
                </a:solidFill>
                <a:latin typeface="Inter"/>
              </a:rPr>
              <a:t>In  </a:t>
            </a:r>
            <a:r>
              <a:rPr sz="1050" b="0" i="0">
                <a:solidFill>
                  <a:srgbClr val="17202B"/>
                </a:solidFill>
                <a:latin typeface="Inter"/>
              </a:rPr>
              <a:t>Book, market data</a:t>
            </a:r>
          </a:p>
          <a:p>
            <a:pPr>
              <a:lnSpc>
                <a:spcPts val="1350"/>
              </a:lnSpc>
              <a:spcBef>
                <a:spcPts val="300"/>
              </a:spcBef>
            </a:pPr>
            <a:r>
              <a:rPr sz="1050" b="1" i="0">
                <a:solidFill>
                  <a:srgbClr val="2B5C8A"/>
                </a:solidFill>
                <a:latin typeface="Inter"/>
              </a:rPr>
              <a:t>Out  </a:t>
            </a:r>
            <a:r>
              <a:rPr sz="1050" b="0" i="0">
                <a:solidFill>
                  <a:srgbClr val="17202B"/>
                </a:solidFill>
                <a:latin typeface="Inter"/>
              </a:rPr>
              <a:t>Exposures and hedges</a:t>
            </a:r>
          </a:p>
        </p:txBody>
      </p:sp>
      <p:sp>
        <p:nvSpPr>
          <p:cNvPr id="25" name="Rounded Rectangle 24"/>
          <p:cNvSpPr/>
          <p:nvPr/>
        </p:nvSpPr>
        <p:spPr>
          <a:xfrm>
            <a:off x="7452360" y="3959352"/>
            <a:ext cx="2029967" cy="2258568"/>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07808" y="4114800"/>
            <a:ext cx="1719071" cy="1463040"/>
          </a:xfrm>
          <a:prstGeom prst="rect">
            <a:avLst/>
          </a:prstGeom>
          <a:noFill/>
        </p:spPr>
        <p:txBody>
          <a:bodyPr wrap="square" lIns="0" rIns="0" tIns="0" bIns="0" anchor="t">
            <a:spAutoFit/>
          </a:bodyPr>
          <a:lstStyle/>
          <a:p>
            <a:pPr>
              <a:lnSpc>
                <a:spcPts val="1500"/>
              </a:lnSpc>
            </a:pPr>
            <a:r>
              <a:rPr sz="1100" b="1" i="0" spc="100">
                <a:solidFill>
                  <a:srgbClr val="A8322B"/>
                </a:solidFill>
                <a:latin typeface="Inter"/>
              </a:rPr>
              <a:t>PLANNED</a:t>
            </a:r>
          </a:p>
          <a:p>
            <a:pPr>
              <a:lnSpc>
                <a:spcPts val="1900"/>
              </a:lnSpc>
              <a:spcBef>
                <a:spcPts val="400"/>
              </a:spcBef>
            </a:pPr>
            <a:r>
              <a:rPr sz="1500" b="1" i="0">
                <a:solidFill>
                  <a:srgbClr val="17202B"/>
                </a:solidFill>
                <a:latin typeface="Inter"/>
              </a:rPr>
              <a:t>Research</a:t>
            </a:r>
          </a:p>
          <a:p>
            <a:pPr>
              <a:lnSpc>
                <a:spcPts val="1450"/>
              </a:lnSpc>
              <a:spcBef>
                <a:spcPts val="400"/>
              </a:spcBef>
            </a:pPr>
            <a:r>
              <a:rPr sz="1100" b="0" i="0">
                <a:solidFill>
                  <a:srgbClr val="5F6670"/>
                </a:solidFill>
                <a:latin typeface="Inter"/>
              </a:rPr>
              <a:t>Maps sell-side research and news to our themes; tracks consensus against our odds</a:t>
            </a:r>
          </a:p>
        </p:txBody>
      </p:sp>
      <p:cxnSp>
        <p:nvCxnSpPr>
          <p:cNvPr id="27" name="Connector 26"/>
          <p:cNvCxnSpPr/>
          <p:nvPr/>
        </p:nvCxnSpPr>
        <p:spPr>
          <a:xfrm>
            <a:off x="7607808" y="5477256"/>
            <a:ext cx="1719072"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607808" y="5568696"/>
            <a:ext cx="1719071" cy="594360"/>
          </a:xfrm>
          <a:prstGeom prst="rect">
            <a:avLst/>
          </a:prstGeom>
          <a:noFill/>
        </p:spPr>
        <p:txBody>
          <a:bodyPr wrap="square" lIns="0" rIns="0" tIns="0" bIns="0" anchor="t">
            <a:spAutoFit/>
          </a:bodyPr>
          <a:lstStyle/>
          <a:p>
            <a:pPr>
              <a:lnSpc>
                <a:spcPts val="1350"/>
              </a:lnSpc>
            </a:pPr>
            <a:r>
              <a:rPr sz="1050" b="1" i="0">
                <a:solidFill>
                  <a:srgbClr val="2B5C8A"/>
                </a:solidFill>
                <a:latin typeface="Inter"/>
              </a:rPr>
              <a:t>In  </a:t>
            </a:r>
            <a:r>
              <a:rPr sz="1050" b="0" i="0">
                <a:solidFill>
                  <a:srgbClr val="17202B"/>
                </a:solidFill>
                <a:latin typeface="Inter"/>
              </a:rPr>
              <a:t>Research, news</a:t>
            </a:r>
          </a:p>
          <a:p>
            <a:pPr>
              <a:lnSpc>
                <a:spcPts val="1350"/>
              </a:lnSpc>
              <a:spcBef>
                <a:spcPts val="300"/>
              </a:spcBef>
            </a:pPr>
            <a:r>
              <a:rPr sz="1050" b="1" i="0">
                <a:solidFill>
                  <a:srgbClr val="2B5C8A"/>
                </a:solidFill>
                <a:latin typeface="Inter"/>
              </a:rPr>
              <a:t>Out  </a:t>
            </a:r>
            <a:r>
              <a:rPr sz="1050" b="0" i="0">
                <a:solidFill>
                  <a:srgbClr val="17202B"/>
                </a:solidFill>
                <a:latin typeface="Inter"/>
              </a:rPr>
              <a:t>Theme digests</a:t>
            </a:r>
          </a:p>
        </p:txBody>
      </p:sp>
      <p:sp>
        <p:nvSpPr>
          <p:cNvPr id="29" name="Rounded Rectangle 28"/>
          <p:cNvSpPr/>
          <p:nvPr/>
        </p:nvSpPr>
        <p:spPr>
          <a:xfrm>
            <a:off x="9665208" y="3959352"/>
            <a:ext cx="2029967" cy="2258568"/>
          </a:xfrm>
          <a:prstGeom prst="roundRect">
            <a:avLst>
              <a:gd name="adj" fmla="val 4000"/>
            </a:avLst>
          </a:prstGeom>
          <a:solidFill>
            <a:srgbClr val="FBF9F5"/>
          </a:solidFill>
          <a:ln w="6350">
            <a:solidFill>
              <a:srgbClr val="DDD6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20656" y="4114800"/>
            <a:ext cx="1719071" cy="1463040"/>
          </a:xfrm>
          <a:prstGeom prst="rect">
            <a:avLst/>
          </a:prstGeom>
          <a:noFill/>
        </p:spPr>
        <p:txBody>
          <a:bodyPr wrap="square" lIns="0" rIns="0" tIns="0" bIns="0" anchor="t">
            <a:spAutoFit/>
          </a:bodyPr>
          <a:lstStyle/>
          <a:p>
            <a:pPr>
              <a:lnSpc>
                <a:spcPts val="1500"/>
              </a:lnSpc>
            </a:pPr>
            <a:r>
              <a:rPr sz="1100" b="1" i="0" spc="100">
                <a:solidFill>
                  <a:srgbClr val="A8322B"/>
                </a:solidFill>
                <a:latin typeface="Inter"/>
              </a:rPr>
              <a:t>PLANNED</a:t>
            </a:r>
          </a:p>
          <a:p>
            <a:pPr>
              <a:lnSpc>
                <a:spcPts val="1900"/>
              </a:lnSpc>
              <a:spcBef>
                <a:spcPts val="400"/>
              </a:spcBef>
            </a:pPr>
            <a:r>
              <a:rPr sz="1500" b="1" i="0">
                <a:solidFill>
                  <a:srgbClr val="17202B"/>
                </a:solidFill>
                <a:latin typeface="Inter"/>
              </a:rPr>
              <a:t>Trade monitor</a:t>
            </a:r>
          </a:p>
          <a:p>
            <a:pPr>
              <a:lnSpc>
                <a:spcPts val="1450"/>
              </a:lnSpc>
              <a:spcBef>
                <a:spcPts val="400"/>
              </a:spcBef>
            </a:pPr>
            <a:r>
              <a:rPr sz="1100" b="0" i="0">
                <a:solidFill>
                  <a:srgbClr val="5F6670"/>
                </a:solidFill>
                <a:latin typeface="Inter"/>
              </a:rPr>
              <a:t>Tracks each trade's thesis, levels, stops and carry; alerts when a theme's odds shift</a:t>
            </a:r>
          </a:p>
        </p:txBody>
      </p:sp>
      <p:cxnSp>
        <p:nvCxnSpPr>
          <p:cNvPr id="31" name="Connector 30"/>
          <p:cNvCxnSpPr/>
          <p:nvPr/>
        </p:nvCxnSpPr>
        <p:spPr>
          <a:xfrm>
            <a:off x="9820656" y="5477256"/>
            <a:ext cx="1719072" cy="0"/>
          </a:xfrm>
          <a:prstGeom prst="line">
            <a:avLst/>
          </a:prstGeom>
          <a:ln w="6350">
            <a:solidFill>
              <a:srgbClr val="DDD6C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820656" y="5568696"/>
            <a:ext cx="1719071" cy="594360"/>
          </a:xfrm>
          <a:prstGeom prst="rect">
            <a:avLst/>
          </a:prstGeom>
          <a:noFill/>
        </p:spPr>
        <p:txBody>
          <a:bodyPr wrap="square" lIns="0" rIns="0" tIns="0" bIns="0" anchor="t">
            <a:spAutoFit/>
          </a:bodyPr>
          <a:lstStyle/>
          <a:p>
            <a:pPr>
              <a:lnSpc>
                <a:spcPts val="1350"/>
              </a:lnSpc>
            </a:pPr>
            <a:r>
              <a:rPr sz="1050" b="1" i="0">
                <a:solidFill>
                  <a:srgbClr val="2B5C8A"/>
                </a:solidFill>
                <a:latin typeface="Inter"/>
              </a:rPr>
              <a:t>In  </a:t>
            </a:r>
            <a:r>
              <a:rPr sz="1050" b="0" i="0">
                <a:solidFill>
                  <a:srgbClr val="17202B"/>
                </a:solidFill>
                <a:latin typeface="Inter"/>
              </a:rPr>
              <a:t>Blotter, toolkit</a:t>
            </a:r>
          </a:p>
          <a:p>
            <a:pPr>
              <a:lnSpc>
                <a:spcPts val="1350"/>
              </a:lnSpc>
              <a:spcBef>
                <a:spcPts val="300"/>
              </a:spcBef>
            </a:pPr>
            <a:r>
              <a:rPr sz="1050" b="1" i="0">
                <a:solidFill>
                  <a:srgbClr val="2B5C8A"/>
                </a:solidFill>
                <a:latin typeface="Inter"/>
              </a:rPr>
              <a:t>Out  </a:t>
            </a:r>
            <a:r>
              <a:rPr sz="1050" b="0" i="0">
                <a:solidFill>
                  <a:srgbClr val="17202B"/>
                </a:solidFill>
                <a:latin typeface="Inter"/>
              </a:rPr>
              <a:t>Alerts and reviews</a:t>
            </a:r>
          </a:p>
        </p:txBody>
      </p:sp>
      <p:sp>
        <p:nvSpPr>
          <p:cNvPr id="33" name="TextBox 32"/>
          <p:cNvSpPr txBox="1"/>
          <p:nvPr/>
        </p:nvSpPr>
        <p:spPr>
          <a:xfrm>
            <a:off x="813816" y="6373368"/>
            <a:ext cx="10881360" cy="274320"/>
          </a:xfrm>
          <a:prstGeom prst="rect">
            <a:avLst/>
          </a:prstGeom>
          <a:noFill/>
        </p:spPr>
        <p:txBody>
          <a:bodyPr wrap="square" lIns="0" rIns="0" tIns="0" bIns="0" anchor="t">
            <a:spAutoFit/>
          </a:bodyPr>
          <a:lstStyle/>
          <a:p>
            <a:pPr>
              <a:lnSpc>
                <a:spcPts val="1500"/>
              </a:lnSpc>
            </a:pPr>
            <a:r>
              <a:rPr sz="1100" b="0" i="0">
                <a:solidFill>
                  <a:srgbClr val="6B7078"/>
                </a:solidFill>
                <a:latin typeface="Inter"/>
              </a:rPr>
              <a:t>Agents are decision support. Portfolio Builder and Risk are next; Research and Trade monitor are planned.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French and Italian spreads: IC briefing</dc:title>
  <dc:subject>PptxGenJS Presentation</dc:subject>
  <dc:creator>PptxGenJS</dc:creator>
  <cp:lastModifiedBy>PptxGenJS</cp:lastModifiedBy>
  <cp:revision>1</cp:revision>
  <dcterms:created xsi:type="dcterms:W3CDTF">2026-09-21T13:43:35Z</dcterms:created>
  <dcterms:modified xsi:type="dcterms:W3CDTF">2026-09-21T13:43:35Z</dcterms:modified>
</cp:coreProperties>
</file>