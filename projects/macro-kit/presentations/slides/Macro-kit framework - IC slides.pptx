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aim is to complement the current strategy with a more systematic portfolio construction process. We start from a small set of overarching macro themes (12-15), assign each one a probability distribution of outcomes, and compare it with what markets already price. For each theme we look for the most efficient trade, the best payout for its upfront cost, then measure how trades co-move across themes before allocating capital. Throughout, the yardstick is risk/reward: premium paid, payout/cost ratio, and the probability-weighted PnL of the whole book rather than of single trades. The four themes shown are the starting set; the list will grow to 12-15.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group of tools answers one step of the framework. Macro regime: dynamic factor models across 10 economies show where data is surprising and whether rates reflect it. Market-implied odds: option-implied distributions tell us what is already in the price, so we only take risk where our probabilities differ. Relative value and positioning find the cheapest and best-timed expression of a view. Correlation regimes and the trade blotter monitor how the book diversifies. On the roadmap, the Fixed Income Pod already runs these tools through specialist AI agents. Next, a Portfolio Builder agent will carry out the full framework using the toolkit, the live portfolio and sell-side research, and a Risk agent will compute the book's Greeks to specific risk factors so we can hedge quickly. The PM retains all decisions.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2EC"/>
        </a:solidFill>
        <a:effectLst/>
      </p:bgPr>
    </p:bg>
    <p:spTree>
      <p:nvGrpSpPr>
        <p:cNvPr id="1" name=""/>
        <p:cNvGrpSpPr/>
        <p:nvPr/>
      </p:nvGrpSpPr>
      <p:grpSpPr/>
      <p:sp>
        <p:nvSpPr>
          <p:cNvPr id="2" name="TextBox 1"/>
          <p:cNvSpPr txBox="1"/>
          <p:nvPr/>
        </p:nvSpPr>
        <p:spPr>
          <a:xfrm>
            <a:off x="813816" y="813816"/>
            <a:ext cx="10881360" cy="502920"/>
          </a:xfrm>
          <a:prstGeom prst="rect">
            <a:avLst/>
          </a:prstGeom>
          <a:noFill/>
        </p:spPr>
        <p:txBody>
          <a:bodyPr wrap="square" lIns="0" rIns="0" tIns="0" bIns="0" anchor="t">
            <a:spAutoFit/>
          </a:bodyPr>
          <a:lstStyle/>
          <a:p>
            <a:pPr>
              <a:lnSpc>
                <a:spcPts val="3600"/>
              </a:lnSpc>
            </a:pPr>
            <a:r>
              <a:rPr sz="3000" b="0" i="0">
                <a:solidFill>
                  <a:srgbClr val="17202B"/>
                </a:solidFill>
                <a:latin typeface="Source Serif 4"/>
              </a:rPr>
              <a:t>Our framework: from macro themes to a robust portfolio</a:t>
            </a:r>
          </a:p>
        </p:txBody>
      </p:sp>
      <p:sp>
        <p:nvSpPr>
          <p:cNvPr id="3" name="TextBox 2"/>
          <p:cNvSpPr txBox="1"/>
          <p:nvPr/>
        </p:nvSpPr>
        <p:spPr>
          <a:xfrm>
            <a:off x="813816" y="1517904"/>
            <a:ext cx="10881360" cy="256032"/>
          </a:xfrm>
          <a:prstGeom prst="rect">
            <a:avLst/>
          </a:prstGeom>
          <a:noFill/>
        </p:spPr>
        <p:txBody>
          <a:bodyPr wrap="square" lIns="0" rIns="0" tIns="0" bIns="0" anchor="t">
            <a:spAutoFit/>
          </a:bodyPr>
          <a:lstStyle/>
          <a:p>
            <a:pPr>
              <a:lnSpc>
                <a:spcPts val="1680"/>
              </a:lnSpc>
            </a:pPr>
            <a:r>
              <a:rPr sz="1200" b="1" i="0" spc="100">
                <a:solidFill>
                  <a:srgbClr val="2B5C8A"/>
                </a:solidFill>
                <a:latin typeface="Inter"/>
              </a:rPr>
              <a:t>THE PROCESS · FIVE STEPS, APPLIED TO EVERY THEME</a:t>
            </a:r>
          </a:p>
        </p:txBody>
      </p:sp>
      <p:sp>
        <p:nvSpPr>
          <p:cNvPr id="4" name="Rounded Rectangle 3"/>
          <p:cNvSpPr/>
          <p:nvPr/>
        </p:nvSpPr>
        <p:spPr>
          <a:xfrm>
            <a:off x="813816" y="1837943"/>
            <a:ext cx="2029967" cy="2148840"/>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993391"/>
            <a:ext cx="1719071" cy="1874520"/>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01 · THEMES</a:t>
            </a:r>
          </a:p>
          <a:p>
            <a:pPr>
              <a:lnSpc>
                <a:spcPts val="1900"/>
              </a:lnSpc>
              <a:spcBef>
                <a:spcPts val="600"/>
              </a:spcBef>
            </a:pPr>
            <a:r>
              <a:rPr sz="1500" b="1" i="0">
                <a:solidFill>
                  <a:srgbClr val="17202B"/>
                </a:solidFill>
                <a:latin typeface="Inter"/>
              </a:rPr>
              <a:t>Identify the themes</a:t>
            </a:r>
          </a:p>
          <a:p>
            <a:pPr>
              <a:lnSpc>
                <a:spcPts val="1650"/>
              </a:lnSpc>
              <a:spcBef>
                <a:spcPts val="600"/>
              </a:spcBef>
            </a:pPr>
            <a:r>
              <a:rPr sz="1200" b="0" i="0">
                <a:solidFill>
                  <a:srgbClr val="5F6670"/>
                </a:solidFill>
                <a:latin typeface="Inter"/>
              </a:rPr>
              <a:t>12–15 overarching macro themes that drive returns across rates, FX, equities and commodities</a:t>
            </a:r>
          </a:p>
        </p:txBody>
      </p:sp>
      <p:sp>
        <p:nvSpPr>
          <p:cNvPr id="6" name="Rounded Rectangle 5"/>
          <p:cNvSpPr/>
          <p:nvPr/>
        </p:nvSpPr>
        <p:spPr>
          <a:xfrm>
            <a:off x="3026664" y="1837943"/>
            <a:ext cx="2029967" cy="2148840"/>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82112" y="1993391"/>
            <a:ext cx="1719071" cy="1874520"/>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02 · PROBABILITIES</a:t>
            </a:r>
          </a:p>
          <a:p>
            <a:pPr>
              <a:lnSpc>
                <a:spcPts val="1900"/>
              </a:lnSpc>
              <a:spcBef>
                <a:spcPts val="600"/>
              </a:spcBef>
            </a:pPr>
            <a:r>
              <a:rPr sz="1500" b="1" i="0">
                <a:solidFill>
                  <a:srgbClr val="17202B"/>
                </a:solidFill>
                <a:latin typeface="Inter"/>
              </a:rPr>
              <a:t>Assign distributions</a:t>
            </a:r>
          </a:p>
          <a:p>
            <a:pPr>
              <a:lnSpc>
                <a:spcPts val="1650"/>
              </a:lnSpc>
              <a:spcBef>
                <a:spcPts val="600"/>
              </a:spcBef>
            </a:pPr>
            <a:r>
              <a:rPr sz="1200" b="0" i="0">
                <a:solidFill>
                  <a:srgbClr val="5F6670"/>
                </a:solidFill>
                <a:latin typeface="Inter"/>
              </a:rPr>
              <a:t>A probability distribution of outcomes for each theme, compared against what markets already price</a:t>
            </a:r>
          </a:p>
        </p:txBody>
      </p:sp>
      <p:sp>
        <p:nvSpPr>
          <p:cNvPr id="8" name="Rounded Rectangle 7"/>
          <p:cNvSpPr/>
          <p:nvPr/>
        </p:nvSpPr>
        <p:spPr>
          <a:xfrm>
            <a:off x="5239512" y="1837943"/>
            <a:ext cx="2029967" cy="2148840"/>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94959" y="1993391"/>
            <a:ext cx="1719071" cy="1874520"/>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03 · TRADES</a:t>
            </a:r>
          </a:p>
          <a:p>
            <a:pPr>
              <a:lnSpc>
                <a:spcPts val="1900"/>
              </a:lnSpc>
              <a:spcBef>
                <a:spcPts val="600"/>
              </a:spcBef>
            </a:pPr>
            <a:r>
              <a:rPr sz="1500" b="1" i="0">
                <a:solidFill>
                  <a:srgbClr val="17202B"/>
                </a:solidFill>
                <a:latin typeface="Inter"/>
              </a:rPr>
              <a:t>Pick the best expression</a:t>
            </a:r>
          </a:p>
          <a:p>
            <a:pPr>
              <a:lnSpc>
                <a:spcPts val="1650"/>
              </a:lnSpc>
              <a:spcBef>
                <a:spcPts val="600"/>
              </a:spcBef>
            </a:pPr>
            <a:r>
              <a:rPr sz="1200" b="0" i="0">
                <a:solidFill>
                  <a:srgbClr val="5F6670"/>
                </a:solidFill>
                <a:latin typeface="Inter"/>
              </a:rPr>
              <a:t>The trade with the best payout for its upfront cost: premium, carry and relative value</a:t>
            </a:r>
          </a:p>
        </p:txBody>
      </p:sp>
      <p:sp>
        <p:nvSpPr>
          <p:cNvPr id="10" name="Rounded Rectangle 9"/>
          <p:cNvSpPr/>
          <p:nvPr/>
        </p:nvSpPr>
        <p:spPr>
          <a:xfrm>
            <a:off x="7452360" y="1837943"/>
            <a:ext cx="2029967" cy="2148840"/>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07808" y="1993391"/>
            <a:ext cx="1719071" cy="1874520"/>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04 · CORRELATIONS</a:t>
            </a:r>
          </a:p>
          <a:p>
            <a:pPr>
              <a:lnSpc>
                <a:spcPts val="1900"/>
              </a:lnSpc>
              <a:spcBef>
                <a:spcPts val="600"/>
              </a:spcBef>
            </a:pPr>
            <a:r>
              <a:rPr sz="1500" b="1" i="0">
                <a:solidFill>
                  <a:srgbClr val="17202B"/>
                </a:solidFill>
                <a:latin typeface="Inter"/>
              </a:rPr>
              <a:t>Map co-movement</a:t>
            </a:r>
          </a:p>
          <a:p>
            <a:pPr>
              <a:lnSpc>
                <a:spcPts val="1650"/>
              </a:lnSpc>
              <a:spcBef>
                <a:spcPts val="600"/>
              </a:spcBef>
            </a:pPr>
            <a:r>
              <a:rPr sz="1200" b="0" i="0">
                <a:solidFill>
                  <a:srgbClr val="5F6670"/>
                </a:solidFill>
                <a:latin typeface="Inter"/>
              </a:rPr>
              <a:t>Expected correlations and payoffs of trades across themes: where risk diversifies and where it concentrates</a:t>
            </a:r>
          </a:p>
        </p:txBody>
      </p:sp>
      <p:sp>
        <p:nvSpPr>
          <p:cNvPr id="12" name="Rounded Rectangle 11"/>
          <p:cNvSpPr/>
          <p:nvPr/>
        </p:nvSpPr>
        <p:spPr>
          <a:xfrm>
            <a:off x="9665208" y="1837943"/>
            <a:ext cx="2029967" cy="2148840"/>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20656" y="1993391"/>
            <a:ext cx="1719071" cy="1874520"/>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05 · ALLOCATION</a:t>
            </a:r>
          </a:p>
          <a:p>
            <a:pPr>
              <a:lnSpc>
                <a:spcPts val="1900"/>
              </a:lnSpc>
              <a:spcBef>
                <a:spcPts val="600"/>
              </a:spcBef>
            </a:pPr>
            <a:r>
              <a:rPr sz="1500" b="1" i="0">
                <a:solidFill>
                  <a:srgbClr val="17202B"/>
                </a:solidFill>
                <a:latin typeface="Inter"/>
              </a:rPr>
              <a:t>Allocate capital</a:t>
            </a:r>
          </a:p>
          <a:p>
            <a:pPr>
              <a:lnSpc>
                <a:spcPts val="1650"/>
              </a:lnSpc>
              <a:spcBef>
                <a:spcPts val="600"/>
              </a:spcBef>
            </a:pPr>
            <a:r>
              <a:rPr sz="1200" b="0" i="0">
                <a:solidFill>
                  <a:srgbClr val="5F6670"/>
                </a:solidFill>
                <a:latin typeface="Inter"/>
              </a:rPr>
              <a:t>Size by probability-weighted payoff and risk contribution; estimate the PnL distribution of the whole book</a:t>
            </a:r>
          </a:p>
        </p:txBody>
      </p:sp>
      <p:sp>
        <p:nvSpPr>
          <p:cNvPr id="14" name="Rounded Rectangle 13"/>
          <p:cNvSpPr/>
          <p:nvPr/>
        </p:nvSpPr>
        <p:spPr>
          <a:xfrm>
            <a:off x="813816" y="4169663"/>
            <a:ext cx="6035040" cy="1874519"/>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4334255"/>
            <a:ext cx="5632703" cy="228600"/>
          </a:xfrm>
          <a:prstGeom prst="rect">
            <a:avLst/>
          </a:prstGeom>
          <a:noFill/>
        </p:spPr>
        <p:txBody>
          <a:bodyPr wrap="square" lIns="0" rIns="0" tIns="0" bIns="0" anchor="t">
            <a:spAutoFit/>
          </a:bodyPr>
          <a:lstStyle/>
          <a:p>
            <a:pPr>
              <a:lnSpc>
                <a:spcPts val="1500"/>
              </a:lnSpc>
            </a:pPr>
            <a:r>
              <a:rPr sz="1100" b="1" i="0" spc="100">
                <a:solidFill>
                  <a:srgbClr val="A8322B"/>
                </a:solidFill>
                <a:latin typeface="Inter"/>
              </a:rPr>
              <a:t>STARTING THEMES · 4 OF A TARGETED 12–15</a:t>
            </a:r>
          </a:p>
        </p:txBody>
      </p:sp>
      <p:sp>
        <p:nvSpPr>
          <p:cNvPr id="16" name="TextBox 15"/>
          <p:cNvSpPr txBox="1"/>
          <p:nvPr/>
        </p:nvSpPr>
        <p:spPr>
          <a:xfrm>
            <a:off x="1014984" y="4718303"/>
            <a:ext cx="2679191" cy="548640"/>
          </a:xfrm>
          <a:prstGeom prst="rect">
            <a:avLst/>
          </a:prstGeom>
          <a:noFill/>
        </p:spPr>
        <p:txBody>
          <a:bodyPr wrap="square" lIns="0" rIns="0" tIns="0" bIns="0" anchor="t">
            <a:spAutoFit/>
          </a:bodyPr>
          <a:lstStyle/>
          <a:p>
            <a:pPr>
              <a:lnSpc>
                <a:spcPts val="1700"/>
              </a:lnSpc>
            </a:pPr>
            <a:r>
              <a:rPr sz="1300" b="1" i="0">
                <a:solidFill>
                  <a:srgbClr val="17202B"/>
                </a:solidFill>
                <a:latin typeface="Inter"/>
              </a:rPr>
              <a:t>Dollar debasement</a:t>
            </a:r>
          </a:p>
          <a:p>
            <a:pPr>
              <a:lnSpc>
                <a:spcPts val="1500"/>
              </a:lnSpc>
              <a:spcBef>
                <a:spcPts val="200"/>
              </a:spcBef>
            </a:pPr>
            <a:r>
              <a:rPr sz="1100" b="0" i="0">
                <a:solidFill>
                  <a:srgbClr val="5F6670"/>
                </a:solidFill>
                <a:latin typeface="Inter"/>
              </a:rPr>
              <a:t>Fiscal and policy risks to the dollar's role as a store of value</a:t>
            </a:r>
          </a:p>
        </p:txBody>
      </p:sp>
      <p:sp>
        <p:nvSpPr>
          <p:cNvPr id="17" name="TextBox 16"/>
          <p:cNvSpPr txBox="1"/>
          <p:nvPr/>
        </p:nvSpPr>
        <p:spPr>
          <a:xfrm>
            <a:off x="3968496" y="4718303"/>
            <a:ext cx="2679191" cy="548640"/>
          </a:xfrm>
          <a:prstGeom prst="rect">
            <a:avLst/>
          </a:prstGeom>
          <a:noFill/>
        </p:spPr>
        <p:txBody>
          <a:bodyPr wrap="square" lIns="0" rIns="0" tIns="0" bIns="0" anchor="t">
            <a:spAutoFit/>
          </a:bodyPr>
          <a:lstStyle/>
          <a:p>
            <a:pPr>
              <a:lnSpc>
                <a:spcPts val="1700"/>
              </a:lnSpc>
            </a:pPr>
            <a:r>
              <a:rPr sz="1300" b="1" i="0">
                <a:solidFill>
                  <a:srgbClr val="17202B"/>
                </a:solidFill>
                <a:latin typeface="Inter"/>
              </a:rPr>
              <a:t>AI boom</a:t>
            </a:r>
          </a:p>
          <a:p>
            <a:pPr>
              <a:lnSpc>
                <a:spcPts val="1500"/>
              </a:lnSpc>
              <a:spcBef>
                <a:spcPts val="200"/>
              </a:spcBef>
            </a:pPr>
            <a:r>
              <a:rPr sz="1100" b="0" i="0">
                <a:solidFill>
                  <a:srgbClr val="5F6670"/>
                </a:solidFill>
                <a:latin typeface="Inter"/>
              </a:rPr>
              <a:t>Capex, productivity and the growth–inflation mix</a:t>
            </a:r>
          </a:p>
        </p:txBody>
      </p:sp>
      <p:sp>
        <p:nvSpPr>
          <p:cNvPr id="18" name="TextBox 17"/>
          <p:cNvSpPr txBox="1"/>
          <p:nvPr/>
        </p:nvSpPr>
        <p:spPr>
          <a:xfrm>
            <a:off x="1014984" y="5376671"/>
            <a:ext cx="2679191" cy="548640"/>
          </a:xfrm>
          <a:prstGeom prst="rect">
            <a:avLst/>
          </a:prstGeom>
          <a:noFill/>
        </p:spPr>
        <p:txBody>
          <a:bodyPr wrap="square" lIns="0" rIns="0" tIns="0" bIns="0" anchor="t">
            <a:spAutoFit/>
          </a:bodyPr>
          <a:lstStyle/>
          <a:p>
            <a:pPr>
              <a:lnSpc>
                <a:spcPts val="1700"/>
              </a:lnSpc>
            </a:pPr>
            <a:r>
              <a:rPr sz="1300" b="1" i="0">
                <a:solidFill>
                  <a:srgbClr val="17202B"/>
                </a:solidFill>
                <a:latin typeface="Inter"/>
              </a:rPr>
              <a:t>European growth and fiscal</a:t>
            </a:r>
          </a:p>
          <a:p>
            <a:pPr>
              <a:lnSpc>
                <a:spcPts val="1500"/>
              </a:lnSpc>
              <a:spcBef>
                <a:spcPts val="200"/>
              </a:spcBef>
            </a:pPr>
            <a:r>
              <a:rPr sz="1100" b="0" i="0">
                <a:solidFill>
                  <a:srgbClr val="5F6670"/>
                </a:solidFill>
                <a:latin typeface="Inter"/>
              </a:rPr>
              <a:t>Defence and infrastructure spending, and Bund supply</a:t>
            </a:r>
          </a:p>
        </p:txBody>
      </p:sp>
      <p:sp>
        <p:nvSpPr>
          <p:cNvPr id="19" name="TextBox 18"/>
          <p:cNvSpPr txBox="1"/>
          <p:nvPr/>
        </p:nvSpPr>
        <p:spPr>
          <a:xfrm>
            <a:off x="3968496" y="5376671"/>
            <a:ext cx="2679191" cy="548640"/>
          </a:xfrm>
          <a:prstGeom prst="rect">
            <a:avLst/>
          </a:prstGeom>
          <a:noFill/>
        </p:spPr>
        <p:txBody>
          <a:bodyPr wrap="square" lIns="0" rIns="0" tIns="0" bIns="0" anchor="t">
            <a:spAutoFit/>
          </a:bodyPr>
          <a:lstStyle/>
          <a:p>
            <a:pPr>
              <a:lnSpc>
                <a:spcPts val="1700"/>
              </a:lnSpc>
            </a:pPr>
            <a:r>
              <a:rPr sz="1300" b="1" i="0">
                <a:solidFill>
                  <a:srgbClr val="17202B"/>
                </a:solidFill>
                <a:latin typeface="Inter"/>
              </a:rPr>
              <a:t>UK: BoE hikes gradually</a:t>
            </a:r>
          </a:p>
          <a:p>
            <a:pPr>
              <a:lnSpc>
                <a:spcPts val="1500"/>
              </a:lnSpc>
              <a:spcBef>
                <a:spcPts val="200"/>
              </a:spcBef>
            </a:pPr>
            <a:r>
              <a:rPr sz="1100" b="0" i="0">
                <a:solidFill>
                  <a:srgbClr val="5F6670"/>
                </a:solidFill>
                <a:latin typeface="Inter"/>
              </a:rPr>
              <a:t>Pace of the tightening cycle against market pricing</a:t>
            </a:r>
          </a:p>
        </p:txBody>
      </p:sp>
      <p:sp>
        <p:nvSpPr>
          <p:cNvPr id="20" name="Rounded Rectangle 19"/>
          <p:cNvSpPr/>
          <p:nvPr/>
        </p:nvSpPr>
        <p:spPr>
          <a:xfrm>
            <a:off x="7031736" y="4169663"/>
            <a:ext cx="4663440" cy="1874519"/>
          </a:xfrm>
          <a:prstGeom prst="roundRect">
            <a:avLst>
              <a:gd name="adj" fmla="val 4000"/>
            </a:avLst>
          </a:prstGeom>
          <a:solidFill>
            <a:srgbClr val="172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4352544"/>
            <a:ext cx="4206240" cy="1508760"/>
          </a:xfrm>
          <a:prstGeom prst="rect">
            <a:avLst/>
          </a:prstGeom>
          <a:noFill/>
        </p:spPr>
        <p:txBody>
          <a:bodyPr wrap="square" lIns="0" rIns="0" tIns="0" bIns="0" anchor="t">
            <a:spAutoFit/>
          </a:bodyPr>
          <a:lstStyle/>
          <a:p>
            <a:pPr>
              <a:lnSpc>
                <a:spcPts val="1500"/>
              </a:lnSpc>
            </a:pPr>
            <a:r>
              <a:rPr sz="1100" b="1" i="0" spc="100">
                <a:solidFill>
                  <a:srgbClr val="B9BEC6"/>
                </a:solidFill>
                <a:latin typeface="Inter"/>
              </a:rPr>
              <a:t>THE LENS: RISK/REWARD</a:t>
            </a:r>
          </a:p>
          <a:p>
            <a:pPr>
              <a:lnSpc>
                <a:spcPts val="1900"/>
              </a:lnSpc>
              <a:spcBef>
                <a:spcPts val="600"/>
              </a:spcBef>
            </a:pPr>
            <a:r>
              <a:rPr sz="1400" b="0" i="0">
                <a:solidFill>
                  <a:srgbClr val="F5F2EC"/>
                </a:solidFill>
                <a:latin typeface="Inter"/>
              </a:rPr>
              <a:t>Every theme and trade is judged on what it costs against what it pays, not on conviction alone.</a:t>
            </a:r>
          </a:p>
          <a:p>
            <a:pPr>
              <a:lnSpc>
                <a:spcPts val="1650"/>
              </a:lnSpc>
              <a:spcBef>
                <a:spcPts val="800"/>
              </a:spcBef>
            </a:pPr>
            <a:r>
              <a:rPr sz="1200" b="0" i="0">
                <a:solidFill>
                  <a:srgbClr val="B9BEC6"/>
                </a:solidFill>
                <a:latin typeface="Inter"/>
              </a:rPr>
              <a:t>Upfront premium · payout/cost ratio across all trades · probability-weighted PnL of the portfolio</a:t>
            </a:r>
          </a:p>
        </p:txBody>
      </p:sp>
      <p:sp>
        <p:nvSpPr>
          <p:cNvPr id="22" name="TextBox 21"/>
          <p:cNvSpPr txBox="1"/>
          <p:nvPr/>
        </p:nvSpPr>
        <p:spPr>
          <a:xfrm>
            <a:off x="813816" y="6373368"/>
            <a:ext cx="10881360" cy="274320"/>
          </a:xfrm>
          <a:prstGeom prst="rect">
            <a:avLst/>
          </a:prstGeom>
          <a:noFill/>
        </p:spPr>
        <p:txBody>
          <a:bodyPr wrap="square" lIns="0" rIns="0" tIns="0" bIns="0" anchor="t">
            <a:spAutoFit/>
          </a:bodyPr>
          <a:lstStyle/>
          <a:p>
            <a:pPr>
              <a:lnSpc>
                <a:spcPts val="1500"/>
              </a:lnSpc>
            </a:pPr>
            <a:r>
              <a:rPr sz="1100" b="0" i="0">
                <a:solidFill>
                  <a:srgbClr val="6B7078"/>
                </a:solidFill>
                <a:latin typeface="Inter"/>
              </a:rPr>
              <a:t>Framework in development. Themes shown are an illustrative starting set; no positions or recommendations implied.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2EC"/>
        </a:solidFill>
        <a:effectLst/>
      </p:bgPr>
    </p:bg>
    <p:spTree>
      <p:nvGrpSpPr>
        <p:cNvPr id="1" name=""/>
        <p:cNvGrpSpPr/>
        <p:nvPr/>
      </p:nvGrpSpPr>
      <p:grpSpPr/>
      <p:sp>
        <p:nvSpPr>
          <p:cNvPr id="2" name="TextBox 1"/>
          <p:cNvSpPr txBox="1"/>
          <p:nvPr/>
        </p:nvSpPr>
        <p:spPr>
          <a:xfrm>
            <a:off x="813816" y="813816"/>
            <a:ext cx="10881360" cy="502920"/>
          </a:xfrm>
          <a:prstGeom prst="rect">
            <a:avLst/>
          </a:prstGeom>
          <a:noFill/>
        </p:spPr>
        <p:txBody>
          <a:bodyPr wrap="square" lIns="0" rIns="0" tIns="0" bIns="0" anchor="t">
            <a:spAutoFit/>
          </a:bodyPr>
          <a:lstStyle/>
          <a:p>
            <a:pPr>
              <a:lnSpc>
                <a:spcPts val="3600"/>
              </a:lnSpc>
            </a:pPr>
            <a:r>
              <a:rPr sz="3000" b="0" i="0">
                <a:solidFill>
                  <a:srgbClr val="17202B"/>
                </a:solidFill>
                <a:latin typeface="Source Serif 4"/>
              </a:rPr>
              <a:t>How we build it: an analytics toolkit today, AI agents next</a:t>
            </a:r>
          </a:p>
        </p:txBody>
      </p:sp>
      <p:sp>
        <p:nvSpPr>
          <p:cNvPr id="3" name="TextBox 2"/>
          <p:cNvSpPr txBox="1"/>
          <p:nvPr/>
        </p:nvSpPr>
        <p:spPr>
          <a:xfrm>
            <a:off x="813816" y="1517904"/>
            <a:ext cx="10881360" cy="256032"/>
          </a:xfrm>
          <a:prstGeom prst="rect">
            <a:avLst/>
          </a:prstGeom>
          <a:noFill/>
        </p:spPr>
        <p:txBody>
          <a:bodyPr wrap="square" lIns="0" rIns="0" tIns="0" bIns="0" anchor="t">
            <a:spAutoFit/>
          </a:bodyPr>
          <a:lstStyle/>
          <a:p>
            <a:pPr>
              <a:lnSpc>
                <a:spcPts val="1680"/>
              </a:lnSpc>
            </a:pPr>
            <a:r>
              <a:rPr sz="1200" b="1" i="0" spc="100">
                <a:solidFill>
                  <a:srgbClr val="2B5C8A"/>
                </a:solidFill>
                <a:latin typeface="Inter"/>
              </a:rPr>
              <a:t>THE TOOLKIT · MAPPED TO THE FRAMEWORK</a:t>
            </a:r>
          </a:p>
        </p:txBody>
      </p:sp>
      <p:sp>
        <p:nvSpPr>
          <p:cNvPr id="4" name="Rounded Rectangle 3"/>
          <p:cNvSpPr/>
          <p:nvPr/>
        </p:nvSpPr>
        <p:spPr>
          <a:xfrm>
            <a:off x="813816" y="1837943"/>
            <a:ext cx="2029967" cy="2240280"/>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993391"/>
            <a:ext cx="1719071" cy="1097280"/>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01 · THEMES</a:t>
            </a:r>
          </a:p>
          <a:p>
            <a:pPr>
              <a:lnSpc>
                <a:spcPts val="1900"/>
              </a:lnSpc>
              <a:spcBef>
                <a:spcPts val="600"/>
              </a:spcBef>
            </a:pPr>
            <a:r>
              <a:rPr sz="1500" b="1" i="0">
                <a:solidFill>
                  <a:srgbClr val="17202B"/>
                </a:solidFill>
                <a:latin typeface="Inter"/>
              </a:rPr>
              <a:t>Macro regime</a:t>
            </a:r>
          </a:p>
          <a:p>
            <a:pPr>
              <a:lnSpc>
                <a:spcPts val="1600"/>
              </a:lnSpc>
              <a:spcBef>
                <a:spcPts val="600"/>
              </a:spcBef>
            </a:pPr>
            <a:r>
              <a:rPr sz="1200" b="0" i="0">
                <a:solidFill>
                  <a:srgbClr val="17202B"/>
                </a:solidFill>
                <a:latin typeface="Inter"/>
              </a:rPr>
              <a:t>Where growth and inflation surprise, and whether rates price it</a:t>
            </a:r>
          </a:p>
        </p:txBody>
      </p:sp>
      <p:cxnSp>
        <p:nvCxnSpPr>
          <p:cNvPr id="6" name="Connector 5"/>
          <p:cNvCxnSpPr/>
          <p:nvPr/>
        </p:nvCxnSpPr>
        <p:spPr>
          <a:xfrm>
            <a:off x="969264" y="3300984"/>
            <a:ext cx="1719071" cy="0"/>
          </a:xfrm>
          <a:prstGeom prst="line">
            <a:avLst/>
          </a:prstGeom>
          <a:ln w="6350">
            <a:solidFill>
              <a:srgbClr val="DDD6C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69264" y="3392424"/>
            <a:ext cx="1719071" cy="594360"/>
          </a:xfrm>
          <a:prstGeom prst="rect">
            <a:avLst/>
          </a:prstGeom>
          <a:noFill/>
        </p:spPr>
        <p:txBody>
          <a:bodyPr wrap="square" lIns="0" rIns="0" tIns="0" bIns="0" anchor="t">
            <a:spAutoFit/>
          </a:bodyPr>
          <a:lstStyle/>
          <a:p>
            <a:pPr>
              <a:lnSpc>
                <a:spcPts val="1450"/>
              </a:lnSpc>
            </a:pPr>
            <a:r>
              <a:rPr sz="1100" b="0" i="0">
                <a:solidFill>
                  <a:srgbClr val="5F6670"/>
                </a:solidFill>
                <a:latin typeface="Inter"/>
              </a:rPr>
              <a:t>Macro heatmaps across 10 economies; global yields factor model</a:t>
            </a:r>
          </a:p>
        </p:txBody>
      </p:sp>
      <p:sp>
        <p:nvSpPr>
          <p:cNvPr id="8" name="Rounded Rectangle 7"/>
          <p:cNvSpPr/>
          <p:nvPr/>
        </p:nvSpPr>
        <p:spPr>
          <a:xfrm>
            <a:off x="3026664" y="1837943"/>
            <a:ext cx="2029967" cy="2240280"/>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82112" y="1993391"/>
            <a:ext cx="1719071" cy="1097280"/>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02 · PROBABILITIES</a:t>
            </a:r>
          </a:p>
          <a:p>
            <a:pPr>
              <a:lnSpc>
                <a:spcPts val="1900"/>
              </a:lnSpc>
              <a:spcBef>
                <a:spcPts val="600"/>
              </a:spcBef>
            </a:pPr>
            <a:r>
              <a:rPr sz="1500" b="1" i="0">
                <a:solidFill>
                  <a:srgbClr val="17202B"/>
                </a:solidFill>
                <a:latin typeface="Inter"/>
              </a:rPr>
              <a:t>Implied odds</a:t>
            </a:r>
          </a:p>
          <a:p>
            <a:pPr>
              <a:lnSpc>
                <a:spcPts val="1600"/>
              </a:lnSpc>
              <a:spcBef>
                <a:spcPts val="600"/>
              </a:spcBef>
            </a:pPr>
            <a:r>
              <a:rPr sz="1200" b="0" i="0">
                <a:solidFill>
                  <a:srgbClr val="17202B"/>
                </a:solidFill>
                <a:latin typeface="Inter"/>
              </a:rPr>
              <a:t>What is already priced, so we pay only for views that differ</a:t>
            </a:r>
          </a:p>
        </p:txBody>
      </p:sp>
      <p:cxnSp>
        <p:nvCxnSpPr>
          <p:cNvPr id="10" name="Connector 9"/>
          <p:cNvCxnSpPr/>
          <p:nvPr/>
        </p:nvCxnSpPr>
        <p:spPr>
          <a:xfrm>
            <a:off x="3182112" y="3300984"/>
            <a:ext cx="1719071" cy="0"/>
          </a:xfrm>
          <a:prstGeom prst="line">
            <a:avLst/>
          </a:prstGeom>
          <a:ln w="6350">
            <a:solidFill>
              <a:srgbClr val="DDD6C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182112" y="3392424"/>
            <a:ext cx="1719071" cy="594360"/>
          </a:xfrm>
          <a:prstGeom prst="rect">
            <a:avLst/>
          </a:prstGeom>
          <a:noFill/>
        </p:spPr>
        <p:txBody>
          <a:bodyPr wrap="square" lIns="0" rIns="0" tIns="0" bIns="0" anchor="t">
            <a:spAutoFit/>
          </a:bodyPr>
          <a:lstStyle/>
          <a:p>
            <a:pPr>
              <a:lnSpc>
                <a:spcPts val="1450"/>
              </a:lnSpc>
            </a:pPr>
            <a:r>
              <a:rPr sz="1100" b="0" i="0">
                <a:solidFill>
                  <a:srgbClr val="5F6670"/>
                </a:solidFill>
                <a:latin typeface="Inter"/>
              </a:rPr>
              <a:t>Option-implied scenario probabilities; macro options monitor; inflation fixings</a:t>
            </a:r>
          </a:p>
        </p:txBody>
      </p:sp>
      <p:sp>
        <p:nvSpPr>
          <p:cNvPr id="12" name="Rounded Rectangle 11"/>
          <p:cNvSpPr/>
          <p:nvPr/>
        </p:nvSpPr>
        <p:spPr>
          <a:xfrm>
            <a:off x="5239512" y="1837943"/>
            <a:ext cx="2029967" cy="2240280"/>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94959" y="1993391"/>
            <a:ext cx="1719071" cy="1097280"/>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03 · TRADES</a:t>
            </a:r>
          </a:p>
          <a:p>
            <a:pPr>
              <a:lnSpc>
                <a:spcPts val="1900"/>
              </a:lnSpc>
              <a:spcBef>
                <a:spcPts val="600"/>
              </a:spcBef>
            </a:pPr>
            <a:r>
              <a:rPr sz="1500" b="1" i="0">
                <a:solidFill>
                  <a:srgbClr val="17202B"/>
                </a:solidFill>
                <a:latin typeface="Inter"/>
              </a:rPr>
              <a:t>Relative value</a:t>
            </a:r>
          </a:p>
          <a:p>
            <a:pPr>
              <a:lnSpc>
                <a:spcPts val="1600"/>
              </a:lnSpc>
              <a:spcBef>
                <a:spcPts val="600"/>
              </a:spcBef>
            </a:pPr>
            <a:r>
              <a:rPr sz="1200" b="0" i="0">
                <a:solidFill>
                  <a:srgbClr val="17202B"/>
                </a:solidFill>
                <a:latin typeface="Inter"/>
              </a:rPr>
              <a:t>The cheapest, best-carrying expression of a view</a:t>
            </a:r>
          </a:p>
        </p:txBody>
      </p:sp>
      <p:cxnSp>
        <p:nvCxnSpPr>
          <p:cNvPr id="14" name="Connector 13"/>
          <p:cNvCxnSpPr/>
          <p:nvPr/>
        </p:nvCxnSpPr>
        <p:spPr>
          <a:xfrm>
            <a:off x="5394959" y="3300984"/>
            <a:ext cx="1719072" cy="0"/>
          </a:xfrm>
          <a:prstGeom prst="line">
            <a:avLst/>
          </a:prstGeom>
          <a:ln w="6350">
            <a:solidFill>
              <a:srgbClr val="DDD6C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394959" y="3392424"/>
            <a:ext cx="1719071" cy="594360"/>
          </a:xfrm>
          <a:prstGeom prst="rect">
            <a:avLst/>
          </a:prstGeom>
          <a:noFill/>
        </p:spPr>
        <p:txBody>
          <a:bodyPr wrap="square" lIns="0" rIns="0" tIns="0" bIns="0" anchor="t">
            <a:spAutoFit/>
          </a:bodyPr>
          <a:lstStyle/>
          <a:p>
            <a:pPr>
              <a:lnSpc>
                <a:spcPts val="1450"/>
              </a:lnSpc>
            </a:pPr>
            <a:r>
              <a:rPr sz="1100" b="0" i="0">
                <a:solidFill>
                  <a:srgbClr val="5F6670"/>
                </a:solidFill>
                <a:latin typeface="Inter"/>
              </a:rPr>
              <a:t>Swap and EGB RV; fitted curves; PCA; mean reversion; seasonality</a:t>
            </a:r>
          </a:p>
        </p:txBody>
      </p:sp>
      <p:sp>
        <p:nvSpPr>
          <p:cNvPr id="16" name="Rounded Rectangle 15"/>
          <p:cNvSpPr/>
          <p:nvPr/>
        </p:nvSpPr>
        <p:spPr>
          <a:xfrm>
            <a:off x="7452360" y="1837943"/>
            <a:ext cx="2029967" cy="2240280"/>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07808" y="1993391"/>
            <a:ext cx="1719071" cy="1097280"/>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03 · TRADES</a:t>
            </a:r>
          </a:p>
          <a:p>
            <a:pPr>
              <a:lnSpc>
                <a:spcPts val="1900"/>
              </a:lnSpc>
              <a:spcBef>
                <a:spcPts val="600"/>
              </a:spcBef>
            </a:pPr>
            <a:r>
              <a:rPr sz="1500" b="1" i="0">
                <a:solidFill>
                  <a:srgbClr val="17202B"/>
                </a:solidFill>
                <a:latin typeface="Inter"/>
              </a:rPr>
              <a:t>Positioning</a:t>
            </a:r>
          </a:p>
          <a:p>
            <a:pPr>
              <a:lnSpc>
                <a:spcPts val="1600"/>
              </a:lnSpc>
              <a:spcBef>
                <a:spcPts val="600"/>
              </a:spcBef>
            </a:pPr>
            <a:r>
              <a:rPr sz="1200" b="0" i="0">
                <a:solidFill>
                  <a:srgbClr val="17202B"/>
                </a:solidFill>
                <a:latin typeface="Inter"/>
              </a:rPr>
              <a:t>Crowded trades pay less; positioning helps with timing</a:t>
            </a:r>
          </a:p>
        </p:txBody>
      </p:sp>
      <p:cxnSp>
        <p:nvCxnSpPr>
          <p:cNvPr id="18" name="Connector 17"/>
          <p:cNvCxnSpPr/>
          <p:nvPr/>
        </p:nvCxnSpPr>
        <p:spPr>
          <a:xfrm>
            <a:off x="7607808" y="3300984"/>
            <a:ext cx="1719072" cy="0"/>
          </a:xfrm>
          <a:prstGeom prst="line">
            <a:avLst/>
          </a:prstGeom>
          <a:ln w="6350">
            <a:solidFill>
              <a:srgbClr val="DDD6C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607808" y="3392424"/>
            <a:ext cx="1719071" cy="594360"/>
          </a:xfrm>
          <a:prstGeom prst="rect">
            <a:avLst/>
          </a:prstGeom>
          <a:noFill/>
        </p:spPr>
        <p:txBody>
          <a:bodyPr wrap="square" lIns="0" rIns="0" tIns="0" bIns="0" anchor="t">
            <a:spAutoFit/>
          </a:bodyPr>
          <a:lstStyle/>
          <a:p>
            <a:pPr>
              <a:lnSpc>
                <a:spcPts val="1450"/>
              </a:lnSpc>
            </a:pPr>
            <a:r>
              <a:rPr sz="1100" b="0" i="0">
                <a:solidFill>
                  <a:srgbClr val="5F6670"/>
                </a:solidFill>
                <a:latin typeface="Inter"/>
              </a:rPr>
              <a:t>Euribor futures positioning; CTA momentum; data-print analysis</a:t>
            </a:r>
          </a:p>
        </p:txBody>
      </p:sp>
      <p:sp>
        <p:nvSpPr>
          <p:cNvPr id="20" name="Rounded Rectangle 19"/>
          <p:cNvSpPr/>
          <p:nvPr/>
        </p:nvSpPr>
        <p:spPr>
          <a:xfrm>
            <a:off x="9665208" y="1837943"/>
            <a:ext cx="2029967" cy="2240280"/>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20656" y="1993391"/>
            <a:ext cx="1719071" cy="1097280"/>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04–05 · PORTFOLIO</a:t>
            </a:r>
          </a:p>
          <a:p>
            <a:pPr>
              <a:lnSpc>
                <a:spcPts val="1900"/>
              </a:lnSpc>
              <a:spcBef>
                <a:spcPts val="600"/>
              </a:spcBef>
            </a:pPr>
            <a:r>
              <a:rPr sz="1500" b="1" i="0">
                <a:solidFill>
                  <a:srgbClr val="17202B"/>
                </a:solidFill>
                <a:latin typeface="Inter"/>
              </a:rPr>
              <a:t>Correlations</a:t>
            </a:r>
          </a:p>
          <a:p>
            <a:pPr>
              <a:lnSpc>
                <a:spcPts val="1600"/>
              </a:lnSpc>
              <a:spcBef>
                <a:spcPts val="600"/>
              </a:spcBef>
            </a:pPr>
            <a:r>
              <a:rPr sz="1200" b="0" i="0">
                <a:solidFill>
                  <a:srgbClr val="17202B"/>
                </a:solidFill>
                <a:latin typeface="Inter"/>
              </a:rPr>
              <a:t>Regime breaks that change how the book diversifies</a:t>
            </a:r>
          </a:p>
        </p:txBody>
      </p:sp>
      <p:cxnSp>
        <p:nvCxnSpPr>
          <p:cNvPr id="22" name="Connector 21"/>
          <p:cNvCxnSpPr/>
          <p:nvPr/>
        </p:nvCxnSpPr>
        <p:spPr>
          <a:xfrm>
            <a:off x="9820656" y="3300984"/>
            <a:ext cx="1719072" cy="0"/>
          </a:xfrm>
          <a:prstGeom prst="line">
            <a:avLst/>
          </a:prstGeom>
          <a:ln w="6350">
            <a:solidFill>
              <a:srgbClr val="DDD6CA"/>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820656" y="3392424"/>
            <a:ext cx="1719071" cy="594360"/>
          </a:xfrm>
          <a:prstGeom prst="rect">
            <a:avLst/>
          </a:prstGeom>
          <a:noFill/>
        </p:spPr>
        <p:txBody>
          <a:bodyPr wrap="square" lIns="0" rIns="0" tIns="0" bIns="0" anchor="t">
            <a:spAutoFit/>
          </a:bodyPr>
          <a:lstStyle/>
          <a:p>
            <a:pPr>
              <a:lnSpc>
                <a:spcPts val="1450"/>
              </a:lnSpc>
            </a:pPr>
            <a:r>
              <a:rPr sz="1100" b="0" i="0">
                <a:solidFill>
                  <a:srgbClr val="5F6670"/>
                </a:solidFill>
                <a:latin typeface="Inter"/>
              </a:rPr>
              <a:t>Correlation regime scanner; trade blotter and trade watch</a:t>
            </a:r>
          </a:p>
        </p:txBody>
      </p:sp>
      <p:sp>
        <p:nvSpPr>
          <p:cNvPr id="24" name="TextBox 23"/>
          <p:cNvSpPr txBox="1"/>
          <p:nvPr/>
        </p:nvSpPr>
        <p:spPr>
          <a:xfrm>
            <a:off x="813816" y="4261104"/>
            <a:ext cx="10881360" cy="256032"/>
          </a:xfrm>
          <a:prstGeom prst="rect">
            <a:avLst/>
          </a:prstGeom>
          <a:noFill/>
        </p:spPr>
        <p:txBody>
          <a:bodyPr wrap="square" lIns="0" rIns="0" tIns="0" bIns="0" anchor="t">
            <a:spAutoFit/>
          </a:bodyPr>
          <a:lstStyle/>
          <a:p>
            <a:pPr>
              <a:lnSpc>
                <a:spcPts val="1680"/>
              </a:lnSpc>
            </a:pPr>
            <a:r>
              <a:rPr sz="1200" b="1" i="0" spc="100">
                <a:solidFill>
                  <a:srgbClr val="A8322B"/>
                </a:solidFill>
                <a:latin typeface="Inter"/>
              </a:rPr>
              <a:t>ROADMAP · AI AGENTS THAT RUN THE FRAMEWORK</a:t>
            </a:r>
          </a:p>
        </p:txBody>
      </p:sp>
      <p:sp>
        <p:nvSpPr>
          <p:cNvPr id="25" name="Rounded Rectangle 24"/>
          <p:cNvSpPr/>
          <p:nvPr/>
        </p:nvSpPr>
        <p:spPr>
          <a:xfrm>
            <a:off x="813816" y="4572000"/>
            <a:ext cx="2514600" cy="1627632"/>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96696" y="4727448"/>
            <a:ext cx="2148840" cy="1353312"/>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LIVE</a:t>
            </a:r>
          </a:p>
          <a:p>
            <a:pPr>
              <a:lnSpc>
                <a:spcPts val="1800"/>
              </a:lnSpc>
              <a:spcBef>
                <a:spcPts val="400"/>
              </a:spcBef>
            </a:pPr>
            <a:r>
              <a:rPr sz="1400" b="1" i="0">
                <a:solidFill>
                  <a:srgbClr val="17202B"/>
                </a:solidFill>
                <a:latin typeface="Inter"/>
              </a:rPr>
              <a:t>Fixed Income Pod</a:t>
            </a:r>
          </a:p>
          <a:p>
            <a:pPr>
              <a:lnSpc>
                <a:spcPts val="1600"/>
              </a:lnSpc>
              <a:spcBef>
                <a:spcPts val="400"/>
              </a:spcBef>
            </a:pPr>
            <a:r>
              <a:rPr sz="1200" b="0" i="0">
                <a:solidFill>
                  <a:srgbClr val="5F6670"/>
                </a:solidFill>
                <a:latin typeface="Inter"/>
              </a:rPr>
              <a:t>Specialist agents for macro, RV, inflation and positioning run the toolkit and draft a joint view</a:t>
            </a:r>
          </a:p>
        </p:txBody>
      </p:sp>
      <p:sp>
        <p:nvSpPr>
          <p:cNvPr id="27" name="Rounded Rectangle 26"/>
          <p:cNvSpPr/>
          <p:nvPr/>
        </p:nvSpPr>
        <p:spPr>
          <a:xfrm>
            <a:off x="3511296" y="4572000"/>
            <a:ext cx="2514600" cy="1627632"/>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94176" y="4727448"/>
            <a:ext cx="2148840" cy="1353312"/>
          </a:xfrm>
          <a:prstGeom prst="rect">
            <a:avLst/>
          </a:prstGeom>
          <a:noFill/>
        </p:spPr>
        <p:txBody>
          <a:bodyPr wrap="square" lIns="0" rIns="0" tIns="0" bIns="0" anchor="t">
            <a:spAutoFit/>
          </a:bodyPr>
          <a:lstStyle/>
          <a:p>
            <a:pPr>
              <a:lnSpc>
                <a:spcPts val="1500"/>
              </a:lnSpc>
            </a:pPr>
            <a:r>
              <a:rPr sz="1100" b="1" i="0" spc="100">
                <a:solidFill>
                  <a:srgbClr val="A8322B"/>
                </a:solidFill>
                <a:latin typeface="Inter"/>
              </a:rPr>
              <a:t>NEXT</a:t>
            </a:r>
          </a:p>
          <a:p>
            <a:pPr>
              <a:lnSpc>
                <a:spcPts val="1800"/>
              </a:lnSpc>
              <a:spcBef>
                <a:spcPts val="400"/>
              </a:spcBef>
            </a:pPr>
            <a:r>
              <a:rPr sz="1400" b="1" i="0">
                <a:solidFill>
                  <a:srgbClr val="17202B"/>
                </a:solidFill>
                <a:latin typeface="Inter"/>
              </a:rPr>
              <a:t>Portfolio Builder agent</a:t>
            </a:r>
          </a:p>
          <a:p>
            <a:pPr>
              <a:lnSpc>
                <a:spcPts val="1600"/>
              </a:lnSpc>
              <a:spcBef>
                <a:spcPts val="400"/>
              </a:spcBef>
            </a:pPr>
            <a:r>
              <a:rPr sz="1200" b="0" i="0">
                <a:solidFill>
                  <a:srgbClr val="5F6670"/>
                </a:solidFill>
                <a:latin typeface="Inter"/>
              </a:rPr>
              <a:t>Draws on the toolkit, the book and sell-side research to propose probabilities, trades, correlations and sizing</a:t>
            </a:r>
          </a:p>
        </p:txBody>
      </p:sp>
      <p:sp>
        <p:nvSpPr>
          <p:cNvPr id="29" name="Rounded Rectangle 28"/>
          <p:cNvSpPr/>
          <p:nvPr/>
        </p:nvSpPr>
        <p:spPr>
          <a:xfrm>
            <a:off x="6208776" y="4572000"/>
            <a:ext cx="2514600" cy="1627632"/>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91656" y="4727448"/>
            <a:ext cx="2148840" cy="1353312"/>
          </a:xfrm>
          <a:prstGeom prst="rect">
            <a:avLst/>
          </a:prstGeom>
          <a:noFill/>
        </p:spPr>
        <p:txBody>
          <a:bodyPr wrap="square" lIns="0" rIns="0" tIns="0" bIns="0" anchor="t">
            <a:spAutoFit/>
          </a:bodyPr>
          <a:lstStyle/>
          <a:p>
            <a:pPr>
              <a:lnSpc>
                <a:spcPts val="1500"/>
              </a:lnSpc>
            </a:pPr>
            <a:r>
              <a:rPr sz="1100" b="1" i="0" spc="100">
                <a:solidFill>
                  <a:srgbClr val="A8322B"/>
                </a:solidFill>
                <a:latin typeface="Inter"/>
              </a:rPr>
              <a:t>NEXT</a:t>
            </a:r>
          </a:p>
          <a:p>
            <a:pPr>
              <a:lnSpc>
                <a:spcPts val="1800"/>
              </a:lnSpc>
              <a:spcBef>
                <a:spcPts val="400"/>
              </a:spcBef>
            </a:pPr>
            <a:r>
              <a:rPr sz="1400" b="1" i="0">
                <a:solidFill>
                  <a:srgbClr val="17202B"/>
                </a:solidFill>
                <a:latin typeface="Inter"/>
              </a:rPr>
              <a:t>Risk agent</a:t>
            </a:r>
          </a:p>
          <a:p>
            <a:pPr>
              <a:lnSpc>
                <a:spcPts val="1600"/>
              </a:lnSpc>
              <a:spcBef>
                <a:spcPts val="400"/>
              </a:spcBef>
            </a:pPr>
            <a:r>
              <a:rPr sz="1200" b="0" i="0">
                <a:solidFill>
                  <a:srgbClr val="5F6670"/>
                </a:solidFill>
                <a:latin typeface="Inter"/>
              </a:rPr>
              <a:t>Computes the book's sensitivities to specific risk factors, so any exposure can be hedged quickly</a:t>
            </a:r>
          </a:p>
        </p:txBody>
      </p:sp>
      <p:sp>
        <p:nvSpPr>
          <p:cNvPr id="31" name="Rounded Rectangle 30"/>
          <p:cNvSpPr/>
          <p:nvPr/>
        </p:nvSpPr>
        <p:spPr>
          <a:xfrm>
            <a:off x="8906256" y="4572000"/>
            <a:ext cx="2788919" cy="1627632"/>
          </a:xfrm>
          <a:prstGeom prst="roundRect">
            <a:avLst>
              <a:gd name="adj" fmla="val 4000"/>
            </a:avLst>
          </a:prstGeom>
          <a:solidFill>
            <a:srgbClr val="172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34856" y="4754880"/>
            <a:ext cx="2331719" cy="1261872"/>
          </a:xfrm>
          <a:prstGeom prst="rect">
            <a:avLst/>
          </a:prstGeom>
          <a:noFill/>
        </p:spPr>
        <p:txBody>
          <a:bodyPr wrap="square" lIns="0" rIns="0" tIns="0" bIns="0" anchor="t">
            <a:spAutoFit/>
          </a:bodyPr>
          <a:lstStyle/>
          <a:p>
            <a:pPr>
              <a:lnSpc>
                <a:spcPts val="1500"/>
              </a:lnSpc>
            </a:pPr>
            <a:r>
              <a:rPr sz="1100" b="1" i="0" spc="100">
                <a:solidFill>
                  <a:srgbClr val="B9BEC6"/>
                </a:solidFill>
                <a:latin typeface="Inter"/>
              </a:rPr>
              <a:t>WHY AI</a:t>
            </a:r>
          </a:p>
          <a:p>
            <a:pPr>
              <a:lnSpc>
                <a:spcPts val="1750"/>
              </a:lnSpc>
              <a:spcBef>
                <a:spcPts val="600"/>
              </a:spcBef>
            </a:pPr>
            <a:r>
              <a:rPr sz="1300" b="0" i="0">
                <a:solidFill>
                  <a:srgbClr val="F5F2EC"/>
                </a:solidFill>
                <a:latin typeface="Inter"/>
              </a:rPr>
              <a:t>More markets and asset classes covered by the same team, with deeper analysis.</a:t>
            </a:r>
          </a:p>
          <a:p>
            <a:pPr>
              <a:lnSpc>
                <a:spcPts val="1600"/>
              </a:lnSpc>
              <a:spcBef>
                <a:spcPts val="600"/>
              </a:spcBef>
            </a:pPr>
            <a:r>
              <a:rPr sz="1200" b="0" i="0">
                <a:solidFill>
                  <a:srgbClr val="B9BEC6"/>
                </a:solidFill>
                <a:latin typeface="Inter"/>
              </a:rPr>
              <a:t>The PM keeps every decision.</a:t>
            </a:r>
          </a:p>
        </p:txBody>
      </p:sp>
      <p:sp>
        <p:nvSpPr>
          <p:cNvPr id="33" name="TextBox 32"/>
          <p:cNvSpPr txBox="1"/>
          <p:nvPr/>
        </p:nvSpPr>
        <p:spPr>
          <a:xfrm>
            <a:off x="813816" y="6373368"/>
            <a:ext cx="10881360" cy="274320"/>
          </a:xfrm>
          <a:prstGeom prst="rect">
            <a:avLst/>
          </a:prstGeom>
          <a:noFill/>
        </p:spPr>
        <p:txBody>
          <a:bodyPr wrap="square" lIns="0" rIns="0" tIns="0" bIns="0" anchor="t">
            <a:spAutoFit/>
          </a:bodyPr>
          <a:lstStyle/>
          <a:p>
            <a:pPr>
              <a:lnSpc>
                <a:spcPts val="1500"/>
              </a:lnSpc>
            </a:pPr>
            <a:r>
              <a:rPr sz="1100" b="0" i="0">
                <a:solidFill>
                  <a:srgbClr val="6B7078"/>
                </a:solidFill>
                <a:latin typeface="Inter"/>
              </a:rPr>
              <a:t>Tools built in-house; agents are decision support. Portfolio Builder and Risk agents are planned, not yet live.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French and Italian spreads: IC briefing</dc:title>
  <dc:subject>PptxGenJS Presentation</dc:subject>
  <dc:creator>PptxGenJS</dc:creator>
  <cp:lastModifiedBy>PptxGenJS</cp:lastModifiedBy>
  <cp:revision>1</cp:revision>
  <dcterms:created xsi:type="dcterms:W3CDTF">2026-09-21T13:43:35Z</dcterms:created>
  <dcterms:modified xsi:type="dcterms:W3CDTF">2026-09-21T13:43:35Z</dcterms:modified>
</cp:coreProperties>
</file>